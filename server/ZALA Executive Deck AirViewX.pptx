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04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2.png"/><Relationship Id="rId10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image" Target="../media/image16.png"/><Relationship Id="rId4" Type="http://schemas.openxmlformats.org/officeDocument/2006/relationships/image" Target="../media/image33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3.png"/><Relationship Id="rId10" Type="http://schemas.openxmlformats.org/officeDocument/2006/relationships/image" Target="../media/image43.png"/><Relationship Id="rId4" Type="http://schemas.openxmlformats.org/officeDocument/2006/relationships/image" Target="../media/image25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6.png"/><Relationship Id="rId10" Type="http://schemas.openxmlformats.org/officeDocument/2006/relationships/image" Target="../media/image33.png"/><Relationship Id="rId4" Type="http://schemas.openxmlformats.org/officeDocument/2006/relationships/image" Target="../media/image15.png"/><Relationship Id="rId9" Type="http://schemas.openxmlformats.org/officeDocument/2006/relationships/image" Target="../media/image47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78308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kern="0" spc="1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ZALA</a:t>
            </a:r>
            <a:endParaRPr lang="en-US" sz="7000" dirty="0"/>
          </a:p>
        </p:txBody>
      </p:sp>
      <p:sp>
        <p:nvSpPr>
          <p:cNvPr id="5" name="Text 2"/>
          <p:cNvSpPr/>
          <p:nvPr/>
        </p:nvSpPr>
        <p:spPr>
          <a:xfrm>
            <a:off x="548640" y="31272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Agentic AI Platform for </a:t>
            </a:r>
            <a:r>
              <a:rPr lang="en-US" sz="23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66928" y="3630168"/>
            <a:ext cx="100583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intelligent AI agents that automate work, integrate with enterprise systems, and operate securely across any industry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w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502810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4800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566928" y="5550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templates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291840" y="489204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w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903" y="50281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05072" y="4800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3310128" y="5550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Ready-to-deploy agents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035040" y="489204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icons/w_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103" y="502810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48272" y="4800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2"/>
          <p:cNvSpPr/>
          <p:nvPr/>
        </p:nvSpPr>
        <p:spPr>
          <a:xfrm>
            <a:off x="6053328" y="5550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platform moats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778240" y="489204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icons/w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4303" y="502810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91472" y="48006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22" name="Text 15"/>
          <p:cNvSpPr/>
          <p:nvPr/>
        </p:nvSpPr>
        <p:spPr>
          <a:xfrm>
            <a:off x="8796528" y="5550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Self-hosted, sovereign-capable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000" dirty="0"/>
          </a:p>
        </p:txBody>
      </p:sp>
      <p:pic>
        <p:nvPicPr>
          <p:cNvPr id="25" name="Image 5" descr="avx_logo_fu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0" y="6199632"/>
            <a:ext cx="105156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REALITY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enterprise AI never reaches </a:t>
            </a:r>
            <a:r>
              <a:rPr lang="en-US" sz="31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stall before they ever touch a real business process, and the few that survive rarely scale past one department.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2084832"/>
            <a:ext cx="535838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0664" y="2340864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w_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2472538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90472" y="2212848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pilots rarely reach production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90472" y="2523744"/>
            <a:ext cx="4169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Proofs-of-concept impress in a demo, then stall in security review, integration backlog, or unclear ownership.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27648" y="2084832"/>
            <a:ext cx="535838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65392" y="2340864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w_man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066" y="2472538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212848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processes remain manual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315200" y="2523744"/>
            <a:ext cx="4169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years of RPA and chatbots, core workflows claims, dispatch, provisioning, still route through people.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328416"/>
            <a:ext cx="535838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40664" y="358444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w_unsa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3716122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90472" y="3456432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cannot safely execute business actions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90472" y="3767328"/>
            <a:ext cx="4169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AI tools can talk about a task. Very few are trusted to change a record, issue a refund, or reboot a device.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327648" y="3328416"/>
            <a:ext cx="535838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565392" y="358444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4" descr="icons/w_disconn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066" y="3716122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3456432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customer channels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315200" y="3767328"/>
            <a:ext cx="4169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chat, WhatsApp and web run on separate stacks, context and trust reset at every handoff.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02920" y="4572000"/>
            <a:ext cx="535838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740664" y="482803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icons/w_governance_concer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338" y="4959706"/>
            <a:ext cx="285293" cy="2852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90472" y="4700016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compliance concerns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490472" y="5010912"/>
            <a:ext cx="4169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security and compliance teams block deployment when there's no audit trail, approval gate, or clear accountability.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327648" y="4572000"/>
            <a:ext cx="5358384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565392" y="482803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6" descr="icons/w_time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7066" y="4959706"/>
            <a:ext cx="285293" cy="28529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15200" y="4700016"/>
            <a:ext cx="4169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implementation timelines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315200" y="5010912"/>
            <a:ext cx="4169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integration work turns a promising pilot into a 12-18 month program before it ever reaches a customer.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502920" y="5870448"/>
            <a:ext cx="11183112" cy="621792"/>
          </a:xfrm>
          <a:prstGeom prst="roundRect">
            <a:avLst>
              <a:gd name="adj" fmla="val 14706"/>
            </a:avLst>
          </a:prstGeom>
          <a:solidFill>
            <a:srgbClr val="003F58"/>
          </a:solidFill>
          <a:ln/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/>
          <p:nvPr/>
        </p:nvSpPr>
        <p:spPr>
          <a:xfrm>
            <a:off x="640080" y="5870448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don't need another chatbot. </a:t>
            </a:r>
            <a:r>
              <a:rPr lang="en-US" sz="1400" b="1" i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need an enterprise AI operating platform.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ZALA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get enterprise AI, only </a:t>
            </a:r>
            <a:r>
              <a:rPr lang="en-US" sz="29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29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built to scale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25966"/>
              </p:ext>
            </p:extLst>
          </p:nvPr>
        </p:nvGraphicFramePr>
        <p:xfrm>
          <a:off x="502920" y="1417320"/>
          <a:ext cx="11183112" cy="321868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In-House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 Point Solutions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7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&amp; Time-to-Value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cost, 12 to18 month builds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upfront, recurring fees per tool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cost — weeks, not years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AI/ML Expertise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ML &amp; prompt-engineering team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Minimal, but locked to vendor roadmap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ML team needed — Studio wizard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Reusability Across Industries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Rebuilt from scratch every 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use case per license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agent definition, any industry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&amp; Approval Controls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Bespoke, inconsistent enforcement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Vendor-dependent, often thin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into the platform's data 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Sovereignty &amp; 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Yours, but you own all the 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often leaves your environment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self-hosted option, BYO models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75488" y="523036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icons/w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29" y="5375209"/>
            <a:ext cx="313822" cy="3138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-228600" y="5888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Users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1133856" y="5532120"/>
            <a:ext cx="1818056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 rot="5400000">
            <a:off x="2933624" y="5458968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3134792" y="523036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w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633" y="5375209"/>
            <a:ext cx="313822" cy="3138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30704" y="5888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793160" y="5532120"/>
            <a:ext cx="1818056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 rot="5400000">
            <a:off x="5592928" y="5458968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5794096" y="523036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w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8937" y="5375209"/>
            <a:ext cx="313822" cy="31382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90008" y="5888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ZALA Platform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52464" y="5532120"/>
            <a:ext cx="1818056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 rot="5400000">
            <a:off x="8252231" y="5458968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4"/>
          <p:cNvSpPr/>
          <p:nvPr/>
        </p:nvSpPr>
        <p:spPr>
          <a:xfrm>
            <a:off x="8453399" y="523036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icons/w_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8240" y="5375209"/>
            <a:ext cx="313822" cy="31382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749311" y="5888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Systems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9111767" y="5532120"/>
            <a:ext cx="1818056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7"/>
          <p:cNvSpPr/>
          <p:nvPr/>
        </p:nvSpPr>
        <p:spPr>
          <a:xfrm rot="5400000">
            <a:off x="10911535" y="5458968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11112703" y="5230368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icons/w_trending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7544" y="5375209"/>
            <a:ext cx="313822" cy="31382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408615" y="5888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ZALA</a:t>
            </a: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an enterprise-grade agentic AI platform that enables organizations to rapidly deploy, govern, and operate intelligent AI agents across business functions.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hyperscaler is building agents but </a:t>
            </a:r>
            <a:r>
              <a:rPr lang="en-US" sz="21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is built to run inside your walls.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48640" y="12070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 comparison against the platforms, AWS, Google Cloud, Microsoft Azure, and UiPath based on publicly available vendor documentation.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983757"/>
              </p:ext>
            </p:extLst>
          </p:nvPr>
        </p:nvGraphicFramePr>
        <p:xfrm>
          <a:off x="502920" y="1810512"/>
          <a:ext cx="11183112" cy="3657600"/>
        </p:xfrm>
        <a:graphic>
          <a:graphicData uri="http://schemas.openxmlformats.org/drawingml/2006/table">
            <a:tbl>
              <a:tblPr/>
              <a:tblGrid>
                <a:gridCol w="1272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(Bedrock AgentCore)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Cloud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(Gemini Enterprise)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Azure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(AI Foundry)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UiPath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(Agentic Automation)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7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&amp; Sovereignty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runtime inside AWS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runtime inside Google Cloud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Azure-hosted; BYO-VNet for private networking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or on-premises (Automation Suite)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self-hosted option — your infrastructure, air-gap capable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Flexibility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Bedrock catalog; outside/self-hosted models not directly integrable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200+ models via Model Garden, Google-hosted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11,000+ models via Foundry catalog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Orchestrates agents across vendors, not model-agnostic itself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model — Claude, GPT, Gemini, Mistral, or fully self-hosted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Omni-Channel Continuity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API/console-first; channels built separately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API/console-first; channels built separately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in Teams/M365; other channels separate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Workflow/process-centric, not conversational-channel-native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session — web, WhatsApp, SMS, voice, video, one memory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Reusability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General-purpose developer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General-purpose developer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General-purpose developer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Pre-built industry solutions, RPA-centric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 templates, 26 ready agents, one definition per industry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Time-to-Value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AWS/IAM engineering expertise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multi-meter billing &amp; setup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Enterprise-friendly if already M365-native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5B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 low-code Studio; agent capability newer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3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Studio wizard — deploy from marketplace in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760720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003F58"/>
          </a:solidFill>
          <a:ln/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85800" y="59618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w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607161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5907024"/>
            <a:ext cx="152339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sovereign, self-hosted option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2849270" y="59618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w_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998" y="607161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97910" y="5907024"/>
            <a:ext cx="152339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model, including fully self-hosted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5012741" y="59618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icons/w_messagesqu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469" y="6071616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61381" y="5907024"/>
            <a:ext cx="152339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session, every channel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7176211" y="59618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icons/w_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5939" y="6071616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724851" y="5907024"/>
            <a:ext cx="152339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 templates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9339682" y="59618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icons/w_z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9410" y="6071616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888322" y="5907024"/>
            <a:ext cx="152339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value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CAPABILITIES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capabilities of ZALA platform. </a:t>
            </a:r>
            <a:r>
              <a:rPr lang="en-US" sz="29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integration tax.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capability below is a reason IT approves the deployment business teams have already asked for.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267004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58952" y="20482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w_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26" y="2179930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8952" y="27066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Runtime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58952" y="2980944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runs in its own isolated </a:t>
            </a:r>
            <a:r>
              <a:rPr lang="en-US" sz="1000" dirty="0" err="1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microVM</a:t>
            </a: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one agent's failure never touches another.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8952" y="363931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Containers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346704" y="1828800"/>
            <a:ext cx="267004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02736" y="20482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w_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4410" y="2179930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02736" y="27066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Marketplace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602736" y="2980944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ready-to-deploy agents, curated from 218 templates across 12+ industries.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02736" y="363931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from the Studio wizard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90488" y="1828800"/>
            <a:ext cx="267004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46520" y="20482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s/w_book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194" y="2179930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6520" y="27066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Management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446520" y="2980944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answer from your policies and manuals, with citations — not invented answers.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46520" y="363931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RAG-grounded, with automatic stale-document flagging.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9034272" y="1828800"/>
            <a:ext cx="267004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290304" y="2048256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w_message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1978" y="2179930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90304" y="27066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Omni-Channel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290304" y="2980944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 follows the customer from web to WhatsApp to a live call.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9290304" y="363931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identity, session and memory across every channel.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502920" y="4096512"/>
            <a:ext cx="267004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58952" y="431596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icons/w_gitmer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626" y="4447642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58952" y="497433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58952" y="5248656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execute the action — reboot, refund, reschedule — not just recommend it.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758952" y="59070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State-changing actions are approval-gated by policy.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346704" y="4096512"/>
            <a:ext cx="267004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3602736" y="431596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6" descr="icons/w_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4410" y="4447642"/>
            <a:ext cx="285293" cy="28529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602736" y="497433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3602736" y="5248656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authentication, role-based access, and PII masking by default.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3602736" y="59070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leaves your environment unless you choose it to.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6190488" y="4096512"/>
            <a:ext cx="267004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6446520" y="431596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7" descr="icons/w_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8194" y="4447642"/>
            <a:ext cx="285293" cy="285293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446520" y="497433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6446520" y="5248656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risky action pauses for human approval before it executes.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6446520" y="59070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 are schema-level, not bolted-on filters.</a:t>
            </a:r>
            <a:endParaRPr lang="en-US" sz="850" dirty="0"/>
          </a:p>
        </p:txBody>
      </p:sp>
      <p:sp>
        <p:nvSpPr>
          <p:cNvPr id="48" name="Shape 38"/>
          <p:cNvSpPr/>
          <p:nvPr/>
        </p:nvSpPr>
        <p:spPr>
          <a:xfrm>
            <a:off x="9034272" y="4096512"/>
            <a:ext cx="2670048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9"/>
          <p:cNvSpPr/>
          <p:nvPr/>
        </p:nvSpPr>
        <p:spPr>
          <a:xfrm>
            <a:off x="9290304" y="4315968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Image 8" descr="icons/w_barch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1978" y="4447642"/>
            <a:ext cx="285293" cy="285293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9290304" y="497433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52" name="Text 41"/>
          <p:cNvSpPr/>
          <p:nvPr/>
        </p:nvSpPr>
        <p:spPr>
          <a:xfrm>
            <a:off x="9290304" y="5248656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visibility into every agent, every interaction, every outcome.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9290304" y="590702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built for both IT operations and business owners.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ROI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that shows up on your </a:t>
            </a:r>
            <a:r>
              <a:rPr lang="en-US" sz="29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ranges reflect outcomes from comparable agentic deployments in asset-heavy, high-volume service environments validated jointly with your team during discovery.</a:t>
            </a:r>
            <a:endParaRPr lang="en-US" sz="12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87D4EA3-8521-426D-4156-B66D6D3A06DE}"/>
              </a:ext>
            </a:extLst>
          </p:cNvPr>
          <p:cNvGrpSpPr/>
          <p:nvPr/>
        </p:nvGrpSpPr>
        <p:grpSpPr>
          <a:xfrm>
            <a:off x="548640" y="2745351"/>
            <a:ext cx="11201400" cy="2084832"/>
            <a:chOff x="502920" y="1938528"/>
            <a:chExt cx="11201400" cy="2084832"/>
          </a:xfrm>
        </p:grpSpPr>
        <p:sp>
          <p:nvSpPr>
            <p:cNvPr id="6" name="Shape 3"/>
            <p:cNvSpPr/>
            <p:nvPr/>
          </p:nvSpPr>
          <p:spPr>
            <a:xfrm>
              <a:off x="502920" y="1938528"/>
              <a:ext cx="2670048" cy="2084832"/>
            </a:xfrm>
            <a:prstGeom prst="roundRect">
              <a:avLst>
                <a:gd name="adj" fmla="val 4386"/>
              </a:avLst>
            </a:prstGeom>
            <a:solidFill>
              <a:srgbClr val="003F58"/>
            </a:solidFill>
            <a:ln/>
            <a:effectLst>
              <a:outerShdw blurRad="88900" dist="38100" dir="5400000" algn="bl" rotWithShape="0">
                <a:srgbClr val="9AA5B0">
                  <a:alpha val="2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4"/>
            <p:cNvSpPr/>
            <p:nvPr/>
          </p:nvSpPr>
          <p:spPr>
            <a:xfrm>
              <a:off x="722376" y="2157984"/>
              <a:ext cx="512064" cy="512064"/>
            </a:xfrm>
            <a:prstGeom prst="roundRect">
              <a:avLst>
                <a:gd name="adj" fmla="val 24000"/>
              </a:avLst>
            </a:prstGeom>
            <a:solidFill>
              <a:srgbClr val="EA7724"/>
            </a:solidFill>
            <a:ln/>
            <a:effectLst>
              <a:outerShdw blurRad="63500" dist="25400" dir="5400000" algn="bl" rotWithShape="0">
                <a:srgbClr val="8A94A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1" descr="icons/w_zap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271" y="2280879"/>
              <a:ext cx="266273" cy="266273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1325880" y="2157984"/>
              <a:ext cx="1709928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Operational Efficiency</a:t>
              </a:r>
              <a:endParaRPr lang="en-US" sz="11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594360" y="2724912"/>
              <a:ext cx="24871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-40%</a:t>
              </a:r>
              <a:endParaRPr lang="en-US" sz="33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685800" y="3236976"/>
              <a:ext cx="230428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reduction in manual case-handling time</a:t>
              </a:r>
              <a:endParaRPr lang="en-US" sz="105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685800" y="3602736"/>
              <a:ext cx="230428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850" i="1" dirty="0">
                  <a:solidFill>
                    <a:srgbClr val="B9CAD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Autonomous diagnosis, remediation and dispatch replace manual triage steps.</a:t>
              </a:r>
              <a:endParaRPr lang="en-US" sz="85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3346704" y="1938528"/>
              <a:ext cx="2670048" cy="2084832"/>
            </a:xfrm>
            <a:prstGeom prst="roundRect">
              <a:avLst>
                <a:gd name="adj" fmla="val 4386"/>
              </a:avLst>
            </a:prstGeom>
            <a:solidFill>
              <a:srgbClr val="003F58"/>
            </a:solidFill>
            <a:ln/>
            <a:effectLst>
              <a:outerShdw blurRad="88900" dist="38100" dir="5400000" algn="bl" rotWithShape="0">
                <a:srgbClr val="9AA5B0">
                  <a:alpha val="2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3566160" y="2157984"/>
              <a:ext cx="512064" cy="512064"/>
            </a:xfrm>
            <a:prstGeom prst="roundRect">
              <a:avLst>
                <a:gd name="adj" fmla="val 24000"/>
              </a:avLst>
            </a:prstGeom>
            <a:solidFill>
              <a:srgbClr val="006C9C"/>
            </a:solidFill>
            <a:ln/>
            <a:effectLst>
              <a:outerShdw blurRad="63500" dist="25400" dir="5400000" algn="bl" rotWithShape="0">
                <a:srgbClr val="8A94A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2" descr="icons/w_headphones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89055" y="2280879"/>
              <a:ext cx="266273" cy="266273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4169664" y="2157984"/>
              <a:ext cx="1709928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Customer Experience</a:t>
              </a:r>
              <a:endParaRPr lang="en-US" sz="115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3438144" y="2724912"/>
              <a:ext cx="24871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+35%</a:t>
              </a:r>
              <a:endParaRPr lang="en-US" sz="33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3529584" y="3236976"/>
              <a:ext cx="230428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faster resolution across channels</a:t>
              </a:r>
              <a:endParaRPr lang="en-US" sz="105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3529584" y="3602736"/>
              <a:ext cx="230428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850" i="1" dirty="0">
                  <a:solidFill>
                    <a:srgbClr val="B9CAD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One shared session across web, voice and chat — no re-explaining the issue.</a:t>
              </a:r>
              <a:endParaRPr lang="en-US" sz="850" dirty="0"/>
            </a:p>
          </p:txBody>
        </p:sp>
        <p:sp>
          <p:nvSpPr>
            <p:cNvPr id="20" name="Shape 15"/>
            <p:cNvSpPr/>
            <p:nvPr/>
          </p:nvSpPr>
          <p:spPr>
            <a:xfrm>
              <a:off x="6190488" y="1938528"/>
              <a:ext cx="2670048" cy="2084832"/>
            </a:xfrm>
            <a:prstGeom prst="roundRect">
              <a:avLst>
                <a:gd name="adj" fmla="val 4386"/>
              </a:avLst>
            </a:prstGeom>
            <a:solidFill>
              <a:srgbClr val="003F58"/>
            </a:solidFill>
            <a:ln/>
            <a:effectLst>
              <a:outerShdw blurRad="88900" dist="38100" dir="5400000" algn="bl" rotWithShape="0">
                <a:srgbClr val="9AA5B0">
                  <a:alpha val="2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6"/>
            <p:cNvSpPr/>
            <p:nvPr/>
          </p:nvSpPr>
          <p:spPr>
            <a:xfrm>
              <a:off x="6409944" y="2157984"/>
              <a:ext cx="512064" cy="512064"/>
            </a:xfrm>
            <a:prstGeom prst="roundRect">
              <a:avLst>
                <a:gd name="adj" fmla="val 24000"/>
              </a:avLst>
            </a:prstGeom>
            <a:solidFill>
              <a:srgbClr val="003F58"/>
            </a:solidFill>
            <a:ln/>
            <a:effectLst>
              <a:outerShdw blurRad="63500" dist="25400" dir="5400000" algn="bl" rotWithShape="0">
                <a:srgbClr val="8A94A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3" descr="icons/w_userchec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32839" y="2280879"/>
              <a:ext cx="266273" cy="266273"/>
            </a:xfrm>
            <a:prstGeom prst="rect">
              <a:avLst/>
            </a:prstGeom>
          </p:spPr>
        </p:pic>
        <p:sp>
          <p:nvSpPr>
            <p:cNvPr id="23" name="Text 17"/>
            <p:cNvSpPr/>
            <p:nvPr/>
          </p:nvSpPr>
          <p:spPr>
            <a:xfrm>
              <a:off x="7013448" y="2157984"/>
              <a:ext cx="1709928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Employee Productivity</a:t>
              </a:r>
              <a:endParaRPr lang="en-US" sz="1150" dirty="0"/>
            </a:p>
          </p:txBody>
        </p:sp>
        <p:sp>
          <p:nvSpPr>
            <p:cNvPr id="24" name="Text 18"/>
            <p:cNvSpPr/>
            <p:nvPr/>
          </p:nvSpPr>
          <p:spPr>
            <a:xfrm>
              <a:off x="6281928" y="2724912"/>
              <a:ext cx="24871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25%</a:t>
              </a:r>
              <a:endParaRPr lang="en-US" sz="3300" dirty="0"/>
            </a:p>
          </p:txBody>
        </p:sp>
        <p:sp>
          <p:nvSpPr>
            <p:cNvPr id="25" name="Text 19"/>
            <p:cNvSpPr/>
            <p:nvPr/>
          </p:nvSpPr>
          <p:spPr>
            <a:xfrm>
              <a:off x="6373368" y="3236976"/>
              <a:ext cx="230428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 Tier-1 volume deflected to agents</a:t>
              </a:r>
              <a:endParaRPr lang="en-US" sz="1050" dirty="0"/>
            </a:p>
          </p:txBody>
        </p:sp>
        <p:sp>
          <p:nvSpPr>
            <p:cNvPr id="26" name="Text 20"/>
            <p:cNvSpPr/>
            <p:nvPr/>
          </p:nvSpPr>
          <p:spPr>
            <a:xfrm>
              <a:off x="6373368" y="3602736"/>
              <a:ext cx="230428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850" i="1" dirty="0">
                  <a:solidFill>
                    <a:srgbClr val="B9CAD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Agents resolve routine requests end-to-end, freeing staff for complex cases.</a:t>
              </a:r>
              <a:endParaRPr lang="en-US" sz="850" dirty="0"/>
            </a:p>
          </p:txBody>
        </p:sp>
        <p:sp>
          <p:nvSpPr>
            <p:cNvPr id="27" name="Shape 21"/>
            <p:cNvSpPr/>
            <p:nvPr/>
          </p:nvSpPr>
          <p:spPr>
            <a:xfrm>
              <a:off x="9034272" y="1938528"/>
              <a:ext cx="2670048" cy="2084832"/>
            </a:xfrm>
            <a:prstGeom prst="roundRect">
              <a:avLst>
                <a:gd name="adj" fmla="val 4386"/>
              </a:avLst>
            </a:prstGeom>
            <a:solidFill>
              <a:srgbClr val="003F58"/>
            </a:solidFill>
            <a:ln/>
            <a:effectLst>
              <a:outerShdw blurRad="88900" dist="38100" dir="5400000" algn="bl" rotWithShape="0">
                <a:srgbClr val="9AA5B0">
                  <a:alpha val="2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2"/>
            <p:cNvSpPr/>
            <p:nvPr/>
          </p:nvSpPr>
          <p:spPr>
            <a:xfrm>
              <a:off x="9253728" y="2157984"/>
              <a:ext cx="512064" cy="512064"/>
            </a:xfrm>
            <a:prstGeom prst="roundRect">
              <a:avLst>
                <a:gd name="adj" fmla="val 24000"/>
              </a:avLst>
            </a:prstGeom>
            <a:solidFill>
              <a:srgbClr val="5E6B78"/>
            </a:solidFill>
            <a:ln/>
            <a:effectLst>
              <a:outerShdw blurRad="63500" dist="25400" dir="5400000" algn="bl" rotWithShape="0">
                <a:srgbClr val="8A94A0">
                  <a:alpha val="3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Image 4" descr="icons/w_shiel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76623" y="2280879"/>
              <a:ext cx="266273" cy="266273"/>
            </a:xfrm>
            <a:prstGeom prst="rect">
              <a:avLst/>
            </a:prstGeom>
          </p:spPr>
        </p:pic>
        <p:sp>
          <p:nvSpPr>
            <p:cNvPr id="30" name="Text 23"/>
            <p:cNvSpPr/>
            <p:nvPr/>
          </p:nvSpPr>
          <p:spPr>
            <a:xfrm>
              <a:off x="9857232" y="2157984"/>
              <a:ext cx="1709928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Governance &amp; Compliance</a:t>
              </a:r>
              <a:endParaRPr lang="en-US" sz="1150" dirty="0"/>
            </a:p>
          </p:txBody>
        </p:sp>
        <p:sp>
          <p:nvSpPr>
            <p:cNvPr id="31" name="Text 24"/>
            <p:cNvSpPr/>
            <p:nvPr/>
          </p:nvSpPr>
          <p:spPr>
            <a:xfrm>
              <a:off x="9125712" y="2724912"/>
              <a:ext cx="24871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100%</a:t>
              </a:r>
              <a:endParaRPr lang="en-US" sz="3300" dirty="0"/>
            </a:p>
          </p:txBody>
        </p:sp>
        <p:sp>
          <p:nvSpPr>
            <p:cNvPr id="32" name="Text 25"/>
            <p:cNvSpPr/>
            <p:nvPr/>
          </p:nvSpPr>
          <p:spPr>
            <a:xfrm>
              <a:off x="9217152" y="3236976"/>
              <a:ext cx="230428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 automated actions carry a full audit trail</a:t>
              </a:r>
              <a:endParaRPr lang="en-US" sz="1050" dirty="0"/>
            </a:p>
          </p:txBody>
        </p:sp>
        <p:sp>
          <p:nvSpPr>
            <p:cNvPr id="33" name="Text 26"/>
            <p:cNvSpPr/>
            <p:nvPr/>
          </p:nvSpPr>
          <p:spPr>
            <a:xfrm>
              <a:off x="9217152" y="3602736"/>
              <a:ext cx="230428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850" i="1" dirty="0">
                  <a:solidFill>
                    <a:srgbClr val="B9CAD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 decision, tool call and approval is logged automatically.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ready-to-deploy agents, curated from a </a:t>
            </a:r>
            <a:r>
              <a:rPr lang="en-US" sz="26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218-template catalog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2070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below is a reusable pattern — built once, then instantiated by industry through the Studio wizard. Not a long list of demos; a curated set mapped to the workflows that matter most.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02920" y="1810512"/>
            <a:ext cx="353872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0664" y="2011680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icons/w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59" y="2134575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27248" y="19385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40664" y="2615184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40664" y="2871216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diagnosis, predictive maintenance, dispatch and asset tracking that keep infrastructure running.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40664" y="331012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Diagnostics &amp; Remediation · Field Dispatch &amp; Scheduling · Predictive Maintenance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242816" y="1810512"/>
            <a:ext cx="353872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480560" y="2011680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w_headpho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455" y="2134575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67144" y="19385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6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4480560" y="2615184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Citizen Experience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480560" y="2871216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customer touchpoint, on every channel, in one continuous conversation.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480560" y="331012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Omni-Channel Support · Voice Concierge (IVR Replacement) · Appointment &amp; Booking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982712" y="1810512"/>
            <a:ext cx="353872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0456" y="2011680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w_book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351" y="213457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607040" y="19385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3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8220456" y="2615184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&amp; Compliance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20456" y="2871216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 and audit-ready evidence for regulated environments.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220456" y="331012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&amp; SOP Assistant · Compliance &amp; Audit Agent · Prior Authorization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02920" y="3785616"/>
            <a:ext cx="353872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40664" y="398678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icons/w_bar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559" y="4109679"/>
            <a:ext cx="266273" cy="26627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127248" y="391363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5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30" name="Text 23"/>
          <p:cNvSpPr/>
          <p:nvPr/>
        </p:nvSpPr>
        <p:spPr>
          <a:xfrm>
            <a:off x="740664" y="459028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Intelligence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40664" y="4846320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Forecasting, document processing and conversation insight that turn data into decisions.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40664" y="5285232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&amp; Planning · Conversation QA &amp; Insights · Document Processing &amp; ETL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242816" y="3785616"/>
            <a:ext cx="3538728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480560" y="398678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icons/w_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3455" y="4109679"/>
            <a:ext cx="266273" cy="26627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67144" y="391363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37" name="Text 29"/>
          <p:cNvSpPr/>
          <p:nvPr/>
        </p:nvSpPr>
        <p:spPr>
          <a:xfrm>
            <a:off x="4480560" y="459028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(Orchestration)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4480560" y="4846320"/>
            <a:ext cx="3081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fleets of ZALA — and third-party — agents on cross-domain workflows.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4480560" y="5285232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Orchestrator (Supervisor), A2A protocol v0.3 compliant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548640" y="6382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ZALA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patterns across six industries, </a:t>
            </a:r>
            <a:r>
              <a:rPr lang="en-US" sz="26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in production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132588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22376" y="15087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icons/w_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1618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9304" y="150876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22376" y="19842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&amp; network ops stretched thin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Remediation, Voice Concierge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fault resolution, fewer truck rolls</a:t>
            </a:r>
            <a:endParaRPr lang="en-US" sz="860" dirty="0"/>
          </a:p>
        </p:txBody>
      </p:sp>
      <p:sp>
        <p:nvSpPr>
          <p:cNvPr id="9" name="Shape 5"/>
          <p:cNvSpPr/>
          <p:nvPr/>
        </p:nvSpPr>
        <p:spPr>
          <a:xfrm>
            <a:off x="4242816" y="132588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462272" y="15087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s/w_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184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0" y="150876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462272" y="19842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 &amp; compliance burden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Triage, Prior Authorization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patient access, audit-ready care</a:t>
            </a:r>
            <a:endParaRPr lang="en-US" sz="860" dirty="0"/>
          </a:p>
        </p:txBody>
      </p:sp>
      <p:sp>
        <p:nvSpPr>
          <p:cNvPr id="14" name="Shape 9"/>
          <p:cNvSpPr/>
          <p:nvPr/>
        </p:nvSpPr>
        <p:spPr>
          <a:xfrm>
            <a:off x="7982712" y="132588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8202168" y="15087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icons/w_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16184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69096" y="150876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Utilities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202168" y="19842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assets, thin monitoring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Detection, Asset Watch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outages, higher asset uptime</a:t>
            </a:r>
            <a:endParaRPr lang="en-US" sz="860" dirty="0"/>
          </a:p>
        </p:txBody>
      </p:sp>
      <p:sp>
        <p:nvSpPr>
          <p:cNvPr id="19" name="Shape 13"/>
          <p:cNvSpPr/>
          <p:nvPr/>
        </p:nvSpPr>
        <p:spPr>
          <a:xfrm>
            <a:off x="502920" y="2679192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722376" y="2862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w_dollarsig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2971800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9304" y="28620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22376" y="333756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Compliance-heavy, siloed service*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KYC, Complaint Handling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service, stronger audit trail</a:t>
            </a:r>
            <a:endParaRPr lang="en-US" sz="860" dirty="0"/>
          </a:p>
        </p:txBody>
      </p:sp>
      <p:sp>
        <p:nvSpPr>
          <p:cNvPr id="24" name="Shape 17"/>
          <p:cNvSpPr/>
          <p:nvPr/>
        </p:nvSpPr>
        <p:spPr>
          <a:xfrm>
            <a:off x="4242816" y="2679192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462272" y="2862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icons/w_land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97180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29200" y="28620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462272" y="333756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demand outpacing staff*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Services, Permit Processing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citizen response, lower cost-to-serve</a:t>
            </a:r>
            <a:endParaRPr lang="en-US" sz="860" dirty="0"/>
          </a:p>
        </p:txBody>
      </p:sp>
      <p:sp>
        <p:nvSpPr>
          <p:cNvPr id="29" name="Shape 21"/>
          <p:cNvSpPr/>
          <p:nvPr/>
        </p:nvSpPr>
        <p:spPr>
          <a:xfrm>
            <a:off x="7982712" y="2679192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8202168" y="2862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6" descr="icons/w_c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1896" y="2971800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769096" y="28620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Cities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202168" y="333756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city services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 Services, Sensor Network Monitor
</a:t>
            </a:r>
            <a:r>
              <a:rPr lang="en-US" sz="86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86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citizen experience, proactive ops</a:t>
            </a:r>
            <a:endParaRPr lang="en-US" sz="860" dirty="0"/>
          </a:p>
        </p:txBody>
      </p:sp>
      <p:sp>
        <p:nvSpPr>
          <p:cNvPr id="34" name="Text 25"/>
          <p:cNvSpPr/>
          <p:nvPr/>
        </p:nvSpPr>
        <p:spPr>
          <a:xfrm>
            <a:off x="548640" y="4187952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*Emerging verticals — illustrative, extending ZALA’s portable agent patterns; to be validated during discovery.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502920" y="4553712"/>
            <a:ext cx="11183112" cy="1847088"/>
          </a:xfrm>
          <a:prstGeom prst="roundRect">
            <a:avLst>
              <a:gd name="adj" fmla="val 4950"/>
            </a:avLst>
          </a:prstGeom>
          <a:solidFill>
            <a:srgbClr val="003F58"/>
          </a:solidFill>
          <a:ln/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777240" y="470001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NOT PROMISES  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Live today: an agent that fixes a broadband fault by itself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777240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7" descr="icons/w_sear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" y="5285232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325880" y="5138928"/>
            <a:ext cx="201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&amp; diagnose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777240" y="5742432"/>
            <a:ext cx="23385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C9D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diagnostics on ONT status, optical signal, speed test and Wi-Fi health.</a:t>
            </a:r>
            <a:endParaRPr lang="en-US" sz="870" dirty="0"/>
          </a:p>
        </p:txBody>
      </p:sp>
      <p:sp>
        <p:nvSpPr>
          <p:cNvPr id="41" name="Shape 31"/>
          <p:cNvSpPr/>
          <p:nvPr/>
        </p:nvSpPr>
        <p:spPr>
          <a:xfrm>
            <a:off x="3435858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8" descr="icons/w_checkcirc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5586" y="5285232"/>
            <a:ext cx="237744" cy="23774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984498" y="5138928"/>
            <a:ext cx="201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root cause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3435858" y="5742432"/>
            <a:ext cx="23385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C9D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Distinguishes 7 root-cause scenarios, from config throttling to OLT outage.</a:t>
            </a:r>
            <a:endParaRPr lang="en-US" sz="870" dirty="0"/>
          </a:p>
        </p:txBody>
      </p:sp>
      <p:sp>
        <p:nvSpPr>
          <p:cNvPr id="45" name="Shape 34"/>
          <p:cNvSpPr/>
          <p:nvPr/>
        </p:nvSpPr>
        <p:spPr>
          <a:xfrm>
            <a:off x="6094476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9" descr="icons/w_setting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4204" y="5285232"/>
            <a:ext cx="237744" cy="237744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643116" y="5138928"/>
            <a:ext cx="201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autonomously</a:t>
            </a:r>
            <a:endParaRPr lang="en-US" sz="1100" dirty="0"/>
          </a:p>
        </p:txBody>
      </p:sp>
      <p:sp>
        <p:nvSpPr>
          <p:cNvPr id="48" name="Text 36"/>
          <p:cNvSpPr/>
          <p:nvPr/>
        </p:nvSpPr>
        <p:spPr>
          <a:xfrm>
            <a:off x="6094476" y="5742432"/>
            <a:ext cx="23385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C9D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Reboots the ONT, corrects config, changes Wi-Fi channel — approval-gated where policy demands.</a:t>
            </a:r>
            <a:endParaRPr lang="en-US" sz="870" dirty="0"/>
          </a:p>
        </p:txBody>
      </p:sp>
      <p:sp>
        <p:nvSpPr>
          <p:cNvPr id="49" name="Shape 37"/>
          <p:cNvSpPr/>
          <p:nvPr/>
        </p:nvSpPr>
        <p:spPr>
          <a:xfrm>
            <a:off x="8753094" y="5175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Image 10" descr="icons/w_fla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2822" y="5285232"/>
            <a:ext cx="237744" cy="237744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9301734" y="5138928"/>
            <a:ext cx="201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or dispatch</a:t>
            </a:r>
            <a:endParaRPr lang="en-US" sz="1100" dirty="0"/>
          </a:p>
        </p:txBody>
      </p:sp>
      <p:sp>
        <p:nvSpPr>
          <p:cNvPr id="52" name="Text 39"/>
          <p:cNvSpPr/>
          <p:nvPr/>
        </p:nvSpPr>
        <p:spPr>
          <a:xfrm>
            <a:off x="8753094" y="5742432"/>
            <a:ext cx="23385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C9D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 outage escalates to ops; fibre cut schedules field dispatch. Customer notified throughout.</a:t>
            </a:r>
            <a:endParaRPr lang="en-US" sz="870" dirty="0"/>
          </a:p>
        </p:txBody>
      </p:sp>
      <p:sp>
        <p:nvSpPr>
          <p:cNvPr id="53" name="Text 40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deliver, </a:t>
            </a:r>
            <a:r>
              <a:rPr lang="en-US" sz="28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where it runs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36930" y="15544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1" descr="icons/w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938" y="1712488"/>
            <a:ext cx="342351" cy="34235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420978" y="1426464"/>
            <a:ext cx="310896" cy="310896"/>
          </a:xfrm>
          <a:prstGeom prst="ellipse">
            <a:avLst/>
          </a:prstGeom>
          <a:solidFill>
            <a:srgbClr val="003F5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420978" y="1426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1714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741018" y="1883664"/>
            <a:ext cx="1013155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 rot="5400000">
            <a:off x="2735885" y="18105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02920" y="2596896"/>
            <a:ext cx="172638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4360" y="2670048"/>
            <a:ext cx="154350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case, current-state map, opportunity backlog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927909" y="15544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w_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5917" y="1712488"/>
            <a:ext cx="342351" cy="34235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11957" y="1426464"/>
            <a:ext cx="310896" cy="310896"/>
          </a:xfrm>
          <a:prstGeom prst="ellipse">
            <a:avLst/>
          </a:prstGeom>
          <a:solidFill>
            <a:srgbClr val="003F5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311957" y="1426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342693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31997" y="1883664"/>
            <a:ext cx="1013155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 rot="5400000">
            <a:off x="4626864" y="18105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393899" y="2596896"/>
            <a:ext cx="172638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2485339" y="2670048"/>
            <a:ext cx="154350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architecture, integration plan, guardrail design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818888" y="15544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icons/w_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6896" y="1712488"/>
            <a:ext cx="342351" cy="342351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202936" y="1426464"/>
            <a:ext cx="310896" cy="310896"/>
          </a:xfrm>
          <a:prstGeom prst="ellipse">
            <a:avLst/>
          </a:prstGeom>
          <a:solidFill>
            <a:srgbClr val="003F5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202936" y="1426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233672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522976" y="1883664"/>
            <a:ext cx="1013155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 rot="5400000">
            <a:off x="6517843" y="18105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284878" y="2596896"/>
            <a:ext cx="172638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376318" y="2670048"/>
            <a:ext cx="154350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instantiation from templates via Studio wizard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709867" y="15544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4" descr="icons/w_check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876" y="1712488"/>
            <a:ext cx="342351" cy="342351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093915" y="1426464"/>
            <a:ext cx="310896" cy="310896"/>
          </a:xfrm>
          <a:prstGeom prst="ellipse">
            <a:avLst/>
          </a:prstGeom>
          <a:solidFill>
            <a:srgbClr val="003F5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7093915" y="1426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124651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413955" y="1883664"/>
            <a:ext cx="1013155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 rot="5400000">
            <a:off x="8408822" y="18105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6175858" y="2596896"/>
            <a:ext cx="172638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6267298" y="2670048"/>
            <a:ext cx="154350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UAT, guardrail testing, security &amp; compliance sign-off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8600846" y="15544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5" descr="icons/w_upload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8855" y="1712488"/>
            <a:ext cx="342351" cy="342351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984894" y="1426464"/>
            <a:ext cx="310896" cy="310896"/>
          </a:xfrm>
          <a:prstGeom prst="ellipse">
            <a:avLst/>
          </a:prstGeom>
          <a:solidFill>
            <a:srgbClr val="003F5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8984894" y="1426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801563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9304934" y="1883664"/>
            <a:ext cx="1013155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 rot="5400000">
            <a:off x="10299802" y="18105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8066837" y="2596896"/>
            <a:ext cx="172638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8158277" y="2670048"/>
            <a:ext cx="154350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rollout, live monitoring, hypercare support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10491826" y="15544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Image 6" descr="icons/w_trending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9834" y="1712488"/>
            <a:ext cx="342351" cy="342351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>
            <a:off x="10875874" y="1426464"/>
            <a:ext cx="310896" cy="310896"/>
          </a:xfrm>
          <a:prstGeom prst="ellipse">
            <a:avLst/>
          </a:prstGeom>
          <a:solidFill>
            <a:srgbClr val="003F5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3"/>
          <p:cNvSpPr/>
          <p:nvPr/>
        </p:nvSpPr>
        <p:spPr>
          <a:xfrm>
            <a:off x="10875874" y="1426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990661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9957816" y="2596896"/>
            <a:ext cx="1726387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/>
          <p:nvPr/>
        </p:nvSpPr>
        <p:spPr>
          <a:xfrm>
            <a:off x="10049256" y="2670048"/>
            <a:ext cx="154350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tuning, drift correction, expansion roadmap</a:t>
            </a:r>
            <a:endParaRPr lang="en-US" sz="950" dirty="0"/>
          </a:p>
        </p:txBody>
      </p:sp>
      <p:sp>
        <p:nvSpPr>
          <p:cNvPr id="56" name="Text 47"/>
          <p:cNvSpPr/>
          <p:nvPr/>
        </p:nvSpPr>
        <p:spPr>
          <a:xfrm>
            <a:off x="548640" y="4160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FLEXIBILITY — DEPLOY ON YOUR TERMS, NOT OURS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502920" y="461772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49"/>
          <p:cNvSpPr/>
          <p:nvPr/>
        </p:nvSpPr>
        <p:spPr>
          <a:xfrm>
            <a:off x="740664" y="4837176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9" name="Image 7" descr="icons/w_serv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559" y="4960071"/>
            <a:ext cx="266273" cy="266273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1362456" y="4837176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Hosted</a:t>
            </a:r>
            <a:endParaRPr lang="en-US" sz="1300" dirty="0"/>
          </a:p>
        </p:txBody>
      </p:sp>
      <p:sp>
        <p:nvSpPr>
          <p:cNvPr id="61" name="Text 51"/>
          <p:cNvSpPr/>
          <p:nvPr/>
        </p:nvSpPr>
        <p:spPr>
          <a:xfrm>
            <a:off x="740664" y="5477256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sovereignty — on-prem or private cloud</a:t>
            </a:r>
            <a:endParaRPr lang="en-US" sz="1050" dirty="0"/>
          </a:p>
        </p:txBody>
      </p:sp>
      <p:sp>
        <p:nvSpPr>
          <p:cNvPr id="62" name="Text 52"/>
          <p:cNvSpPr/>
          <p:nvPr/>
        </p:nvSpPr>
        <p:spPr>
          <a:xfrm>
            <a:off x="740664" y="5824728"/>
            <a:ext cx="3081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&amp; sovereign buyers</a:t>
            </a:r>
            <a:endParaRPr lang="en-US" sz="1000" dirty="0"/>
          </a:p>
        </p:txBody>
      </p:sp>
      <p:sp>
        <p:nvSpPr>
          <p:cNvPr id="63" name="Text 53"/>
          <p:cNvSpPr/>
          <p:nvPr/>
        </p:nvSpPr>
        <p:spPr>
          <a:xfrm>
            <a:off x="740664" y="608076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</a:t>
            </a: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~2-4 weeks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4325112" y="4617720"/>
            <a:ext cx="3538728" cy="1737360"/>
          </a:xfrm>
          <a:prstGeom prst="roundRect">
            <a:avLst>
              <a:gd name="adj" fmla="val 5263"/>
            </a:avLst>
          </a:prstGeom>
          <a:solidFill>
            <a:srgbClr val="003F58"/>
          </a:solidFill>
          <a:ln/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55"/>
          <p:cNvSpPr/>
          <p:nvPr/>
        </p:nvSpPr>
        <p:spPr>
          <a:xfrm>
            <a:off x="4562856" y="4837176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6" name="Image 8" descr="icons/w_clou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5751" y="4960071"/>
            <a:ext cx="266273" cy="266273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5184648" y="4837176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ZALA Cloud</a:t>
            </a:r>
            <a:endParaRPr lang="en-US" sz="1300" dirty="0"/>
          </a:p>
        </p:txBody>
      </p:sp>
      <p:sp>
        <p:nvSpPr>
          <p:cNvPr id="68" name="Text 57"/>
          <p:cNvSpPr/>
          <p:nvPr/>
        </p:nvSpPr>
        <p:spPr>
          <a:xfrm>
            <a:off x="4562856" y="5477256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9D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ZALA-managed, multi-tenant cloud</a:t>
            </a:r>
            <a:endParaRPr lang="en-US" sz="1050" dirty="0"/>
          </a:p>
        </p:txBody>
      </p:sp>
      <p:sp>
        <p:nvSpPr>
          <p:cNvPr id="69" name="Text 58"/>
          <p:cNvSpPr/>
          <p:nvPr/>
        </p:nvSpPr>
        <p:spPr>
          <a:xfrm>
            <a:off x="4562856" y="5824728"/>
            <a:ext cx="3081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time-to-value</a:t>
            </a:r>
            <a:endParaRPr lang="en-US" sz="1000" dirty="0"/>
          </a:p>
        </p:txBody>
      </p:sp>
      <p:sp>
        <p:nvSpPr>
          <p:cNvPr id="70" name="Text 59"/>
          <p:cNvSpPr/>
          <p:nvPr/>
        </p:nvSpPr>
        <p:spPr>
          <a:xfrm>
            <a:off x="4562856" y="608076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</a:t>
            </a:r>
            <a:r>
              <a:rPr lang="en-US" sz="900" dirty="0">
                <a:solidFill>
                  <a:srgbClr val="9F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7 Days</a:t>
            </a:r>
            <a:endParaRPr lang="en-US" sz="900" dirty="0"/>
          </a:p>
        </p:txBody>
      </p:sp>
      <p:sp>
        <p:nvSpPr>
          <p:cNvPr id="71" name="Shape 60"/>
          <p:cNvSpPr/>
          <p:nvPr/>
        </p:nvSpPr>
        <p:spPr>
          <a:xfrm>
            <a:off x="8147304" y="461772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4E7EA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61"/>
          <p:cNvSpPr/>
          <p:nvPr/>
        </p:nvSpPr>
        <p:spPr>
          <a:xfrm>
            <a:off x="8385048" y="4837176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3" name="Image 9" descr="icons/w_lo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7943" y="4960071"/>
            <a:ext cx="266273" cy="266273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9006840" y="4837176"/>
            <a:ext cx="2532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300" dirty="0"/>
          </a:p>
        </p:txBody>
      </p:sp>
      <p:sp>
        <p:nvSpPr>
          <p:cNvPr id="75" name="Text 63"/>
          <p:cNvSpPr/>
          <p:nvPr/>
        </p:nvSpPr>
        <p:spPr>
          <a:xfrm>
            <a:off x="8385048" y="5477256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ZALA-managed, single-tenant infrastructure</a:t>
            </a:r>
            <a:endParaRPr lang="en-US" sz="1050" dirty="0"/>
          </a:p>
        </p:txBody>
      </p:sp>
      <p:sp>
        <p:nvSpPr>
          <p:cNvPr id="76" name="Text 64"/>
          <p:cNvSpPr/>
          <p:nvPr/>
        </p:nvSpPr>
        <p:spPr>
          <a:xfrm>
            <a:off x="8385048" y="5824728"/>
            <a:ext cx="3081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of control &amp; speed</a:t>
            </a:r>
            <a:endParaRPr lang="en-US" sz="1000" dirty="0"/>
          </a:p>
        </p:txBody>
      </p:sp>
      <p:sp>
        <p:nvSpPr>
          <p:cNvPr id="77" name="Text 65"/>
          <p:cNvSpPr/>
          <p:nvPr/>
        </p:nvSpPr>
        <p:spPr>
          <a:xfrm>
            <a:off x="8385048" y="608076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</a:t>
            </a: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~1-2 weeks</a:t>
            </a:r>
            <a:endParaRPr lang="en-US" sz="900" dirty="0"/>
          </a:p>
        </p:txBody>
      </p:sp>
      <p:sp>
        <p:nvSpPr>
          <p:cNvPr id="78" name="Text 66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that lets you say yes to AI </a:t>
            </a:r>
            <a:r>
              <a:rPr lang="en-US" sz="27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safely, and for the long run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10512"/>
            <a:ext cx="2724912" cy="932688"/>
          </a:xfrm>
          <a:prstGeom prst="roundRect">
            <a:avLst>
              <a:gd name="adj" fmla="val 8824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20299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icons/w_use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1396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93852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234440" y="2212848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actions pause for a person before executing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337560" y="1810512"/>
            <a:ext cx="2724912" cy="932688"/>
          </a:xfrm>
          <a:prstGeom prst="roundRect">
            <a:avLst>
              <a:gd name="adj" fmla="val 8824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520440" y="20299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w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213969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69080" y="193852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069080" y="2212848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escalate instead of guessing when unsure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02920" y="2889504"/>
            <a:ext cx="2724912" cy="932688"/>
          </a:xfrm>
          <a:prstGeom prst="roundRect">
            <a:avLst>
              <a:gd name="adj" fmla="val 8824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85800" y="3108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w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21868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017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234440" y="3291840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 are built in, not bolted on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337560" y="2889504"/>
            <a:ext cx="2724912" cy="932688"/>
          </a:xfrm>
          <a:prstGeom prst="roundRect">
            <a:avLst>
              <a:gd name="adj" fmla="val 8824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3520440" y="3108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icons/w_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0168" y="32186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017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Monitoring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069080" y="3291840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detection of ungrounded responses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02920" y="3968496"/>
            <a:ext cx="2724912" cy="932688"/>
          </a:xfrm>
          <a:prstGeom prst="roundRect">
            <a:avLst>
              <a:gd name="adj" fmla="val 8824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685800" y="41879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icons/w_filetex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429768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4096512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234440" y="4370832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and action logged for regulators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3337560" y="3968496"/>
            <a:ext cx="2724912" cy="932688"/>
          </a:xfrm>
          <a:prstGeom prst="roundRect">
            <a:avLst>
              <a:gd name="adj" fmla="val 8824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3520440" y="41879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6" descr="icons/w_ke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0168" y="4297680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069080" y="4096512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4069080" y="4370832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people, right permissions, every time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02920" y="5047488"/>
            <a:ext cx="2724912" cy="932688"/>
          </a:xfrm>
          <a:prstGeom prst="roundRect">
            <a:avLst>
              <a:gd name="adj" fmla="val 8824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7"/>
          <p:cNvSpPr/>
          <p:nvPr/>
        </p:nvSpPr>
        <p:spPr>
          <a:xfrm>
            <a:off x="685800" y="52669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7" descr="icons/w_slid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" y="5376672"/>
            <a:ext cx="237744" cy="23774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234440" y="5175504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1234440" y="5449824"/>
            <a:ext cx="1856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enforced consistently across agents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AI OPERATIONS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6400800" y="1810512"/>
            <a:ext cx="5285232" cy="1417320"/>
          </a:xfrm>
          <a:prstGeom prst="roundRect">
            <a:avLst>
              <a:gd name="adj" fmla="val 5806"/>
            </a:avLst>
          </a:prstGeom>
          <a:solidFill>
            <a:srgbClr val="EAF0F4"/>
          </a:solidFill>
          <a:ln w="9525">
            <a:solidFill>
              <a:srgbClr val="DBE6EC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6656832" y="2194560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8" descr="icons/w_headphone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1673" y="2339401"/>
            <a:ext cx="313822" cy="31382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443216" y="2029968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Support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7443216" y="2322576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6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monitoring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7443216" y="2670048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triage · incident response · uptime monitoring</a:t>
            </a:r>
            <a:endParaRPr lang="en-US" sz="950" dirty="0"/>
          </a:p>
        </p:txBody>
      </p:sp>
      <p:sp>
        <p:nvSpPr>
          <p:cNvPr id="47" name="Shape 36"/>
          <p:cNvSpPr/>
          <p:nvPr/>
        </p:nvSpPr>
        <p:spPr>
          <a:xfrm>
            <a:off x="6400800" y="3392424"/>
            <a:ext cx="5285232" cy="1417320"/>
          </a:xfrm>
          <a:prstGeom prst="roundRect">
            <a:avLst>
              <a:gd name="adj" fmla="val 5806"/>
            </a:avLst>
          </a:prstGeom>
          <a:solidFill>
            <a:srgbClr val="EAF0F4"/>
          </a:solidFill>
          <a:ln w="9525">
            <a:solidFill>
              <a:srgbClr val="DBE6EC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6656832" y="3776472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9" name="Image 9" descr="icons/w_too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1673" y="3921313"/>
            <a:ext cx="313822" cy="31382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7443216" y="3611880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Support</a:t>
            </a:r>
            <a:endParaRPr lang="en-US" sz="1300" dirty="0"/>
          </a:p>
        </p:txBody>
      </p:sp>
      <p:sp>
        <p:nvSpPr>
          <p:cNvPr id="51" name="Text 39"/>
          <p:cNvSpPr/>
          <p:nvPr/>
        </p:nvSpPr>
        <p:spPr>
          <a:xfrm>
            <a:off x="7443216" y="390448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6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tuning &amp; remediation</a:t>
            </a: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7443216" y="425196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tuning · knowledge base updates · agent drift correction</a:t>
            </a:r>
            <a:endParaRPr lang="en-US" sz="950" dirty="0"/>
          </a:p>
        </p:txBody>
      </p:sp>
      <p:sp>
        <p:nvSpPr>
          <p:cNvPr id="53" name="Shape 41"/>
          <p:cNvSpPr/>
          <p:nvPr/>
        </p:nvSpPr>
        <p:spPr>
          <a:xfrm>
            <a:off x="6400800" y="4974336"/>
            <a:ext cx="5285232" cy="1417320"/>
          </a:xfrm>
          <a:prstGeom prst="roundRect">
            <a:avLst>
              <a:gd name="adj" fmla="val 5806"/>
            </a:avLst>
          </a:prstGeom>
          <a:solidFill>
            <a:srgbClr val="EAF0F4"/>
          </a:solidFill>
          <a:ln w="9525">
            <a:solidFill>
              <a:srgbClr val="DBE6EC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2"/>
          <p:cNvSpPr/>
          <p:nvPr/>
        </p:nvSpPr>
        <p:spPr>
          <a:xfrm>
            <a:off x="6656832" y="5358384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10" descr="icons/w_refres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1673" y="5503225"/>
            <a:ext cx="313822" cy="313822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7443216" y="5193792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Optimization</a:t>
            </a:r>
            <a:endParaRPr lang="en-US" sz="1300" dirty="0"/>
          </a:p>
        </p:txBody>
      </p:sp>
      <p:sp>
        <p:nvSpPr>
          <p:cNvPr id="57" name="Text 44"/>
          <p:cNvSpPr/>
          <p:nvPr/>
        </p:nvSpPr>
        <p:spPr>
          <a:xfrm>
            <a:off x="7443216" y="548640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6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performance improvement</a:t>
            </a:r>
            <a:endParaRPr lang="en-US" sz="1100" dirty="0"/>
          </a:p>
        </p:txBody>
      </p:sp>
      <p:sp>
        <p:nvSpPr>
          <p:cNvPr id="58" name="Text 45"/>
          <p:cNvSpPr/>
          <p:nvPr/>
        </p:nvSpPr>
        <p:spPr>
          <a:xfrm>
            <a:off x="7443216" y="5833872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reviews · expansion recommendations · benchmarking</a:t>
            </a:r>
            <a:endParaRPr lang="en-US" sz="950" dirty="0"/>
          </a:p>
        </p:txBody>
      </p:sp>
      <p:sp>
        <p:nvSpPr>
          <p:cNvPr id="59" name="Text 46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vx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2" y="274320"/>
            <a:ext cx="5486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path to enterprise value, </a:t>
            </a:r>
            <a:r>
              <a:rPr lang="en-US" sz="2700" b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we get there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MODEL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664208"/>
            <a:ext cx="3538728" cy="877824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04088" y="1847088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icons/w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83" y="1969983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4168" y="1792224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344168" y="2084832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license, tiered by scale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242816" y="1664208"/>
            <a:ext cx="3538728" cy="877824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443984" y="1847088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w_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879" y="1969983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84064" y="1792224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Packs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084064" y="2084832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Per-pack pricing, by vertical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982712" y="1664208"/>
            <a:ext cx="3538728" cy="877824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183880" y="1847088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w_to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775" y="1969983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23960" y="1792224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823960" y="2084832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Fixed-fee, scoped by phase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02920" y="2706624"/>
            <a:ext cx="3538728" cy="877824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04088" y="28895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icons/w_refre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983" y="3012399"/>
            <a:ext cx="266273" cy="26627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44168" y="2834640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344168" y="3127248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AI-ops retainer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242816" y="2706624"/>
            <a:ext cx="3538728" cy="877824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443984" y="28895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icons/w_headphon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6879" y="3012399"/>
            <a:ext cx="266273" cy="26627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84064" y="2834640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084064" y="3127248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Tiered, SLA-based plans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7982712" y="2706624"/>
            <a:ext cx="3538728" cy="877824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9525">
            <a:solidFill>
              <a:srgbClr val="D9DEE3"/>
            </a:solidFill>
            <a:prstDash val="solid"/>
          </a:ln>
          <a:effectLst>
            <a:outerShdw blurRad="88900" dist="38100" dir="5400000" algn="bl" rotWithShape="0">
              <a:srgbClr val="9AA5B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8183880" y="288950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6" descr="icons/w_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775" y="3012399"/>
            <a:ext cx="266273" cy="26627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823960" y="2834640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Development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8823960" y="3127248"/>
            <a:ext cx="2532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T&amp;M for bespoke integrations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548640" y="367588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structure; final packaging and pricing confirmed during commercial discussion.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548640" y="4041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722376" y="45262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7" descr="icons/w_sear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384" y="4684288"/>
            <a:ext cx="342351" cy="342351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0" y="5257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Workshop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1435608" y="4855464"/>
            <a:ext cx="1626032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1"/>
          <p:cNvSpPr/>
          <p:nvPr/>
        </p:nvSpPr>
        <p:spPr>
          <a:xfrm rot="5400000">
            <a:off x="3043352" y="47823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3244520" y="45262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006C9C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8" descr="icons/w_clipboar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2528" y="4684288"/>
            <a:ext cx="342351" cy="342351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522144" y="5257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Readiness Assessment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3957752" y="4855464"/>
            <a:ext cx="1626032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5"/>
          <p:cNvSpPr/>
          <p:nvPr/>
        </p:nvSpPr>
        <p:spPr>
          <a:xfrm rot="5400000">
            <a:off x="5565496" y="47823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6"/>
          <p:cNvSpPr/>
          <p:nvPr/>
        </p:nvSpPr>
        <p:spPr>
          <a:xfrm>
            <a:off x="5766664" y="45262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003F5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9" descr="icons/w_lis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4672" y="4684288"/>
            <a:ext cx="342351" cy="342351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044288" y="5257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Prioritization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6479896" y="4855464"/>
            <a:ext cx="1626032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39"/>
          <p:cNvSpPr/>
          <p:nvPr/>
        </p:nvSpPr>
        <p:spPr>
          <a:xfrm rot="5400000">
            <a:off x="8087639" y="47823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0"/>
          <p:cNvSpPr/>
          <p:nvPr/>
        </p:nvSpPr>
        <p:spPr>
          <a:xfrm>
            <a:off x="8288807" y="45262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5E6B78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3" name="Image 10" descr="icons/w_fla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6816" y="4684288"/>
            <a:ext cx="342351" cy="342351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7566431" y="5257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50" dirty="0"/>
          </a:p>
        </p:txBody>
      </p:sp>
      <p:sp>
        <p:nvSpPr>
          <p:cNvPr id="55" name="Shape 42"/>
          <p:cNvSpPr/>
          <p:nvPr/>
        </p:nvSpPr>
        <p:spPr>
          <a:xfrm>
            <a:off x="9002039" y="4855464"/>
            <a:ext cx="1626032" cy="32004"/>
          </a:xfrm>
          <a:prstGeom prst="rect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3"/>
          <p:cNvSpPr/>
          <p:nvPr/>
        </p:nvSpPr>
        <p:spPr>
          <a:xfrm rot="5400000">
            <a:off x="10609783" y="4782312"/>
            <a:ext cx="164592" cy="164592"/>
          </a:xfrm>
          <a:prstGeom prst="triangle">
            <a:avLst/>
          </a:prstGeom>
          <a:solidFill>
            <a:srgbClr val="C4C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4"/>
          <p:cNvSpPr/>
          <p:nvPr/>
        </p:nvSpPr>
        <p:spPr>
          <a:xfrm>
            <a:off x="10810951" y="4526280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EA7724"/>
          </a:solidFill>
          <a:ln/>
          <a:effectLst>
            <a:outerShdw blurRad="63500" dist="25400" dir="5400000" algn="bl" rotWithShape="0">
              <a:srgbClr val="8A94A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8" name="Image 11" descr="icons/w_trendingu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8960" y="4684288"/>
            <a:ext cx="342351" cy="342351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10088575" y="5257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Rollout</a:t>
            </a:r>
            <a:endParaRPr lang="en-US" sz="1050" dirty="0"/>
          </a:p>
        </p:txBody>
      </p:sp>
      <p:sp>
        <p:nvSpPr>
          <p:cNvPr id="60" name="Text 46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software you buy once — a flywheel of </a:t>
            </a:r>
            <a:r>
              <a:rPr lang="en-US" sz="1250" b="1" i="1" dirty="0">
                <a:solidFill>
                  <a:srgbClr val="EA7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→ value → expand → scale</a:t>
            </a:r>
            <a:r>
              <a:rPr lang="en-US" sz="125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compounds with every use case.</a:t>
            </a:r>
            <a:endParaRPr lang="en-US" sz="1250" dirty="0"/>
          </a:p>
        </p:txBody>
      </p:sp>
      <p:sp>
        <p:nvSpPr>
          <p:cNvPr id="61" name="Text 47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1845</Words>
  <Application>Microsoft Macintosh PowerPoint</Application>
  <PresentationFormat>Widescreen</PresentationFormat>
  <Paragraphs>297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Khurram Munawar</cp:lastModifiedBy>
  <cp:revision>2</cp:revision>
  <dcterms:created xsi:type="dcterms:W3CDTF">2026-07-20T05:59:57Z</dcterms:created>
  <dcterms:modified xsi:type="dcterms:W3CDTF">2026-07-20T06:18:52Z</dcterms:modified>
</cp:coreProperties>
</file>