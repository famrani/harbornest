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9" r:id="rId2"/>
  </p:sldMasterIdLst>
  <p:notesMasterIdLst>
    <p:notesMasterId r:id="rId17"/>
  </p:notesMasterIdLst>
  <p:sldIdLst>
    <p:sldId id="257" r:id="rId3"/>
    <p:sldId id="2147483278" r:id="rId4"/>
    <p:sldId id="2147483318" r:id="rId5"/>
    <p:sldId id="258" r:id="rId6"/>
    <p:sldId id="256" r:id="rId7"/>
    <p:sldId id="264" r:id="rId8"/>
    <p:sldId id="279" r:id="rId9"/>
    <p:sldId id="280" r:id="rId10"/>
    <p:sldId id="2147483277" r:id="rId11"/>
    <p:sldId id="2147483274" r:id="rId12"/>
    <p:sldId id="261" r:id="rId13"/>
    <p:sldId id="265" r:id="rId14"/>
    <p:sldId id="268" r:id="rId15"/>
    <p:sldId id="271" r:id="rId1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7723"/>
    <a:srgbClr val="131B34"/>
    <a:srgbClr val="FFFFFF"/>
    <a:srgbClr val="F6C5A0"/>
    <a:srgbClr val="37739D"/>
    <a:srgbClr val="E07344"/>
    <a:srgbClr val="3E3FF5"/>
    <a:srgbClr val="FCF5EF"/>
    <a:srgbClr val="F2FAFE"/>
    <a:srgbClr val="F2FD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87"/>
    <p:restoredTop sz="94643"/>
  </p:normalViewPr>
  <p:slideViewPr>
    <p:cSldViewPr snapToGrid="0">
      <p:cViewPr varScale="1">
        <p:scale>
          <a:sx n="52" d="100"/>
          <a:sy n="52" d="100"/>
        </p:scale>
        <p:origin x="272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Shape 32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28" name="Shape 32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7CDAF-59F9-671D-0958-37A1B39B6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72C481-CC39-E72A-8EA6-99D080DD4A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6DAC00-6DF1-73EB-D23F-C47B38AF33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AACF9-83C8-4F75-DF72-573C17258D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7625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>
            <a:spLocks noGrp="1"/>
          </p:cNvSpPr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23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Bowl of pappardelle pasta with parsley butter, roasted hazelnuts, and shaved parmesan cheese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7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8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0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1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10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Agenda Subtitle</a:t>
            </a:r>
          </a:p>
        </p:txBody>
      </p:sp>
      <p:sp>
        <p:nvSpPr>
          <p:cNvPr id="11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Fact information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Attribution</a:t>
            </a:r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, and chopsticks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" name="Bowl with salmon cakes, salad, and hummus 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Bowl of pappardelle pasta with parsley butter, roasted hazelnuts, and shaved parmesan cheese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, and chopsticks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9_Custom Layout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Rectangle 13"/>
          <p:cNvSpPr/>
          <p:nvPr/>
        </p:nvSpPr>
        <p:spPr>
          <a:xfrm>
            <a:off x="0" y="12582939"/>
            <a:ext cx="2007706" cy="1133059"/>
          </a:xfrm>
          <a:prstGeom prst="rect">
            <a:avLst/>
          </a:prstGeom>
          <a:solidFill>
            <a:srgbClr val="FE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182866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0F0F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70" name="TextBox 15"/>
          <p:cNvSpPr txBox="1"/>
          <p:nvPr/>
        </p:nvSpPr>
        <p:spPr>
          <a:xfrm rot="16200000">
            <a:off x="463064" y="780800"/>
            <a:ext cx="1020908" cy="462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defTabSz="1828660">
              <a:lnSpc>
                <a:spcPct val="100000"/>
              </a:lnSpc>
              <a:spcBef>
                <a:spcPts val="0"/>
              </a:spcBef>
              <a:defRPr sz="1800" b="1">
                <a:solidFill>
                  <a:srgbClr val="22222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t>voodoo</a:t>
            </a:r>
          </a:p>
        </p:txBody>
      </p:sp>
      <p:sp>
        <p:nvSpPr>
          <p:cNvPr id="171" name="Straight Connector 17"/>
          <p:cNvSpPr/>
          <p:nvPr/>
        </p:nvSpPr>
        <p:spPr>
          <a:xfrm>
            <a:off x="630733" y="6778487"/>
            <a:ext cx="804205" cy="1"/>
          </a:xfrm>
          <a:prstGeom prst="line">
            <a:avLst/>
          </a:prstGeom>
          <a:ln w="38100">
            <a:solidFill>
              <a:srgbClr val="222222"/>
            </a:solidFill>
            <a:miter/>
          </a:ln>
        </p:spPr>
        <p:txBody>
          <a:bodyPr tIns="91439" bIns="91439"/>
          <a:lstStyle/>
          <a:p>
            <a:pPr defTabSz="182866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22222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72" name="Straight Connector 18"/>
          <p:cNvSpPr/>
          <p:nvPr/>
        </p:nvSpPr>
        <p:spPr>
          <a:xfrm>
            <a:off x="630733" y="6937513"/>
            <a:ext cx="402103" cy="1"/>
          </a:xfrm>
          <a:prstGeom prst="line">
            <a:avLst/>
          </a:prstGeom>
          <a:ln w="38100">
            <a:solidFill>
              <a:srgbClr val="222222"/>
            </a:solidFill>
            <a:miter/>
          </a:ln>
        </p:spPr>
        <p:txBody>
          <a:bodyPr tIns="91439" bIns="91439"/>
          <a:lstStyle/>
          <a:p>
            <a:pPr defTabSz="182866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22222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7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93051" y="12905490"/>
            <a:ext cx="421602" cy="424181"/>
          </a:xfrm>
          <a:prstGeom prst="rect">
            <a:avLst/>
          </a:prstGeom>
        </p:spPr>
        <p:txBody>
          <a:bodyPr lIns="91439" tIns="91439" rIns="91439" bIns="91439" anchor="ctr"/>
          <a:lstStyle>
            <a:lvl1pPr defTabSz="1828660">
              <a:defRPr sz="1600" b="1">
                <a:solidFill>
                  <a:srgbClr val="222222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74" name="Picture Placeholder 8"/>
          <p:cNvSpPr>
            <a:spLocks noGrp="1"/>
          </p:cNvSpPr>
          <p:nvPr>
            <p:ph type="pic" sz="quarter" idx="21"/>
          </p:nvPr>
        </p:nvSpPr>
        <p:spPr>
          <a:xfrm>
            <a:off x="10157704" y="0"/>
            <a:ext cx="6118615" cy="457995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75" name="Title Text"/>
          <p:cNvSpPr txBox="1">
            <a:spLocks noGrp="1"/>
          </p:cNvSpPr>
          <p:nvPr>
            <p:ph type="title"/>
          </p:nvPr>
        </p:nvSpPr>
        <p:spPr>
          <a:xfrm>
            <a:off x="4057648" y="1893404"/>
            <a:ext cx="18305395" cy="2499691"/>
          </a:xfrm>
          <a:prstGeom prst="rect">
            <a:avLst/>
          </a:prstGeom>
        </p:spPr>
        <p:txBody>
          <a:bodyPr lIns="0" tIns="0" rIns="0" bIns="0"/>
          <a:lstStyle>
            <a:lvl1pPr defTabSz="1828636">
              <a:defRPr sz="7200" spc="-200">
                <a:solidFill>
                  <a:srgbClr val="222222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r>
              <a:t>Title Text</a:t>
            </a:r>
          </a:p>
        </p:txBody>
      </p:sp>
      <p:sp>
        <p:nvSpPr>
          <p:cNvPr id="176" name="Picture Placeholder 8"/>
          <p:cNvSpPr>
            <a:spLocks noGrp="1"/>
          </p:cNvSpPr>
          <p:nvPr>
            <p:ph type="pic" sz="quarter" idx="22"/>
          </p:nvPr>
        </p:nvSpPr>
        <p:spPr>
          <a:xfrm>
            <a:off x="9344904" y="4579954"/>
            <a:ext cx="6118615" cy="4579955"/>
          </a:xfrm>
          <a:prstGeom prst="rect">
            <a:avLst/>
          </a:prstGeom>
          <a:effectLst>
            <a:outerShdw blurRad="1270000" dist="508000" dir="5400000" rotWithShape="0">
              <a:srgbClr val="000000">
                <a:alpha val="3000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77" name="Picture Placeholder 8"/>
          <p:cNvSpPr>
            <a:spLocks noGrp="1"/>
          </p:cNvSpPr>
          <p:nvPr>
            <p:ph type="pic" sz="quarter" idx="23"/>
          </p:nvPr>
        </p:nvSpPr>
        <p:spPr>
          <a:xfrm>
            <a:off x="10157704" y="9156365"/>
            <a:ext cx="6118615" cy="457995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5_Custom Layout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ctangle 13"/>
          <p:cNvSpPr/>
          <p:nvPr/>
        </p:nvSpPr>
        <p:spPr>
          <a:xfrm>
            <a:off x="0" y="12582939"/>
            <a:ext cx="2007706" cy="1133059"/>
          </a:xfrm>
          <a:prstGeom prst="rect">
            <a:avLst/>
          </a:prstGeom>
          <a:solidFill>
            <a:srgbClr val="FE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182866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0F0F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85" name="TextBox 15"/>
          <p:cNvSpPr txBox="1"/>
          <p:nvPr/>
        </p:nvSpPr>
        <p:spPr>
          <a:xfrm rot="16200000">
            <a:off x="463064" y="780800"/>
            <a:ext cx="1020908" cy="462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defTabSz="1828660">
              <a:lnSpc>
                <a:spcPct val="100000"/>
              </a:lnSpc>
              <a:spcBef>
                <a:spcPts val="0"/>
              </a:spcBef>
              <a:defRPr sz="1800" b="1">
                <a:solidFill>
                  <a:srgbClr val="22222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t>voodoo</a:t>
            </a:r>
          </a:p>
        </p:txBody>
      </p:sp>
      <p:sp>
        <p:nvSpPr>
          <p:cNvPr id="186" name="Straight Connector 17"/>
          <p:cNvSpPr/>
          <p:nvPr/>
        </p:nvSpPr>
        <p:spPr>
          <a:xfrm>
            <a:off x="630733" y="6778487"/>
            <a:ext cx="804205" cy="1"/>
          </a:xfrm>
          <a:prstGeom prst="line">
            <a:avLst/>
          </a:prstGeom>
          <a:ln w="38100">
            <a:solidFill>
              <a:srgbClr val="222222"/>
            </a:solidFill>
            <a:miter/>
          </a:ln>
        </p:spPr>
        <p:txBody>
          <a:bodyPr tIns="91439" bIns="91439"/>
          <a:lstStyle/>
          <a:p>
            <a:pPr defTabSz="182866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22222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87" name="Straight Connector 18"/>
          <p:cNvSpPr/>
          <p:nvPr/>
        </p:nvSpPr>
        <p:spPr>
          <a:xfrm>
            <a:off x="630733" y="6937513"/>
            <a:ext cx="402103" cy="1"/>
          </a:xfrm>
          <a:prstGeom prst="line">
            <a:avLst/>
          </a:prstGeom>
          <a:ln w="38100">
            <a:solidFill>
              <a:srgbClr val="222222"/>
            </a:solidFill>
            <a:miter/>
          </a:ln>
        </p:spPr>
        <p:txBody>
          <a:bodyPr tIns="91439" bIns="91439"/>
          <a:lstStyle/>
          <a:p>
            <a:pPr defTabSz="182866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22222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8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93051" y="12905490"/>
            <a:ext cx="421602" cy="424181"/>
          </a:xfrm>
          <a:prstGeom prst="rect">
            <a:avLst/>
          </a:prstGeom>
        </p:spPr>
        <p:txBody>
          <a:bodyPr lIns="91439" tIns="91439" rIns="91439" bIns="91439" anchor="ctr"/>
          <a:lstStyle>
            <a:lvl1pPr defTabSz="1828660">
              <a:defRPr sz="1600" b="1">
                <a:solidFill>
                  <a:srgbClr val="222222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89" name="Title Text"/>
          <p:cNvSpPr txBox="1">
            <a:spLocks noGrp="1"/>
          </p:cNvSpPr>
          <p:nvPr>
            <p:ph type="title"/>
          </p:nvPr>
        </p:nvSpPr>
        <p:spPr>
          <a:xfrm>
            <a:off x="4057648" y="1893404"/>
            <a:ext cx="18305395" cy="2499691"/>
          </a:xfrm>
          <a:prstGeom prst="rect">
            <a:avLst/>
          </a:prstGeom>
        </p:spPr>
        <p:txBody>
          <a:bodyPr lIns="0" tIns="0" rIns="0" bIns="0"/>
          <a:lstStyle>
            <a:lvl1pPr defTabSz="1828636">
              <a:defRPr sz="7200" spc="-200">
                <a:solidFill>
                  <a:srgbClr val="222222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5_Title Slide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ctangle 13"/>
          <p:cNvSpPr/>
          <p:nvPr/>
        </p:nvSpPr>
        <p:spPr>
          <a:xfrm>
            <a:off x="0" y="12582939"/>
            <a:ext cx="2007706" cy="1133059"/>
          </a:xfrm>
          <a:prstGeom prst="rect">
            <a:avLst/>
          </a:prstGeom>
          <a:solidFill>
            <a:srgbClr val="FE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182866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0F0F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97" name="TextBox 15"/>
          <p:cNvSpPr txBox="1"/>
          <p:nvPr/>
        </p:nvSpPr>
        <p:spPr>
          <a:xfrm rot="16200000">
            <a:off x="463064" y="780800"/>
            <a:ext cx="1020908" cy="462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defTabSz="1828660">
              <a:lnSpc>
                <a:spcPct val="100000"/>
              </a:lnSpc>
              <a:spcBef>
                <a:spcPts val="0"/>
              </a:spcBef>
              <a:defRPr sz="1800" b="1">
                <a:solidFill>
                  <a:srgbClr val="22222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t>voodoo</a:t>
            </a:r>
          </a:p>
        </p:txBody>
      </p:sp>
      <p:sp>
        <p:nvSpPr>
          <p:cNvPr id="198" name="Straight Connector 17"/>
          <p:cNvSpPr/>
          <p:nvPr/>
        </p:nvSpPr>
        <p:spPr>
          <a:xfrm>
            <a:off x="630733" y="6778487"/>
            <a:ext cx="804205" cy="1"/>
          </a:xfrm>
          <a:prstGeom prst="line">
            <a:avLst/>
          </a:prstGeom>
          <a:ln w="38100">
            <a:solidFill>
              <a:srgbClr val="222222"/>
            </a:solidFill>
            <a:miter/>
          </a:ln>
        </p:spPr>
        <p:txBody>
          <a:bodyPr tIns="91439" bIns="91439"/>
          <a:lstStyle/>
          <a:p>
            <a:pPr defTabSz="182866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22222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99" name="Straight Connector 18"/>
          <p:cNvSpPr/>
          <p:nvPr/>
        </p:nvSpPr>
        <p:spPr>
          <a:xfrm>
            <a:off x="630733" y="6937513"/>
            <a:ext cx="402103" cy="1"/>
          </a:xfrm>
          <a:prstGeom prst="line">
            <a:avLst/>
          </a:prstGeom>
          <a:ln w="38100">
            <a:solidFill>
              <a:srgbClr val="222222"/>
            </a:solidFill>
            <a:miter/>
          </a:ln>
        </p:spPr>
        <p:txBody>
          <a:bodyPr tIns="91439" bIns="91439"/>
          <a:lstStyle/>
          <a:p>
            <a:pPr defTabSz="182866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22222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0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93051" y="12905490"/>
            <a:ext cx="421602" cy="424181"/>
          </a:xfrm>
          <a:prstGeom prst="rect">
            <a:avLst/>
          </a:prstGeom>
        </p:spPr>
        <p:txBody>
          <a:bodyPr lIns="91439" tIns="91439" rIns="91439" bIns="91439" anchor="ctr"/>
          <a:lstStyle>
            <a:lvl1pPr defTabSz="1828660">
              <a:defRPr sz="1600" b="1">
                <a:solidFill>
                  <a:srgbClr val="222222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201" name="Rectangle 6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222222">
              <a:alpha val="6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182866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0F0F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02" name="Title Text"/>
          <p:cNvSpPr txBox="1">
            <a:spLocks noGrp="1"/>
          </p:cNvSpPr>
          <p:nvPr>
            <p:ph type="title"/>
          </p:nvPr>
        </p:nvSpPr>
        <p:spPr>
          <a:xfrm>
            <a:off x="4057650" y="1893404"/>
            <a:ext cx="8134353" cy="4240111"/>
          </a:xfrm>
          <a:prstGeom prst="rect">
            <a:avLst/>
          </a:prstGeom>
        </p:spPr>
        <p:txBody>
          <a:bodyPr lIns="0" tIns="0" rIns="0" bIns="0"/>
          <a:lstStyle>
            <a:lvl1pPr defTabSz="1828636">
              <a:defRPr sz="7200" spc="-200">
                <a:solidFill>
                  <a:srgbClr val="222222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r>
              <a:t>Title Text</a:t>
            </a:r>
          </a:p>
        </p:txBody>
      </p:sp>
      <p:grpSp>
        <p:nvGrpSpPr>
          <p:cNvPr id="205" name="Group 1"/>
          <p:cNvGrpSpPr/>
          <p:nvPr/>
        </p:nvGrpSpPr>
        <p:grpSpPr>
          <a:xfrm>
            <a:off x="11100888" y="3682960"/>
            <a:ext cx="13283112" cy="7799056"/>
            <a:chOff x="0" y="0"/>
            <a:chExt cx="13283111" cy="7799055"/>
          </a:xfrm>
        </p:grpSpPr>
        <p:pic>
          <p:nvPicPr>
            <p:cNvPr id="203" name="Picture 7" descr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3283112" cy="779905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04" name="Rectangle 11"/>
            <p:cNvSpPr/>
            <p:nvPr/>
          </p:nvSpPr>
          <p:spPr>
            <a:xfrm>
              <a:off x="5923097" y="7079351"/>
              <a:ext cx="1320801" cy="277821"/>
            </a:xfrm>
            <a:prstGeom prst="rect">
              <a:avLst/>
            </a:prstGeom>
            <a:solidFill>
              <a:srgbClr val="1F1C1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 defTabSz="182866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0F0F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206" name="Picture Placeholder 8"/>
          <p:cNvSpPr>
            <a:spLocks noGrp="1"/>
          </p:cNvSpPr>
          <p:nvPr>
            <p:ph type="pic" sz="quarter" idx="21"/>
          </p:nvPr>
        </p:nvSpPr>
        <p:spPr>
          <a:xfrm>
            <a:off x="12738830" y="4246148"/>
            <a:ext cx="9992585" cy="624087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55_Title Slide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Rectangle 13"/>
          <p:cNvSpPr/>
          <p:nvPr/>
        </p:nvSpPr>
        <p:spPr>
          <a:xfrm>
            <a:off x="0" y="12582939"/>
            <a:ext cx="2007706" cy="1133059"/>
          </a:xfrm>
          <a:prstGeom prst="rect">
            <a:avLst/>
          </a:prstGeom>
          <a:solidFill>
            <a:srgbClr val="FE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182866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0F0F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14" name="TextBox 15"/>
          <p:cNvSpPr txBox="1"/>
          <p:nvPr/>
        </p:nvSpPr>
        <p:spPr>
          <a:xfrm rot="16200000">
            <a:off x="463064" y="780800"/>
            <a:ext cx="1020908" cy="462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defTabSz="1828660">
              <a:lnSpc>
                <a:spcPct val="100000"/>
              </a:lnSpc>
              <a:spcBef>
                <a:spcPts val="0"/>
              </a:spcBef>
              <a:defRPr sz="1800" b="1">
                <a:solidFill>
                  <a:srgbClr val="22222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t>voodoo</a:t>
            </a:r>
          </a:p>
        </p:txBody>
      </p:sp>
      <p:sp>
        <p:nvSpPr>
          <p:cNvPr id="215" name="Straight Connector 17"/>
          <p:cNvSpPr/>
          <p:nvPr/>
        </p:nvSpPr>
        <p:spPr>
          <a:xfrm>
            <a:off x="630733" y="6778487"/>
            <a:ext cx="804205" cy="1"/>
          </a:xfrm>
          <a:prstGeom prst="line">
            <a:avLst/>
          </a:prstGeom>
          <a:ln w="38100">
            <a:solidFill>
              <a:srgbClr val="222222"/>
            </a:solidFill>
            <a:miter/>
          </a:ln>
        </p:spPr>
        <p:txBody>
          <a:bodyPr tIns="91439" bIns="91439"/>
          <a:lstStyle/>
          <a:p>
            <a:pPr defTabSz="182866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22222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16" name="Straight Connector 18"/>
          <p:cNvSpPr/>
          <p:nvPr/>
        </p:nvSpPr>
        <p:spPr>
          <a:xfrm>
            <a:off x="630733" y="6937513"/>
            <a:ext cx="402103" cy="1"/>
          </a:xfrm>
          <a:prstGeom prst="line">
            <a:avLst/>
          </a:prstGeom>
          <a:ln w="38100">
            <a:solidFill>
              <a:srgbClr val="222222"/>
            </a:solidFill>
            <a:miter/>
          </a:ln>
        </p:spPr>
        <p:txBody>
          <a:bodyPr tIns="91439" bIns="91439"/>
          <a:lstStyle/>
          <a:p>
            <a:pPr defTabSz="182866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22222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93051" y="12905490"/>
            <a:ext cx="421602" cy="424181"/>
          </a:xfrm>
          <a:prstGeom prst="rect">
            <a:avLst/>
          </a:prstGeom>
        </p:spPr>
        <p:txBody>
          <a:bodyPr lIns="91439" tIns="91439" rIns="91439" bIns="91439" anchor="ctr"/>
          <a:lstStyle>
            <a:lvl1pPr defTabSz="1828660">
              <a:defRPr sz="1600" b="1">
                <a:solidFill>
                  <a:srgbClr val="222222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220" name="Group 2"/>
          <p:cNvGrpSpPr/>
          <p:nvPr/>
        </p:nvGrpSpPr>
        <p:grpSpPr>
          <a:xfrm>
            <a:off x="9350832" y="-4136237"/>
            <a:ext cx="13012211" cy="22243096"/>
            <a:chOff x="0" y="0"/>
            <a:chExt cx="13012210" cy="22243095"/>
          </a:xfrm>
        </p:grpSpPr>
        <p:pic>
          <p:nvPicPr>
            <p:cNvPr id="218" name="Picture 10" descr="Pictur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0" y="-1"/>
              <a:ext cx="13012211" cy="2224309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19" name="Picture 9" descr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57350" y="5383145"/>
              <a:ext cx="4777735" cy="974049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21" name="Title Text"/>
          <p:cNvSpPr txBox="1">
            <a:spLocks noGrp="1"/>
          </p:cNvSpPr>
          <p:nvPr>
            <p:ph type="title"/>
          </p:nvPr>
        </p:nvSpPr>
        <p:spPr>
          <a:xfrm>
            <a:off x="4057650" y="1893404"/>
            <a:ext cx="8128317" cy="2499691"/>
          </a:xfrm>
          <a:prstGeom prst="rect">
            <a:avLst/>
          </a:prstGeom>
        </p:spPr>
        <p:txBody>
          <a:bodyPr lIns="0" tIns="0" rIns="0" bIns="0"/>
          <a:lstStyle>
            <a:lvl1pPr defTabSz="1828636">
              <a:defRPr sz="7200" spc="-200">
                <a:solidFill>
                  <a:srgbClr val="222222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r>
              <a:t>Title Text</a:t>
            </a:r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1"/>
          </p:nvPr>
        </p:nvSpPr>
        <p:spPr>
          <a:xfrm>
            <a:off x="13797300" y="2444433"/>
            <a:ext cx="4219097" cy="742384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6_Custom Layout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Rectangle 13"/>
          <p:cNvSpPr/>
          <p:nvPr/>
        </p:nvSpPr>
        <p:spPr>
          <a:xfrm>
            <a:off x="22363042" y="12582939"/>
            <a:ext cx="2007707" cy="1133059"/>
          </a:xfrm>
          <a:prstGeom prst="rect">
            <a:avLst/>
          </a:prstGeom>
          <a:solidFill>
            <a:srgbClr val="FE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182866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0F0F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30" name="TextBox 15"/>
          <p:cNvSpPr txBox="1"/>
          <p:nvPr/>
        </p:nvSpPr>
        <p:spPr>
          <a:xfrm rot="16200000">
            <a:off x="22826105" y="780800"/>
            <a:ext cx="1020908" cy="462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defTabSz="1828660">
              <a:lnSpc>
                <a:spcPct val="100000"/>
              </a:lnSpc>
              <a:spcBef>
                <a:spcPts val="0"/>
              </a:spcBef>
              <a:defRPr sz="1800" b="1">
                <a:solidFill>
                  <a:srgbClr val="22222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t>voodoo</a:t>
            </a:r>
          </a:p>
        </p:txBody>
      </p:sp>
      <p:sp>
        <p:nvSpPr>
          <p:cNvPr id="231" name="Straight Connector 17"/>
          <p:cNvSpPr/>
          <p:nvPr/>
        </p:nvSpPr>
        <p:spPr>
          <a:xfrm>
            <a:off x="22993776" y="6778487"/>
            <a:ext cx="804205" cy="1"/>
          </a:xfrm>
          <a:prstGeom prst="line">
            <a:avLst/>
          </a:prstGeom>
          <a:ln w="38100">
            <a:solidFill>
              <a:srgbClr val="222222"/>
            </a:solidFill>
            <a:miter/>
          </a:ln>
        </p:spPr>
        <p:txBody>
          <a:bodyPr tIns="91439" bIns="91439"/>
          <a:lstStyle/>
          <a:p>
            <a:pPr defTabSz="182866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22222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32" name="Straight Connector 18"/>
          <p:cNvSpPr/>
          <p:nvPr/>
        </p:nvSpPr>
        <p:spPr>
          <a:xfrm>
            <a:off x="23395877" y="6937513"/>
            <a:ext cx="402103" cy="1"/>
          </a:xfrm>
          <a:prstGeom prst="line">
            <a:avLst/>
          </a:prstGeom>
          <a:ln w="38100">
            <a:solidFill>
              <a:srgbClr val="222222"/>
            </a:solidFill>
            <a:miter/>
          </a:ln>
        </p:spPr>
        <p:txBody>
          <a:bodyPr tIns="91439" bIns="91439"/>
          <a:lstStyle/>
          <a:p>
            <a:pPr defTabSz="182866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22222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3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156094" y="12905490"/>
            <a:ext cx="421601" cy="424181"/>
          </a:xfrm>
          <a:prstGeom prst="rect">
            <a:avLst/>
          </a:prstGeom>
        </p:spPr>
        <p:txBody>
          <a:bodyPr lIns="91439" tIns="91439" rIns="91439" bIns="91439" anchor="ctr"/>
          <a:lstStyle>
            <a:lvl1pPr defTabSz="1828660">
              <a:defRPr sz="1600" b="1">
                <a:solidFill>
                  <a:srgbClr val="222222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234" name="Title Text"/>
          <p:cNvSpPr txBox="1">
            <a:spLocks noGrp="1"/>
          </p:cNvSpPr>
          <p:nvPr>
            <p:ph type="title"/>
          </p:nvPr>
        </p:nvSpPr>
        <p:spPr>
          <a:xfrm>
            <a:off x="4057648" y="1893404"/>
            <a:ext cx="18305395" cy="2499691"/>
          </a:xfrm>
          <a:prstGeom prst="rect">
            <a:avLst/>
          </a:prstGeom>
        </p:spPr>
        <p:txBody>
          <a:bodyPr lIns="0" tIns="0" rIns="0" bIns="0"/>
          <a:lstStyle>
            <a:lvl1pPr defTabSz="1828636">
              <a:defRPr sz="7200" spc="-302">
                <a:solidFill>
                  <a:srgbClr val="22222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78_Custom Layout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Rectangle 13"/>
          <p:cNvSpPr/>
          <p:nvPr/>
        </p:nvSpPr>
        <p:spPr>
          <a:xfrm>
            <a:off x="0" y="12582939"/>
            <a:ext cx="2007706" cy="1133059"/>
          </a:xfrm>
          <a:prstGeom prst="rect">
            <a:avLst/>
          </a:prstGeom>
          <a:solidFill>
            <a:srgbClr val="FE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182866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0F0F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42" name="TextBox 15"/>
          <p:cNvSpPr txBox="1"/>
          <p:nvPr/>
        </p:nvSpPr>
        <p:spPr>
          <a:xfrm rot="16200000">
            <a:off x="463064" y="780800"/>
            <a:ext cx="1020908" cy="462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defTabSz="1828660">
              <a:lnSpc>
                <a:spcPct val="100000"/>
              </a:lnSpc>
              <a:spcBef>
                <a:spcPts val="0"/>
              </a:spcBef>
              <a:defRPr sz="1800" b="1">
                <a:solidFill>
                  <a:srgbClr val="22222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t>voodoo</a:t>
            </a:r>
          </a:p>
        </p:txBody>
      </p:sp>
      <p:sp>
        <p:nvSpPr>
          <p:cNvPr id="243" name="Straight Connector 17"/>
          <p:cNvSpPr/>
          <p:nvPr/>
        </p:nvSpPr>
        <p:spPr>
          <a:xfrm>
            <a:off x="630733" y="6778487"/>
            <a:ext cx="804205" cy="1"/>
          </a:xfrm>
          <a:prstGeom prst="line">
            <a:avLst/>
          </a:prstGeom>
          <a:ln w="38100">
            <a:solidFill>
              <a:srgbClr val="222222"/>
            </a:solidFill>
            <a:miter/>
          </a:ln>
        </p:spPr>
        <p:txBody>
          <a:bodyPr tIns="91439" bIns="91439"/>
          <a:lstStyle/>
          <a:p>
            <a:pPr defTabSz="182866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22222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44" name="Straight Connector 18"/>
          <p:cNvSpPr/>
          <p:nvPr/>
        </p:nvSpPr>
        <p:spPr>
          <a:xfrm>
            <a:off x="630733" y="6937513"/>
            <a:ext cx="402103" cy="1"/>
          </a:xfrm>
          <a:prstGeom prst="line">
            <a:avLst/>
          </a:prstGeom>
          <a:ln w="38100">
            <a:solidFill>
              <a:srgbClr val="222222"/>
            </a:solidFill>
            <a:miter/>
          </a:ln>
        </p:spPr>
        <p:txBody>
          <a:bodyPr tIns="91439" bIns="91439"/>
          <a:lstStyle/>
          <a:p>
            <a:pPr defTabSz="182866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22222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4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93051" y="12905490"/>
            <a:ext cx="421602" cy="424181"/>
          </a:xfrm>
          <a:prstGeom prst="rect">
            <a:avLst/>
          </a:prstGeom>
        </p:spPr>
        <p:txBody>
          <a:bodyPr lIns="91439" tIns="91439" rIns="91439" bIns="91439" anchor="ctr"/>
          <a:lstStyle>
            <a:lvl1pPr defTabSz="1828660">
              <a:defRPr sz="1600" b="1">
                <a:solidFill>
                  <a:srgbClr val="222222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246" name="Title Text"/>
          <p:cNvSpPr txBox="1">
            <a:spLocks noGrp="1"/>
          </p:cNvSpPr>
          <p:nvPr>
            <p:ph type="title"/>
          </p:nvPr>
        </p:nvSpPr>
        <p:spPr>
          <a:xfrm>
            <a:off x="4057650" y="1893404"/>
            <a:ext cx="8134353" cy="2499691"/>
          </a:xfrm>
          <a:prstGeom prst="rect">
            <a:avLst/>
          </a:prstGeom>
        </p:spPr>
        <p:txBody>
          <a:bodyPr lIns="0" tIns="0" rIns="0" bIns="0"/>
          <a:lstStyle>
            <a:lvl1pPr defTabSz="1828636">
              <a:defRPr sz="7200" spc="-200">
                <a:solidFill>
                  <a:srgbClr val="222222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r>
              <a:t>Title Text</a:t>
            </a:r>
          </a:p>
        </p:txBody>
      </p:sp>
      <p:sp>
        <p:nvSpPr>
          <p:cNvPr id="247" name="Picture Placeholder 8"/>
          <p:cNvSpPr>
            <a:spLocks noGrp="1"/>
          </p:cNvSpPr>
          <p:nvPr>
            <p:ph type="pic" sz="quarter" idx="21"/>
          </p:nvPr>
        </p:nvSpPr>
        <p:spPr>
          <a:xfrm>
            <a:off x="4057650" y="6858000"/>
            <a:ext cx="8134353" cy="685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Custom Layout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Rectangle 13"/>
          <p:cNvSpPr/>
          <p:nvPr/>
        </p:nvSpPr>
        <p:spPr>
          <a:xfrm>
            <a:off x="0" y="12582939"/>
            <a:ext cx="2007706" cy="1133059"/>
          </a:xfrm>
          <a:prstGeom prst="rect">
            <a:avLst/>
          </a:prstGeom>
          <a:solidFill>
            <a:srgbClr val="FE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182866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0F0F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55" name="TextBox 15"/>
          <p:cNvSpPr txBox="1"/>
          <p:nvPr/>
        </p:nvSpPr>
        <p:spPr>
          <a:xfrm rot="16200000">
            <a:off x="463064" y="780800"/>
            <a:ext cx="1020908" cy="462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defTabSz="1828660">
              <a:lnSpc>
                <a:spcPct val="100000"/>
              </a:lnSpc>
              <a:spcBef>
                <a:spcPts val="0"/>
              </a:spcBef>
              <a:defRPr sz="1800" b="1">
                <a:solidFill>
                  <a:srgbClr val="22222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t>voodoo</a:t>
            </a:r>
          </a:p>
        </p:txBody>
      </p:sp>
      <p:sp>
        <p:nvSpPr>
          <p:cNvPr id="256" name="Straight Connector 17"/>
          <p:cNvSpPr/>
          <p:nvPr/>
        </p:nvSpPr>
        <p:spPr>
          <a:xfrm>
            <a:off x="630733" y="6778487"/>
            <a:ext cx="804205" cy="1"/>
          </a:xfrm>
          <a:prstGeom prst="line">
            <a:avLst/>
          </a:prstGeom>
          <a:ln w="38100">
            <a:solidFill>
              <a:srgbClr val="222222"/>
            </a:solidFill>
            <a:miter/>
          </a:ln>
        </p:spPr>
        <p:txBody>
          <a:bodyPr tIns="91439" bIns="91439"/>
          <a:lstStyle/>
          <a:p>
            <a:pPr defTabSz="182866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22222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57" name="Straight Connector 18"/>
          <p:cNvSpPr/>
          <p:nvPr/>
        </p:nvSpPr>
        <p:spPr>
          <a:xfrm>
            <a:off x="630733" y="6937513"/>
            <a:ext cx="402103" cy="1"/>
          </a:xfrm>
          <a:prstGeom prst="line">
            <a:avLst/>
          </a:prstGeom>
          <a:ln w="38100">
            <a:solidFill>
              <a:srgbClr val="222222"/>
            </a:solidFill>
            <a:miter/>
          </a:ln>
        </p:spPr>
        <p:txBody>
          <a:bodyPr tIns="91439" bIns="91439"/>
          <a:lstStyle/>
          <a:p>
            <a:pPr defTabSz="182866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22222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5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93051" y="12905490"/>
            <a:ext cx="421602" cy="424181"/>
          </a:xfrm>
          <a:prstGeom prst="rect">
            <a:avLst/>
          </a:prstGeom>
        </p:spPr>
        <p:txBody>
          <a:bodyPr lIns="91439" tIns="91439" rIns="91439" bIns="91439" anchor="ctr"/>
          <a:lstStyle>
            <a:lvl1pPr defTabSz="1828660">
              <a:defRPr sz="1600" b="1">
                <a:solidFill>
                  <a:srgbClr val="222222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259" name="Picture Placeholder 8"/>
          <p:cNvSpPr>
            <a:spLocks noGrp="1"/>
          </p:cNvSpPr>
          <p:nvPr>
            <p:ph type="pic" idx="21"/>
          </p:nvPr>
        </p:nvSpPr>
        <p:spPr>
          <a:xfrm>
            <a:off x="12192000" y="0"/>
            <a:ext cx="12192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60" name="Title Text"/>
          <p:cNvSpPr txBox="1">
            <a:spLocks noGrp="1"/>
          </p:cNvSpPr>
          <p:nvPr>
            <p:ph type="title"/>
          </p:nvPr>
        </p:nvSpPr>
        <p:spPr>
          <a:xfrm>
            <a:off x="2049941" y="5210588"/>
            <a:ext cx="20293225" cy="3294823"/>
          </a:xfrm>
          <a:prstGeom prst="rect">
            <a:avLst/>
          </a:prstGeom>
          <a:effectLst>
            <a:outerShdw blurRad="1270000" dist="635000" dir="5400000" rotWithShape="0">
              <a:srgbClr val="000000">
                <a:alpha val="30000"/>
              </a:srgbClr>
            </a:outerShdw>
          </a:effectLst>
        </p:spPr>
        <p:txBody>
          <a:bodyPr lIns="0" tIns="0" rIns="0" bIns="0"/>
          <a:lstStyle>
            <a:lvl1pPr algn="ctr" defTabSz="1828636">
              <a:defRPr sz="19200" spc="-200">
                <a:solidFill>
                  <a:srgbClr val="22222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</a:lstStyle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8_Custom Layout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Rectangle 13"/>
          <p:cNvSpPr/>
          <p:nvPr/>
        </p:nvSpPr>
        <p:spPr>
          <a:xfrm>
            <a:off x="0" y="12582939"/>
            <a:ext cx="2007706" cy="1133059"/>
          </a:xfrm>
          <a:prstGeom prst="rect">
            <a:avLst/>
          </a:prstGeom>
          <a:solidFill>
            <a:srgbClr val="FE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182866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0F0F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68" name="TextBox 15"/>
          <p:cNvSpPr txBox="1"/>
          <p:nvPr/>
        </p:nvSpPr>
        <p:spPr>
          <a:xfrm rot="16200000">
            <a:off x="463064" y="780800"/>
            <a:ext cx="1020908" cy="462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defTabSz="1828660">
              <a:lnSpc>
                <a:spcPct val="100000"/>
              </a:lnSpc>
              <a:spcBef>
                <a:spcPts val="0"/>
              </a:spcBef>
              <a:defRPr sz="1800" b="1">
                <a:solidFill>
                  <a:srgbClr val="22222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t>voodoo</a:t>
            </a:r>
          </a:p>
        </p:txBody>
      </p:sp>
      <p:sp>
        <p:nvSpPr>
          <p:cNvPr id="269" name="Straight Connector 17"/>
          <p:cNvSpPr/>
          <p:nvPr/>
        </p:nvSpPr>
        <p:spPr>
          <a:xfrm>
            <a:off x="630733" y="6778487"/>
            <a:ext cx="804205" cy="1"/>
          </a:xfrm>
          <a:prstGeom prst="line">
            <a:avLst/>
          </a:prstGeom>
          <a:ln w="38100">
            <a:solidFill>
              <a:srgbClr val="222222"/>
            </a:solidFill>
            <a:miter/>
          </a:ln>
        </p:spPr>
        <p:txBody>
          <a:bodyPr tIns="91439" bIns="91439"/>
          <a:lstStyle/>
          <a:p>
            <a:pPr defTabSz="182866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22222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70" name="Straight Connector 18"/>
          <p:cNvSpPr/>
          <p:nvPr/>
        </p:nvSpPr>
        <p:spPr>
          <a:xfrm>
            <a:off x="630733" y="6937513"/>
            <a:ext cx="402103" cy="1"/>
          </a:xfrm>
          <a:prstGeom prst="line">
            <a:avLst/>
          </a:prstGeom>
          <a:ln w="38100">
            <a:solidFill>
              <a:srgbClr val="222222"/>
            </a:solidFill>
            <a:miter/>
          </a:ln>
        </p:spPr>
        <p:txBody>
          <a:bodyPr tIns="91439" bIns="91439"/>
          <a:lstStyle/>
          <a:p>
            <a:pPr defTabSz="182866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22222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7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93051" y="12905490"/>
            <a:ext cx="421602" cy="424181"/>
          </a:xfrm>
          <a:prstGeom prst="rect">
            <a:avLst/>
          </a:prstGeom>
        </p:spPr>
        <p:txBody>
          <a:bodyPr lIns="91439" tIns="91439" rIns="91439" bIns="91439" anchor="ctr"/>
          <a:lstStyle>
            <a:lvl1pPr defTabSz="1828660">
              <a:defRPr sz="1600" b="1">
                <a:solidFill>
                  <a:srgbClr val="222222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272" name="Title Text"/>
          <p:cNvSpPr txBox="1">
            <a:spLocks noGrp="1"/>
          </p:cNvSpPr>
          <p:nvPr>
            <p:ph type="title"/>
          </p:nvPr>
        </p:nvSpPr>
        <p:spPr>
          <a:xfrm>
            <a:off x="4057650" y="1893404"/>
            <a:ext cx="6179169" cy="4005951"/>
          </a:xfrm>
          <a:prstGeom prst="rect">
            <a:avLst/>
          </a:prstGeom>
        </p:spPr>
        <p:txBody>
          <a:bodyPr lIns="0" tIns="0" rIns="0" bIns="0"/>
          <a:lstStyle>
            <a:lvl1pPr defTabSz="1828636">
              <a:defRPr sz="7200" spc="-200">
                <a:solidFill>
                  <a:srgbClr val="222222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r>
              <a:t>Title Text</a:t>
            </a:r>
          </a:p>
        </p:txBody>
      </p:sp>
      <p:sp>
        <p:nvSpPr>
          <p:cNvPr id="273" name="Picture Placeholder 8"/>
          <p:cNvSpPr>
            <a:spLocks noGrp="1"/>
          </p:cNvSpPr>
          <p:nvPr>
            <p:ph type="pic" sz="quarter" idx="21"/>
          </p:nvPr>
        </p:nvSpPr>
        <p:spPr>
          <a:xfrm>
            <a:off x="10648101" y="2251075"/>
            <a:ext cx="5643133" cy="639241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74" name="Picture Placeholder 8"/>
          <p:cNvSpPr>
            <a:spLocks noGrp="1"/>
          </p:cNvSpPr>
          <p:nvPr>
            <p:ph type="pic" sz="quarter" idx="22"/>
          </p:nvPr>
        </p:nvSpPr>
        <p:spPr>
          <a:xfrm>
            <a:off x="16702518" y="2238422"/>
            <a:ext cx="5643133" cy="640506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7_Custom Layout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Rectangle 13"/>
          <p:cNvSpPr/>
          <p:nvPr/>
        </p:nvSpPr>
        <p:spPr>
          <a:xfrm>
            <a:off x="22363042" y="12582939"/>
            <a:ext cx="2007707" cy="1133059"/>
          </a:xfrm>
          <a:prstGeom prst="rect">
            <a:avLst/>
          </a:prstGeom>
          <a:solidFill>
            <a:srgbClr val="FE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182866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0F0F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82" name="TextBox 15"/>
          <p:cNvSpPr txBox="1"/>
          <p:nvPr/>
        </p:nvSpPr>
        <p:spPr>
          <a:xfrm rot="16200000">
            <a:off x="22826105" y="780800"/>
            <a:ext cx="1020908" cy="462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defTabSz="1828660">
              <a:lnSpc>
                <a:spcPct val="100000"/>
              </a:lnSpc>
              <a:spcBef>
                <a:spcPts val="0"/>
              </a:spcBef>
              <a:defRPr sz="1800" b="1">
                <a:solidFill>
                  <a:srgbClr val="22222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t>voodoo</a:t>
            </a:r>
          </a:p>
        </p:txBody>
      </p:sp>
      <p:sp>
        <p:nvSpPr>
          <p:cNvPr id="283" name="Straight Connector 17"/>
          <p:cNvSpPr/>
          <p:nvPr/>
        </p:nvSpPr>
        <p:spPr>
          <a:xfrm>
            <a:off x="22993776" y="6778487"/>
            <a:ext cx="804205" cy="1"/>
          </a:xfrm>
          <a:prstGeom prst="line">
            <a:avLst/>
          </a:prstGeom>
          <a:ln w="38100">
            <a:solidFill>
              <a:srgbClr val="222222"/>
            </a:solidFill>
            <a:miter/>
          </a:ln>
        </p:spPr>
        <p:txBody>
          <a:bodyPr tIns="91439" bIns="91439"/>
          <a:lstStyle/>
          <a:p>
            <a:pPr defTabSz="182866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22222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84" name="Straight Connector 18"/>
          <p:cNvSpPr/>
          <p:nvPr/>
        </p:nvSpPr>
        <p:spPr>
          <a:xfrm>
            <a:off x="23395877" y="6937513"/>
            <a:ext cx="402103" cy="1"/>
          </a:xfrm>
          <a:prstGeom prst="line">
            <a:avLst/>
          </a:prstGeom>
          <a:ln w="38100">
            <a:solidFill>
              <a:srgbClr val="222222"/>
            </a:solidFill>
            <a:miter/>
          </a:ln>
        </p:spPr>
        <p:txBody>
          <a:bodyPr tIns="91439" bIns="91439"/>
          <a:lstStyle/>
          <a:p>
            <a:pPr defTabSz="182866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22222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8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156094" y="12905490"/>
            <a:ext cx="421601" cy="424181"/>
          </a:xfrm>
          <a:prstGeom prst="rect">
            <a:avLst/>
          </a:prstGeom>
        </p:spPr>
        <p:txBody>
          <a:bodyPr lIns="91439" tIns="91439" rIns="91439" bIns="91439" anchor="ctr"/>
          <a:lstStyle>
            <a:lvl1pPr defTabSz="1828660">
              <a:defRPr sz="1600" b="1">
                <a:solidFill>
                  <a:srgbClr val="222222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286" name="Picture Placeholder 8"/>
          <p:cNvSpPr>
            <a:spLocks noGrp="1"/>
          </p:cNvSpPr>
          <p:nvPr>
            <p:ph type="pic" idx="21"/>
          </p:nvPr>
        </p:nvSpPr>
        <p:spPr>
          <a:xfrm>
            <a:off x="2032000" y="0"/>
            <a:ext cx="22352000" cy="804672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6_Custom Layout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Rectangle 13"/>
          <p:cNvSpPr/>
          <p:nvPr/>
        </p:nvSpPr>
        <p:spPr>
          <a:xfrm>
            <a:off x="0" y="12582939"/>
            <a:ext cx="2007706" cy="1133059"/>
          </a:xfrm>
          <a:prstGeom prst="rect">
            <a:avLst/>
          </a:prstGeom>
          <a:solidFill>
            <a:srgbClr val="FE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182866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0F0F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94" name="TextBox 15"/>
          <p:cNvSpPr txBox="1"/>
          <p:nvPr/>
        </p:nvSpPr>
        <p:spPr>
          <a:xfrm rot="16200000">
            <a:off x="463064" y="780800"/>
            <a:ext cx="1020908" cy="462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defTabSz="1828660">
              <a:lnSpc>
                <a:spcPct val="100000"/>
              </a:lnSpc>
              <a:spcBef>
                <a:spcPts val="0"/>
              </a:spcBef>
              <a:defRPr sz="1800" b="1">
                <a:solidFill>
                  <a:srgbClr val="22222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t>voodoo</a:t>
            </a:r>
          </a:p>
        </p:txBody>
      </p:sp>
      <p:sp>
        <p:nvSpPr>
          <p:cNvPr id="295" name="Straight Connector 17"/>
          <p:cNvSpPr/>
          <p:nvPr/>
        </p:nvSpPr>
        <p:spPr>
          <a:xfrm>
            <a:off x="630733" y="6778487"/>
            <a:ext cx="804205" cy="1"/>
          </a:xfrm>
          <a:prstGeom prst="line">
            <a:avLst/>
          </a:prstGeom>
          <a:ln w="38100">
            <a:solidFill>
              <a:srgbClr val="222222"/>
            </a:solidFill>
            <a:miter/>
          </a:ln>
        </p:spPr>
        <p:txBody>
          <a:bodyPr tIns="91439" bIns="91439"/>
          <a:lstStyle/>
          <a:p>
            <a:pPr defTabSz="182866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22222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96" name="Straight Connector 18"/>
          <p:cNvSpPr/>
          <p:nvPr/>
        </p:nvSpPr>
        <p:spPr>
          <a:xfrm>
            <a:off x="630733" y="6937513"/>
            <a:ext cx="402103" cy="1"/>
          </a:xfrm>
          <a:prstGeom prst="line">
            <a:avLst/>
          </a:prstGeom>
          <a:ln w="38100">
            <a:solidFill>
              <a:srgbClr val="222222"/>
            </a:solidFill>
            <a:miter/>
          </a:ln>
        </p:spPr>
        <p:txBody>
          <a:bodyPr tIns="91439" bIns="91439"/>
          <a:lstStyle/>
          <a:p>
            <a:pPr defTabSz="182866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22222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9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93051" y="12905490"/>
            <a:ext cx="421602" cy="424181"/>
          </a:xfrm>
          <a:prstGeom prst="rect">
            <a:avLst/>
          </a:prstGeom>
        </p:spPr>
        <p:txBody>
          <a:bodyPr lIns="91439" tIns="91439" rIns="91439" bIns="91439" anchor="ctr"/>
          <a:lstStyle>
            <a:lvl1pPr defTabSz="1828660">
              <a:defRPr sz="1600" b="1">
                <a:solidFill>
                  <a:srgbClr val="222222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298" name="Picture Placeholder 8"/>
          <p:cNvSpPr>
            <a:spLocks noGrp="1"/>
          </p:cNvSpPr>
          <p:nvPr>
            <p:ph type="pic" sz="half" idx="21"/>
          </p:nvPr>
        </p:nvSpPr>
        <p:spPr>
          <a:xfrm>
            <a:off x="2032000" y="0"/>
            <a:ext cx="8128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2_Custom Layout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Rectangle 13"/>
          <p:cNvSpPr/>
          <p:nvPr/>
        </p:nvSpPr>
        <p:spPr>
          <a:xfrm>
            <a:off x="0" y="12582939"/>
            <a:ext cx="2007706" cy="1133059"/>
          </a:xfrm>
          <a:prstGeom prst="rect">
            <a:avLst/>
          </a:prstGeom>
          <a:solidFill>
            <a:srgbClr val="FE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182866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0F0F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306" name="TextBox 15"/>
          <p:cNvSpPr txBox="1"/>
          <p:nvPr/>
        </p:nvSpPr>
        <p:spPr>
          <a:xfrm rot="16200000">
            <a:off x="463064" y="780800"/>
            <a:ext cx="1020908" cy="462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defTabSz="1828660">
              <a:lnSpc>
                <a:spcPct val="100000"/>
              </a:lnSpc>
              <a:spcBef>
                <a:spcPts val="0"/>
              </a:spcBef>
              <a:defRPr sz="1800" b="1">
                <a:solidFill>
                  <a:srgbClr val="22222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t>voodoo</a:t>
            </a:r>
          </a:p>
        </p:txBody>
      </p:sp>
      <p:sp>
        <p:nvSpPr>
          <p:cNvPr id="307" name="Straight Connector 17"/>
          <p:cNvSpPr/>
          <p:nvPr/>
        </p:nvSpPr>
        <p:spPr>
          <a:xfrm>
            <a:off x="630733" y="6778487"/>
            <a:ext cx="804205" cy="1"/>
          </a:xfrm>
          <a:prstGeom prst="line">
            <a:avLst/>
          </a:prstGeom>
          <a:ln w="38100">
            <a:solidFill>
              <a:srgbClr val="222222"/>
            </a:solidFill>
            <a:miter/>
          </a:ln>
        </p:spPr>
        <p:txBody>
          <a:bodyPr tIns="91439" bIns="91439"/>
          <a:lstStyle/>
          <a:p>
            <a:pPr defTabSz="182866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22222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308" name="Straight Connector 18"/>
          <p:cNvSpPr/>
          <p:nvPr/>
        </p:nvSpPr>
        <p:spPr>
          <a:xfrm>
            <a:off x="630733" y="6937513"/>
            <a:ext cx="402103" cy="1"/>
          </a:xfrm>
          <a:prstGeom prst="line">
            <a:avLst/>
          </a:prstGeom>
          <a:ln w="38100">
            <a:solidFill>
              <a:srgbClr val="222222"/>
            </a:solidFill>
            <a:miter/>
          </a:ln>
        </p:spPr>
        <p:txBody>
          <a:bodyPr tIns="91439" bIns="91439"/>
          <a:lstStyle/>
          <a:p>
            <a:pPr defTabSz="182866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22222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30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93051" y="12905490"/>
            <a:ext cx="421602" cy="424181"/>
          </a:xfrm>
          <a:prstGeom prst="rect">
            <a:avLst/>
          </a:prstGeom>
        </p:spPr>
        <p:txBody>
          <a:bodyPr lIns="91439" tIns="91439" rIns="91439" bIns="91439" anchor="ctr"/>
          <a:lstStyle>
            <a:lvl1pPr defTabSz="1828660">
              <a:defRPr sz="1600" b="1">
                <a:solidFill>
                  <a:srgbClr val="222222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10" name="Picture Placeholder 8"/>
          <p:cNvSpPr>
            <a:spLocks noGrp="1"/>
          </p:cNvSpPr>
          <p:nvPr>
            <p:ph type="pic" idx="21"/>
          </p:nvPr>
        </p:nvSpPr>
        <p:spPr>
          <a:xfrm>
            <a:off x="2032000" y="0"/>
            <a:ext cx="22352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5_Custom Layout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Rectangle 13"/>
          <p:cNvSpPr/>
          <p:nvPr/>
        </p:nvSpPr>
        <p:spPr>
          <a:xfrm>
            <a:off x="22363042" y="12582939"/>
            <a:ext cx="2007707" cy="1133059"/>
          </a:xfrm>
          <a:prstGeom prst="rect">
            <a:avLst/>
          </a:prstGeom>
          <a:solidFill>
            <a:srgbClr val="FE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182866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0F0F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318" name="TextBox 15"/>
          <p:cNvSpPr txBox="1"/>
          <p:nvPr/>
        </p:nvSpPr>
        <p:spPr>
          <a:xfrm rot="16200000">
            <a:off x="22826105" y="780800"/>
            <a:ext cx="1020908" cy="462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defTabSz="1828660">
              <a:lnSpc>
                <a:spcPct val="100000"/>
              </a:lnSpc>
              <a:spcBef>
                <a:spcPts val="0"/>
              </a:spcBef>
              <a:defRPr sz="1800" b="1">
                <a:solidFill>
                  <a:srgbClr val="22222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t>voodoo</a:t>
            </a:r>
          </a:p>
        </p:txBody>
      </p:sp>
      <p:sp>
        <p:nvSpPr>
          <p:cNvPr id="319" name="Straight Connector 17"/>
          <p:cNvSpPr/>
          <p:nvPr/>
        </p:nvSpPr>
        <p:spPr>
          <a:xfrm>
            <a:off x="22993776" y="6778487"/>
            <a:ext cx="804205" cy="1"/>
          </a:xfrm>
          <a:prstGeom prst="line">
            <a:avLst/>
          </a:prstGeom>
          <a:ln w="38100">
            <a:solidFill>
              <a:srgbClr val="222222"/>
            </a:solidFill>
            <a:miter/>
          </a:ln>
        </p:spPr>
        <p:txBody>
          <a:bodyPr tIns="91439" bIns="91439"/>
          <a:lstStyle/>
          <a:p>
            <a:pPr defTabSz="182866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22222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320" name="Straight Connector 18"/>
          <p:cNvSpPr/>
          <p:nvPr/>
        </p:nvSpPr>
        <p:spPr>
          <a:xfrm>
            <a:off x="23395877" y="6937513"/>
            <a:ext cx="402103" cy="1"/>
          </a:xfrm>
          <a:prstGeom prst="line">
            <a:avLst/>
          </a:prstGeom>
          <a:ln w="38100">
            <a:solidFill>
              <a:srgbClr val="222222"/>
            </a:solidFill>
            <a:miter/>
          </a:ln>
        </p:spPr>
        <p:txBody>
          <a:bodyPr tIns="91439" bIns="91439"/>
          <a:lstStyle/>
          <a:p>
            <a:pPr defTabSz="182866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22222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32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156094" y="12905490"/>
            <a:ext cx="421601" cy="424181"/>
          </a:xfrm>
          <a:prstGeom prst="rect">
            <a:avLst/>
          </a:prstGeom>
        </p:spPr>
        <p:txBody>
          <a:bodyPr lIns="91439" tIns="91439" rIns="91439" bIns="91439" anchor="ctr"/>
          <a:lstStyle>
            <a:lvl1pPr defTabSz="1828660">
              <a:defRPr sz="1600" b="1">
                <a:solidFill>
                  <a:srgbClr val="222222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38725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0394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76" r:id="rId27"/>
    <p:sldLayoutId id="2147483677" r:id="rId28"/>
    <p:sldLayoutId id="2147483678" r:id="rId29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5612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hf sldNum="0" hdr="0" ftr="0" dt="0"/>
  <p:txStyles>
    <p:titleStyle>
      <a:lvl1pPr algn="ctr" defTabSz="1828800" rtl="0" eaLnBrk="1" latinLnBrk="0" hangingPunct="1"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00" indent="-685800" algn="l" defTabSz="1828800" rtl="0" eaLnBrk="1" latinLnBrk="0" hangingPunct="1">
        <a:spcBef>
          <a:spcPct val="20000"/>
        </a:spcBef>
        <a:buFont typeface="Arial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1pPr>
      <a:lvl2pPr marL="1485900" indent="-571500" algn="l" defTabSz="1828800" rtl="0" eaLnBrk="1" latinLnBrk="0" hangingPunct="1">
        <a:spcBef>
          <a:spcPct val="20000"/>
        </a:spcBef>
        <a:buFont typeface="Arial" pitchFamily="34" charset="0"/>
        <a:buChar char="–"/>
        <a:defRPr sz="56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spcBef>
          <a:spcPct val="20000"/>
        </a:spcBef>
        <a:buFont typeface="Arial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spcBef>
          <a:spcPct val="20000"/>
        </a:spcBef>
        <a:buFont typeface="Arial" pitchFamily="34" charset="0"/>
        <a:buChar char="–"/>
        <a:defRPr sz="40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spcBef>
          <a:spcPct val="20000"/>
        </a:spcBef>
        <a:buFont typeface="Arial" pitchFamily="34" charset="0"/>
        <a:buChar char="»"/>
        <a:defRPr sz="40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.png"/><Relationship Id="rId18" Type="http://schemas.openxmlformats.org/officeDocument/2006/relationships/image" Target="../media/image31.png"/><Relationship Id="rId26" Type="http://schemas.openxmlformats.org/officeDocument/2006/relationships/image" Target="../media/image39.png"/><Relationship Id="rId21" Type="http://schemas.openxmlformats.org/officeDocument/2006/relationships/image" Target="../media/image34.png"/><Relationship Id="rId34" Type="http://schemas.openxmlformats.org/officeDocument/2006/relationships/image" Target="../media/image47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5" Type="http://schemas.openxmlformats.org/officeDocument/2006/relationships/image" Target="../media/image38.png"/><Relationship Id="rId33" Type="http://schemas.openxmlformats.org/officeDocument/2006/relationships/image" Target="../media/image46.png"/><Relationship Id="rId2" Type="http://schemas.openxmlformats.org/officeDocument/2006/relationships/image" Target="../media/image15.png"/><Relationship Id="rId16" Type="http://schemas.openxmlformats.org/officeDocument/2006/relationships/image" Target="../media/image29.png"/><Relationship Id="rId20" Type="http://schemas.openxmlformats.org/officeDocument/2006/relationships/image" Target="../media/image33.png"/><Relationship Id="rId29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24" Type="http://schemas.openxmlformats.org/officeDocument/2006/relationships/image" Target="../media/image37.png"/><Relationship Id="rId32" Type="http://schemas.openxmlformats.org/officeDocument/2006/relationships/image" Target="../media/image45.png"/><Relationship Id="rId37" Type="http://schemas.openxmlformats.org/officeDocument/2006/relationships/image" Target="../media/image50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23" Type="http://schemas.openxmlformats.org/officeDocument/2006/relationships/image" Target="../media/image36.png"/><Relationship Id="rId28" Type="http://schemas.openxmlformats.org/officeDocument/2006/relationships/image" Target="../media/image41.png"/><Relationship Id="rId36" Type="http://schemas.openxmlformats.org/officeDocument/2006/relationships/image" Target="../media/image49.png"/><Relationship Id="rId10" Type="http://schemas.openxmlformats.org/officeDocument/2006/relationships/image" Target="../media/image23.png"/><Relationship Id="rId19" Type="http://schemas.openxmlformats.org/officeDocument/2006/relationships/image" Target="../media/image32.jpeg"/><Relationship Id="rId31" Type="http://schemas.openxmlformats.org/officeDocument/2006/relationships/image" Target="../media/image44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Relationship Id="rId22" Type="http://schemas.openxmlformats.org/officeDocument/2006/relationships/image" Target="../media/image35.png"/><Relationship Id="rId27" Type="http://schemas.openxmlformats.org/officeDocument/2006/relationships/image" Target="../media/image40.png"/><Relationship Id="rId30" Type="http://schemas.openxmlformats.org/officeDocument/2006/relationships/image" Target="../media/image43.png"/><Relationship Id="rId35" Type="http://schemas.openxmlformats.org/officeDocument/2006/relationships/image" Target="../media/image48.png"/><Relationship Id="rId8" Type="http://schemas.openxmlformats.org/officeDocument/2006/relationships/image" Target="../media/image21.png"/><Relationship Id="rId3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2" Type="http://schemas.openxmlformats.org/officeDocument/2006/relationships/image" Target="../media/image15.png"/><Relationship Id="rId16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5" Type="http://schemas.openxmlformats.org/officeDocument/2006/relationships/image" Target="../media/image6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0.svg"/><Relationship Id="rId18" Type="http://schemas.openxmlformats.org/officeDocument/2006/relationships/image" Target="../media/image85.svg"/><Relationship Id="rId26" Type="http://schemas.openxmlformats.org/officeDocument/2006/relationships/image" Target="../media/image93.png"/><Relationship Id="rId39" Type="http://schemas.openxmlformats.org/officeDocument/2006/relationships/image" Target="../media/image15.png"/><Relationship Id="rId21" Type="http://schemas.openxmlformats.org/officeDocument/2006/relationships/image" Target="../media/image88.svg"/><Relationship Id="rId34" Type="http://schemas.openxmlformats.org/officeDocument/2006/relationships/image" Target="../media/image101.svg"/><Relationship Id="rId7" Type="http://schemas.openxmlformats.org/officeDocument/2006/relationships/image" Target="../media/image74.svg"/><Relationship Id="rId12" Type="http://schemas.openxmlformats.org/officeDocument/2006/relationships/image" Target="../media/image79.svg"/><Relationship Id="rId17" Type="http://schemas.openxmlformats.org/officeDocument/2006/relationships/image" Target="../media/image84.svg"/><Relationship Id="rId25" Type="http://schemas.openxmlformats.org/officeDocument/2006/relationships/image" Target="../media/image92.jpeg"/><Relationship Id="rId33" Type="http://schemas.openxmlformats.org/officeDocument/2006/relationships/image" Target="../media/image100.svg"/><Relationship Id="rId38" Type="http://schemas.openxmlformats.org/officeDocument/2006/relationships/image" Target="../media/image105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83.svg"/><Relationship Id="rId20" Type="http://schemas.openxmlformats.org/officeDocument/2006/relationships/image" Target="../media/image87.svg"/><Relationship Id="rId29" Type="http://schemas.openxmlformats.org/officeDocument/2006/relationships/image" Target="../media/image96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73.svg"/><Relationship Id="rId11" Type="http://schemas.openxmlformats.org/officeDocument/2006/relationships/image" Target="../media/image78.svg"/><Relationship Id="rId24" Type="http://schemas.openxmlformats.org/officeDocument/2006/relationships/image" Target="../media/image91.svg"/><Relationship Id="rId32" Type="http://schemas.openxmlformats.org/officeDocument/2006/relationships/image" Target="../media/image99.svg"/><Relationship Id="rId37" Type="http://schemas.openxmlformats.org/officeDocument/2006/relationships/image" Target="../media/image104.svg"/><Relationship Id="rId5" Type="http://schemas.openxmlformats.org/officeDocument/2006/relationships/image" Target="../media/image72.svg"/><Relationship Id="rId15" Type="http://schemas.openxmlformats.org/officeDocument/2006/relationships/image" Target="../media/image82.svg"/><Relationship Id="rId23" Type="http://schemas.openxmlformats.org/officeDocument/2006/relationships/image" Target="../media/image90.svg"/><Relationship Id="rId28" Type="http://schemas.openxmlformats.org/officeDocument/2006/relationships/image" Target="../media/image95.png"/><Relationship Id="rId36" Type="http://schemas.openxmlformats.org/officeDocument/2006/relationships/image" Target="../media/image103.svg"/><Relationship Id="rId10" Type="http://schemas.openxmlformats.org/officeDocument/2006/relationships/image" Target="../media/image77.svg"/><Relationship Id="rId19" Type="http://schemas.openxmlformats.org/officeDocument/2006/relationships/image" Target="../media/image86.svg"/><Relationship Id="rId31" Type="http://schemas.openxmlformats.org/officeDocument/2006/relationships/image" Target="../media/image98.png"/><Relationship Id="rId4" Type="http://schemas.openxmlformats.org/officeDocument/2006/relationships/image" Target="../media/image71.svg"/><Relationship Id="rId9" Type="http://schemas.openxmlformats.org/officeDocument/2006/relationships/image" Target="../media/image76.svg"/><Relationship Id="rId14" Type="http://schemas.openxmlformats.org/officeDocument/2006/relationships/image" Target="../media/image81.svg"/><Relationship Id="rId22" Type="http://schemas.openxmlformats.org/officeDocument/2006/relationships/image" Target="../media/image89.svg"/><Relationship Id="rId27" Type="http://schemas.openxmlformats.org/officeDocument/2006/relationships/image" Target="../media/image94.png"/><Relationship Id="rId30" Type="http://schemas.openxmlformats.org/officeDocument/2006/relationships/image" Target="../media/image97.png"/><Relationship Id="rId35" Type="http://schemas.openxmlformats.org/officeDocument/2006/relationships/image" Target="../media/image102.svg"/><Relationship Id="rId8" Type="http://schemas.openxmlformats.org/officeDocument/2006/relationships/image" Target="../media/image75.svg"/><Relationship Id="rId3" Type="http://schemas.openxmlformats.org/officeDocument/2006/relationships/image" Target="../media/image70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13" Type="http://schemas.openxmlformats.org/officeDocument/2006/relationships/image" Target="../media/image15.png"/><Relationship Id="rId3" Type="http://schemas.openxmlformats.org/officeDocument/2006/relationships/image" Target="../media/image107.png"/><Relationship Id="rId7" Type="http://schemas.openxmlformats.org/officeDocument/2006/relationships/image" Target="../media/image111.png"/><Relationship Id="rId12" Type="http://schemas.openxmlformats.org/officeDocument/2006/relationships/image" Target="../media/image116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11" Type="http://schemas.openxmlformats.org/officeDocument/2006/relationships/image" Target="../media/image115.png"/><Relationship Id="rId5" Type="http://schemas.openxmlformats.org/officeDocument/2006/relationships/image" Target="../media/image109.png"/><Relationship Id="rId15" Type="http://schemas.openxmlformats.org/officeDocument/2006/relationships/image" Target="../media/image118.png"/><Relationship Id="rId10" Type="http://schemas.openxmlformats.org/officeDocument/2006/relationships/image" Target="../media/image114.png"/><Relationship Id="rId4" Type="http://schemas.openxmlformats.org/officeDocument/2006/relationships/image" Target="../media/image108.png"/><Relationship Id="rId9" Type="http://schemas.openxmlformats.org/officeDocument/2006/relationships/image" Target="../media/image113.png"/><Relationship Id="rId14" Type="http://schemas.openxmlformats.org/officeDocument/2006/relationships/image" Target="../media/image1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info@airviewx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The Enterprise Swiss-Knife for automation, orchestration, and agentic AI"/>
          <p:cNvSpPr txBox="1"/>
          <p:nvPr/>
        </p:nvSpPr>
        <p:spPr>
          <a:xfrm>
            <a:off x="1241654" y="4377283"/>
            <a:ext cx="10946823" cy="25091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>
            <a:lvl1pPr defTabSz="1828636">
              <a:lnSpc>
                <a:spcPct val="80000"/>
              </a:lnSpc>
              <a:spcBef>
                <a:spcPts val="0"/>
              </a:spcBef>
              <a:defRPr sz="6500" b="1" spc="-180">
                <a:solidFill>
                  <a:srgbClr val="222222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r>
              <a:rPr lang="en-US" b="0" dirty="0"/>
              <a:t>The Agentic Framework for Operations</a:t>
            </a:r>
          </a:p>
          <a:p>
            <a:r>
              <a:rPr lang="en-US" b="0" dirty="0"/>
              <a:t>That </a:t>
            </a:r>
            <a:r>
              <a:rPr lang="en-US" b="0" i="1" dirty="0">
                <a:solidFill>
                  <a:srgbClr val="EA7723"/>
                </a:solidFill>
              </a:rPr>
              <a:t>Can't Fail.</a:t>
            </a:r>
            <a:endParaRPr lang="en-US" b="0" dirty="0">
              <a:solidFill>
                <a:srgbClr val="EA7723"/>
              </a:solidFill>
            </a:endParaRPr>
          </a:p>
        </p:txBody>
      </p:sp>
      <p:sp>
        <p:nvSpPr>
          <p:cNvPr id="337" name="Build faster, operate smarter, and scale effortlessly with agentic AI at the core"/>
          <p:cNvSpPr txBox="1"/>
          <p:nvPr/>
        </p:nvSpPr>
        <p:spPr>
          <a:xfrm>
            <a:off x="1241654" y="7366229"/>
            <a:ext cx="9133927" cy="23546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>
            <a:lvl1pPr defTabSz="1828660">
              <a:lnSpc>
                <a:spcPct val="100000"/>
              </a:lnSpc>
              <a:spcBef>
                <a:spcPts val="2000"/>
              </a:spcBef>
              <a:defRPr sz="2800" b="1">
                <a:solidFill>
                  <a:srgbClr val="22222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>
              <a:lnSpc>
                <a:spcPct val="140000"/>
              </a:lnSpc>
            </a:pPr>
            <a:r>
              <a:rPr lang="en-US" sz="36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Build, deploy, and govern autonomous enterprise agents on a unified execution runtime</a:t>
            </a:r>
          </a:p>
        </p:txBody>
      </p:sp>
      <p:grpSp>
        <p:nvGrpSpPr>
          <p:cNvPr id="350" name="Group"/>
          <p:cNvGrpSpPr/>
          <p:nvPr/>
        </p:nvGrpSpPr>
        <p:grpSpPr>
          <a:xfrm>
            <a:off x="-58709" y="12555266"/>
            <a:ext cx="24442709" cy="1203564"/>
            <a:chOff x="-5626649" y="0"/>
            <a:chExt cx="24442708" cy="1203563"/>
          </a:xfrm>
        </p:grpSpPr>
        <p:sp>
          <p:nvSpPr>
            <p:cNvPr id="338" name="Rounded Rectangle 9"/>
            <p:cNvSpPr/>
            <p:nvPr/>
          </p:nvSpPr>
          <p:spPr>
            <a:xfrm>
              <a:off x="-5574986" y="0"/>
              <a:ext cx="24391046" cy="1170474"/>
            </a:xfrm>
            <a:prstGeom prst="roundRect">
              <a:avLst>
                <a:gd name="adj" fmla="val 0"/>
              </a:avLst>
            </a:prstGeom>
            <a:solidFill>
              <a:srgbClr val="FEFFFF"/>
            </a:solidFill>
            <a:ln w="12700" cap="flat">
              <a:noFill/>
              <a:miter lim="400000"/>
            </a:ln>
            <a:effectLst>
              <a:outerShdw blurRad="1270000" dist="508000" dir="5400000" rotWithShape="0">
                <a:srgbClr val="000000">
                  <a:alpha val="3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 defTabSz="182866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0F0F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39" name="Straight Connector 17"/>
            <p:cNvSpPr/>
            <p:nvPr/>
          </p:nvSpPr>
          <p:spPr>
            <a:xfrm>
              <a:off x="-5626650" y="28106"/>
              <a:ext cx="24439879" cy="1"/>
            </a:xfrm>
            <a:prstGeom prst="line">
              <a:avLst/>
            </a:prstGeom>
            <a:noFill/>
            <a:ln w="76200" cap="flat">
              <a:solidFill>
                <a:srgbClr val="222222"/>
              </a:solidFill>
              <a:prstDash val="solid"/>
              <a:miter lim="800000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defTabSz="182866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222222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40" name="TextBox 27"/>
            <p:cNvSpPr txBox="1"/>
            <p:nvPr/>
          </p:nvSpPr>
          <p:spPr>
            <a:xfrm>
              <a:off x="382473" y="413786"/>
              <a:ext cx="2281214" cy="342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defTabSz="1828660">
                <a:lnSpc>
                  <a:spcPct val="130000"/>
                </a:lnSpc>
                <a:spcBef>
                  <a:spcPts val="2000"/>
                </a:spcBef>
                <a:defRPr sz="2000" b="1">
                  <a:solidFill>
                    <a:srgbClr val="222222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t>Unified Agentic AI</a:t>
              </a:r>
            </a:p>
          </p:txBody>
        </p:sp>
        <p:sp>
          <p:nvSpPr>
            <p:cNvPr id="341" name="TextBox 27"/>
            <p:cNvSpPr txBox="1"/>
            <p:nvPr/>
          </p:nvSpPr>
          <p:spPr>
            <a:xfrm>
              <a:off x="4120468" y="413786"/>
              <a:ext cx="2711451" cy="342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defTabSz="1828660">
                <a:lnSpc>
                  <a:spcPct val="130000"/>
                </a:lnSpc>
                <a:spcBef>
                  <a:spcPts val="2000"/>
                </a:spcBef>
                <a:defRPr sz="2000" b="1">
                  <a:solidFill>
                    <a:srgbClr val="222222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t>Composable Modules</a:t>
              </a:r>
            </a:p>
          </p:txBody>
        </p:sp>
        <p:sp>
          <p:nvSpPr>
            <p:cNvPr id="342" name="TextBox 27"/>
            <p:cNvSpPr txBox="1"/>
            <p:nvPr/>
          </p:nvSpPr>
          <p:spPr>
            <a:xfrm>
              <a:off x="7870238" y="413786"/>
              <a:ext cx="3075584" cy="342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defTabSz="1828660">
                <a:lnSpc>
                  <a:spcPct val="130000"/>
                </a:lnSpc>
                <a:spcBef>
                  <a:spcPts val="2000"/>
                </a:spcBef>
                <a:defRPr sz="2000" b="1">
                  <a:solidFill>
                    <a:srgbClr val="222222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t>Low-Code Orchestration</a:t>
              </a:r>
            </a:p>
          </p:txBody>
        </p:sp>
        <p:grpSp>
          <p:nvGrpSpPr>
            <p:cNvPr id="347" name="Group"/>
            <p:cNvGrpSpPr/>
            <p:nvPr/>
          </p:nvGrpSpPr>
          <p:grpSpPr>
            <a:xfrm>
              <a:off x="3751243" y="9185"/>
              <a:ext cx="11244810" cy="1194379"/>
              <a:chOff x="0" y="0"/>
              <a:chExt cx="11244809" cy="1194377"/>
            </a:xfrm>
          </p:grpSpPr>
          <p:sp>
            <p:nvSpPr>
              <p:cNvPr id="343" name="Straight Connector 14"/>
              <p:cNvSpPr/>
              <p:nvPr/>
            </p:nvSpPr>
            <p:spPr>
              <a:xfrm flipH="1">
                <a:off x="-1" y="0"/>
                <a:ext cx="2" cy="1194378"/>
              </a:xfrm>
              <a:prstGeom prst="line">
                <a:avLst/>
              </a:prstGeom>
              <a:noFill/>
              <a:ln w="12700" cap="flat">
                <a:solidFill>
                  <a:srgbClr val="222222">
                    <a:alpha val="20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defTabSz="1828660">
                  <a:lnSpc>
                    <a:spcPct val="100000"/>
                  </a:lnSpc>
                  <a:spcBef>
                    <a:spcPts val="0"/>
                  </a:spcBef>
                  <a:defRPr sz="3600">
                    <a:solidFill>
                      <a:srgbClr val="222222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344" name="Straight Connector 14"/>
              <p:cNvSpPr/>
              <p:nvPr/>
            </p:nvSpPr>
            <p:spPr>
              <a:xfrm>
                <a:off x="3737995" y="0"/>
                <a:ext cx="1" cy="1194378"/>
              </a:xfrm>
              <a:prstGeom prst="line">
                <a:avLst/>
              </a:prstGeom>
              <a:noFill/>
              <a:ln w="12700" cap="flat">
                <a:solidFill>
                  <a:srgbClr val="222222">
                    <a:alpha val="20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defTabSz="1828660">
                  <a:lnSpc>
                    <a:spcPct val="100000"/>
                  </a:lnSpc>
                  <a:spcBef>
                    <a:spcPts val="0"/>
                  </a:spcBef>
                  <a:defRPr sz="3600">
                    <a:solidFill>
                      <a:srgbClr val="222222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345" name="Straight Connector 14"/>
              <p:cNvSpPr/>
              <p:nvPr/>
            </p:nvSpPr>
            <p:spPr>
              <a:xfrm>
                <a:off x="7487764" y="0"/>
                <a:ext cx="1" cy="1194378"/>
              </a:xfrm>
              <a:prstGeom prst="line">
                <a:avLst/>
              </a:prstGeom>
              <a:noFill/>
              <a:ln w="12700" cap="flat">
                <a:solidFill>
                  <a:srgbClr val="222222">
                    <a:alpha val="20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defTabSz="1828660">
                  <a:lnSpc>
                    <a:spcPct val="100000"/>
                  </a:lnSpc>
                  <a:spcBef>
                    <a:spcPts val="0"/>
                  </a:spcBef>
                  <a:defRPr sz="3600">
                    <a:solidFill>
                      <a:srgbClr val="222222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346" name="Straight Connector 14"/>
              <p:cNvSpPr/>
              <p:nvPr/>
            </p:nvSpPr>
            <p:spPr>
              <a:xfrm>
                <a:off x="11244809" y="0"/>
                <a:ext cx="1" cy="1194378"/>
              </a:xfrm>
              <a:prstGeom prst="line">
                <a:avLst/>
              </a:prstGeom>
              <a:noFill/>
              <a:ln w="12700" cap="flat">
                <a:solidFill>
                  <a:srgbClr val="222222">
                    <a:alpha val="20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defTabSz="1828660">
                  <a:lnSpc>
                    <a:spcPct val="100000"/>
                  </a:lnSpc>
                  <a:spcBef>
                    <a:spcPts val="0"/>
                  </a:spcBef>
                  <a:defRPr sz="3600">
                    <a:solidFill>
                      <a:srgbClr val="222222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</p:grpSp>
        <p:sp>
          <p:nvSpPr>
            <p:cNvPr id="348" name="TextBox 27"/>
            <p:cNvSpPr txBox="1"/>
            <p:nvPr/>
          </p:nvSpPr>
          <p:spPr>
            <a:xfrm>
              <a:off x="11627282" y="413786"/>
              <a:ext cx="2829273" cy="342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defTabSz="1828660">
                <a:lnSpc>
                  <a:spcPct val="130000"/>
                </a:lnSpc>
                <a:spcBef>
                  <a:spcPts val="2000"/>
                </a:spcBef>
                <a:defRPr sz="2000" b="1">
                  <a:solidFill>
                    <a:srgbClr val="222222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t>Real-Team Data Fabric</a:t>
              </a:r>
            </a:p>
          </p:txBody>
        </p:sp>
        <p:sp>
          <p:nvSpPr>
            <p:cNvPr id="349" name="TextBox 27"/>
            <p:cNvSpPr txBox="1"/>
            <p:nvPr/>
          </p:nvSpPr>
          <p:spPr>
            <a:xfrm>
              <a:off x="15389752" y="413786"/>
              <a:ext cx="3054747" cy="342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defTabSz="1828660">
                <a:lnSpc>
                  <a:spcPct val="130000"/>
                </a:lnSpc>
                <a:spcBef>
                  <a:spcPts val="2000"/>
                </a:spcBef>
                <a:defRPr sz="2000" b="1">
                  <a:solidFill>
                    <a:srgbClr val="222222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t>Autonomous Workflows</a:t>
              </a:r>
            </a:p>
          </p:txBody>
        </p:sp>
      </p:grpSp>
      <p:sp>
        <p:nvSpPr>
          <p:cNvPr id="351" name="Rectangle"/>
          <p:cNvSpPr/>
          <p:nvPr/>
        </p:nvSpPr>
        <p:spPr>
          <a:xfrm>
            <a:off x="-61541" y="12555266"/>
            <a:ext cx="5579188" cy="1203564"/>
          </a:xfrm>
          <a:prstGeom prst="rect">
            <a:avLst/>
          </a:prstGeom>
          <a:solidFill>
            <a:srgbClr val="22222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352" name="The new business operation system (BOS)"/>
          <p:cNvSpPr txBox="1"/>
          <p:nvPr/>
        </p:nvSpPr>
        <p:spPr>
          <a:xfrm>
            <a:off x="624279" y="12731598"/>
            <a:ext cx="4330629" cy="825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defTabSz="1828660">
              <a:spcBef>
                <a:spcPts val="0"/>
              </a:spcBef>
              <a:defRPr sz="25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dirty="0"/>
              <a:t>The new business operation system (BOS)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6E19C05-929F-1AFE-455F-CC0A9C9E82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057178" y="4485378"/>
            <a:ext cx="9604211" cy="2401053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259919" y="608961"/>
            <a:ext cx="10875264" cy="90871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/>
          <a:p>
            <a:pPr defTabSz="1828636">
              <a:lnSpc>
                <a:spcPct val="80000"/>
              </a:lnSpc>
            </a:pPr>
            <a:r>
              <a:rPr lang="en-US" sz="6500" b="1" spc="-180" dirty="0">
                <a:solidFill>
                  <a:srgbClr val="222222"/>
                </a:solidFill>
                <a:latin typeface="Montserrat Bold"/>
              </a:rPr>
              <a:t>Company Profile</a:t>
            </a:r>
          </a:p>
        </p:txBody>
      </p:sp>
      <p:sp>
        <p:nvSpPr>
          <p:cNvPr id="8" name="Text 6"/>
          <p:cNvSpPr/>
          <p:nvPr/>
        </p:nvSpPr>
        <p:spPr>
          <a:xfrm>
            <a:off x="1463040" y="2560320"/>
            <a:ext cx="10241280" cy="3181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2438430" hangingPunct="1">
              <a:lnSpc>
                <a:spcPct val="130000"/>
              </a:lnSpc>
              <a:spcBef>
                <a:spcPts val="0"/>
              </a:spcBef>
            </a:pPr>
            <a:r>
              <a:rPr lang="en-US" sz="3600" kern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offer complete turnkey solutions &amp; services partner for digital transformation, specializing in consulting, IoT, network engineering, staff augmentation, and deployment services.</a:t>
            </a:r>
          </a:p>
        </p:txBody>
      </p:sp>
      <p:sp>
        <p:nvSpPr>
          <p:cNvPr id="9" name="Shape 7"/>
          <p:cNvSpPr/>
          <p:nvPr/>
        </p:nvSpPr>
        <p:spPr>
          <a:xfrm>
            <a:off x="1463040" y="6827520"/>
            <a:ext cx="10241280" cy="975360"/>
          </a:xfrm>
          <a:prstGeom prst="rect">
            <a:avLst/>
          </a:prstGeom>
          <a:solidFill>
            <a:schemeClr val="bg1">
              <a:lumMod val="50000"/>
              <a:alpha val="10000"/>
            </a:schemeClr>
          </a:solidFill>
          <a:ln/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US" kern="120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5648" y="6949440"/>
            <a:ext cx="633984" cy="6339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560320" y="6827520"/>
            <a:ext cx="87782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r>
              <a:rPr lang="en-US" sz="2667" b="1" kern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HQ in New York</a:t>
            </a:r>
            <a:endParaRPr lang="en-US" sz="2667" kern="12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463040" y="8290560"/>
            <a:ext cx="3291840" cy="1828800"/>
          </a:xfrm>
          <a:prstGeom prst="rect">
            <a:avLst/>
          </a:prstGeom>
          <a:solidFill>
            <a:srgbClr val="FEFFFF"/>
          </a:solidFill>
          <a:ln w="12700">
            <a:miter lim="400000"/>
          </a:ln>
          <a:effectLst>
            <a:outerShdw blurRad="1270000" dist="508000" dir="5400000" rotWithShape="0">
              <a:srgbClr val="000000">
                <a:alpha val="12991"/>
              </a:srgbClr>
            </a:outerShdw>
          </a:effectLst>
        </p:spPr>
        <p:txBody>
          <a:bodyPr lIns="0" tIns="0" rIns="0" bIns="0" anchor="b"/>
          <a:lstStyle/>
          <a:p>
            <a:pPr defTabSz="1828660">
              <a:lnSpc>
                <a:spcPct val="130000"/>
              </a:lnSpc>
              <a:spcBef>
                <a:spcPts val="1200"/>
              </a:spcBef>
            </a:pPr>
            <a:endParaRPr lang="en-US" sz="3600">
              <a:solidFill>
                <a:srgbClr val="F0F0F0"/>
              </a:solidFill>
              <a:latin typeface="Helvetica"/>
            </a:endParaRPr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8112" y="8656320"/>
            <a:ext cx="682752" cy="682752"/>
          </a:xfrm>
          <a:prstGeom prst="rect">
            <a:avLst/>
          </a:prstGeom>
          <a:ln>
            <a:noFill/>
          </a:ln>
        </p:spPr>
      </p:pic>
      <p:sp>
        <p:nvSpPr>
          <p:cNvPr id="14" name="Text 10"/>
          <p:cNvSpPr/>
          <p:nvPr/>
        </p:nvSpPr>
        <p:spPr>
          <a:xfrm>
            <a:off x="2438400" y="8412480"/>
            <a:ext cx="20726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r>
              <a:rPr lang="en-US" sz="3733" b="1" kern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Est. 2004</a:t>
            </a:r>
            <a:endParaRPr lang="en-US" sz="3733" kern="12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2438400" y="9265920"/>
            <a:ext cx="2072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r>
              <a:rPr lang="en-US" sz="2267" kern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Founded</a:t>
            </a:r>
          </a:p>
        </p:txBody>
      </p:sp>
      <p:sp>
        <p:nvSpPr>
          <p:cNvPr id="16" name="Shape 12"/>
          <p:cNvSpPr/>
          <p:nvPr/>
        </p:nvSpPr>
        <p:spPr>
          <a:xfrm>
            <a:off x="4949952" y="8290560"/>
            <a:ext cx="3291840" cy="1828800"/>
          </a:xfrm>
          <a:prstGeom prst="rect">
            <a:avLst/>
          </a:prstGeom>
          <a:solidFill>
            <a:srgbClr val="FEFFFF"/>
          </a:solidFill>
          <a:ln w="12700">
            <a:miter lim="400000"/>
          </a:ln>
          <a:effectLst>
            <a:outerShdw blurRad="1270000" dist="508000" dir="5400000" rotWithShape="0">
              <a:srgbClr val="000000">
                <a:alpha val="12991"/>
              </a:srgbClr>
            </a:outerShdw>
          </a:effectLst>
        </p:spPr>
        <p:txBody>
          <a:bodyPr lIns="0" tIns="0" rIns="0" bIns="0" anchor="b"/>
          <a:lstStyle/>
          <a:p>
            <a:pPr defTabSz="1828660">
              <a:lnSpc>
                <a:spcPct val="130000"/>
              </a:lnSpc>
              <a:spcBef>
                <a:spcPts val="1200"/>
              </a:spcBef>
            </a:pPr>
            <a:endParaRPr lang="en-US" sz="3600">
              <a:solidFill>
                <a:srgbClr val="F0F0F0"/>
              </a:solidFill>
              <a:latin typeface="Helvetica"/>
            </a:endParaRPr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5024" y="8656320"/>
            <a:ext cx="682752" cy="682752"/>
          </a:xfrm>
          <a:prstGeom prst="rect">
            <a:avLst/>
          </a:prstGeom>
          <a:ln>
            <a:noFill/>
          </a:ln>
        </p:spPr>
      </p:pic>
      <p:sp>
        <p:nvSpPr>
          <p:cNvPr id="18" name="Text 13"/>
          <p:cNvSpPr/>
          <p:nvPr/>
        </p:nvSpPr>
        <p:spPr>
          <a:xfrm>
            <a:off x="5925312" y="8412480"/>
            <a:ext cx="1121664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r>
              <a:rPr lang="en-US" sz="3733" b="1" kern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20+</a:t>
            </a:r>
            <a:endParaRPr lang="en-US" sz="3733" kern="12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5925312" y="9265920"/>
            <a:ext cx="2072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r>
              <a:rPr lang="en-US" sz="2267" kern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Years Exp.</a:t>
            </a:r>
          </a:p>
        </p:txBody>
      </p:sp>
      <p:sp>
        <p:nvSpPr>
          <p:cNvPr id="20" name="Shape 15"/>
          <p:cNvSpPr/>
          <p:nvPr/>
        </p:nvSpPr>
        <p:spPr>
          <a:xfrm>
            <a:off x="8436864" y="8290560"/>
            <a:ext cx="3291840" cy="1828800"/>
          </a:xfrm>
          <a:prstGeom prst="rect">
            <a:avLst/>
          </a:prstGeom>
          <a:solidFill>
            <a:srgbClr val="FEFFFF"/>
          </a:solidFill>
          <a:ln w="12700">
            <a:miter lim="400000"/>
          </a:ln>
          <a:effectLst>
            <a:outerShdw blurRad="1270000" dist="508000" dir="5400000" rotWithShape="0">
              <a:srgbClr val="000000">
                <a:alpha val="12991"/>
              </a:srgbClr>
            </a:outerShdw>
          </a:effectLst>
        </p:spPr>
        <p:txBody>
          <a:bodyPr lIns="0" tIns="0" rIns="0" bIns="0" anchor="b"/>
          <a:lstStyle/>
          <a:p>
            <a:pPr defTabSz="1828660">
              <a:lnSpc>
                <a:spcPct val="130000"/>
              </a:lnSpc>
              <a:spcBef>
                <a:spcPts val="1200"/>
              </a:spcBef>
            </a:pPr>
            <a:endParaRPr lang="en-US" sz="3600">
              <a:solidFill>
                <a:srgbClr val="F0F0F0"/>
              </a:solidFill>
              <a:latin typeface="Helvetica"/>
            </a:endParaRPr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1936" y="8656320"/>
            <a:ext cx="682752" cy="682752"/>
          </a:xfrm>
          <a:prstGeom prst="rect">
            <a:avLst/>
          </a:prstGeom>
          <a:ln>
            <a:noFill/>
          </a:ln>
        </p:spPr>
      </p:pic>
      <p:sp>
        <p:nvSpPr>
          <p:cNvPr id="22" name="Text 16"/>
          <p:cNvSpPr/>
          <p:nvPr/>
        </p:nvSpPr>
        <p:spPr>
          <a:xfrm>
            <a:off x="9412224" y="8412480"/>
            <a:ext cx="1121664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r>
              <a:rPr lang="en-US" sz="3733" b="1" kern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30+</a:t>
            </a:r>
            <a:endParaRPr lang="en-US" sz="3733" kern="12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9412224" y="9265920"/>
            <a:ext cx="2072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r>
              <a:rPr lang="en-US" sz="2267" kern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Major Clients</a:t>
            </a:r>
          </a:p>
        </p:txBody>
      </p:sp>
      <p:sp>
        <p:nvSpPr>
          <p:cNvPr id="24" name="Shape 18"/>
          <p:cNvSpPr/>
          <p:nvPr/>
        </p:nvSpPr>
        <p:spPr>
          <a:xfrm>
            <a:off x="1463040" y="10607040"/>
            <a:ext cx="10241280" cy="1414272"/>
          </a:xfrm>
          <a:prstGeom prst="rect">
            <a:avLst/>
          </a:prstGeom>
          <a:solidFill>
            <a:srgbClr val="FCF5EF"/>
          </a:solidFill>
          <a:ln w="6350">
            <a:noFill/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5648" y="10850880"/>
            <a:ext cx="731520" cy="731520"/>
          </a:xfrm>
          <a:prstGeom prst="rect">
            <a:avLst/>
          </a:prstGeom>
          <a:solidFill>
            <a:srgbClr val="FF6B35">
              <a:alpha val="75000"/>
            </a:srgbClr>
          </a:solidFill>
          <a:ln/>
        </p:spPr>
      </p:pic>
      <p:sp>
        <p:nvSpPr>
          <p:cNvPr id="26" name="Text 19"/>
          <p:cNvSpPr/>
          <p:nvPr/>
        </p:nvSpPr>
        <p:spPr>
          <a:xfrm>
            <a:off x="2779776" y="10875264"/>
            <a:ext cx="853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r>
              <a:rPr lang="en-US" sz="3067" b="1" kern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100% Quality Assurance</a:t>
            </a:r>
            <a:endParaRPr lang="en-US" sz="3067" kern="12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8" name="Shape 21"/>
          <p:cNvSpPr/>
          <p:nvPr/>
        </p:nvSpPr>
        <p:spPr>
          <a:xfrm>
            <a:off x="12557760" y="1219200"/>
            <a:ext cx="48768" cy="109728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US" kern="120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9" name="Text 22"/>
          <p:cNvSpPr/>
          <p:nvPr/>
        </p:nvSpPr>
        <p:spPr>
          <a:xfrm>
            <a:off x="13411200" y="853440"/>
            <a:ext cx="975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r>
              <a:rPr lang="en-US" sz="2667" b="1" spc="1067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SERVICES</a:t>
            </a:r>
            <a:endParaRPr lang="en-US" sz="2667" kern="1200" dirty="0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30" name="Shape 23"/>
          <p:cNvSpPr/>
          <p:nvPr/>
        </p:nvSpPr>
        <p:spPr>
          <a:xfrm>
            <a:off x="13411200" y="1901952"/>
            <a:ext cx="9753600" cy="1341120"/>
          </a:xfrm>
          <a:prstGeom prst="rect">
            <a:avLst/>
          </a:prstGeom>
          <a:solidFill>
            <a:schemeClr val="bg1">
              <a:lumMod val="50000"/>
              <a:alpha val="7000"/>
            </a:schemeClr>
          </a:solidFill>
          <a:ln/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US" kern="120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1" name="Shape 24"/>
          <p:cNvSpPr/>
          <p:nvPr/>
        </p:nvSpPr>
        <p:spPr>
          <a:xfrm>
            <a:off x="13655040" y="2048256"/>
            <a:ext cx="1048512" cy="1048512"/>
          </a:xfrm>
          <a:prstGeom prst="ellipse">
            <a:avLst/>
          </a:prstGeom>
          <a:solidFill>
            <a:srgbClr val="FF6B35">
              <a:alpha val="75000"/>
            </a:srgbClr>
          </a:solidFill>
          <a:ln/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US" kern="120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74496" y="2218944"/>
            <a:ext cx="609600" cy="6096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5118080" y="1950720"/>
            <a:ext cx="75590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r>
              <a:rPr lang="en-US" sz="3067" b="1" kern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Consulting &amp; Strategy</a:t>
            </a:r>
            <a:endParaRPr lang="en-US" sz="3067" kern="12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15118080" y="2560320"/>
            <a:ext cx="75590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r>
              <a:rPr lang="en-US" sz="2267" kern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Enterprise &amp; tech business consulting from global experts</a:t>
            </a:r>
          </a:p>
        </p:txBody>
      </p:sp>
      <p:sp>
        <p:nvSpPr>
          <p:cNvPr id="35" name="Shape 27"/>
          <p:cNvSpPr/>
          <p:nvPr/>
        </p:nvSpPr>
        <p:spPr>
          <a:xfrm>
            <a:off x="13411200" y="3560064"/>
            <a:ext cx="9753600" cy="1341120"/>
          </a:xfrm>
          <a:prstGeom prst="rect">
            <a:avLst/>
          </a:prstGeom>
          <a:solidFill>
            <a:schemeClr val="bg1">
              <a:lumMod val="50000"/>
              <a:alpha val="7000"/>
            </a:schemeClr>
          </a:solidFill>
          <a:ln/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US" kern="120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13655040" y="3706368"/>
            <a:ext cx="1048512" cy="1048512"/>
          </a:xfrm>
          <a:prstGeom prst="ellipse">
            <a:avLst/>
          </a:prstGeom>
          <a:solidFill>
            <a:srgbClr val="FF6B35">
              <a:alpha val="75000"/>
            </a:srgbClr>
          </a:solidFill>
          <a:ln/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US" kern="120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74496" y="3877056"/>
            <a:ext cx="609600" cy="60960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5118080" y="3608832"/>
            <a:ext cx="75590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r>
              <a:rPr lang="en-US" sz="3067" b="1" kern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IoT &amp; M2M Solutions</a:t>
            </a:r>
            <a:endParaRPr lang="en-US" sz="3067" kern="12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9" name="Text 30"/>
          <p:cNvSpPr/>
          <p:nvPr/>
        </p:nvSpPr>
        <p:spPr>
          <a:xfrm>
            <a:off x="15118080" y="4218432"/>
            <a:ext cx="75590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r>
              <a:rPr lang="en-US" sz="2267" kern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Innovative, data-conscious &amp; futuristic connected technologies</a:t>
            </a:r>
          </a:p>
        </p:txBody>
      </p:sp>
      <p:sp>
        <p:nvSpPr>
          <p:cNvPr id="40" name="Shape 31"/>
          <p:cNvSpPr/>
          <p:nvPr/>
        </p:nvSpPr>
        <p:spPr>
          <a:xfrm>
            <a:off x="13411200" y="5218176"/>
            <a:ext cx="9753600" cy="1341120"/>
          </a:xfrm>
          <a:prstGeom prst="rect">
            <a:avLst/>
          </a:prstGeom>
          <a:solidFill>
            <a:schemeClr val="bg1">
              <a:lumMod val="50000"/>
              <a:alpha val="7000"/>
            </a:schemeClr>
          </a:solidFill>
          <a:ln/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US" kern="120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1" name="Shape 32"/>
          <p:cNvSpPr/>
          <p:nvPr/>
        </p:nvSpPr>
        <p:spPr>
          <a:xfrm>
            <a:off x="13655040" y="5364480"/>
            <a:ext cx="1048512" cy="1048512"/>
          </a:xfrm>
          <a:prstGeom prst="ellipse">
            <a:avLst/>
          </a:prstGeom>
          <a:solidFill>
            <a:srgbClr val="FF6B35">
              <a:alpha val="75000"/>
            </a:srgbClr>
          </a:solidFill>
          <a:ln/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US" kern="120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874496" y="5535168"/>
            <a:ext cx="609600" cy="60960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15118080" y="5266944"/>
            <a:ext cx="75590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r>
              <a:rPr lang="en-US" sz="3067" b="1" kern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Networks &amp; Engineering</a:t>
            </a:r>
            <a:endParaRPr lang="en-US" sz="3067" kern="12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4" name="Text 34"/>
          <p:cNvSpPr/>
          <p:nvPr/>
        </p:nvSpPr>
        <p:spPr>
          <a:xfrm>
            <a:off x="15118080" y="5876544"/>
            <a:ext cx="75590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r>
              <a:rPr lang="en-US" sz="2267" kern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Planning, operations, customer care &amp; competitive benchmarking</a:t>
            </a:r>
          </a:p>
        </p:txBody>
      </p:sp>
      <p:sp>
        <p:nvSpPr>
          <p:cNvPr id="45" name="Shape 35"/>
          <p:cNvSpPr/>
          <p:nvPr/>
        </p:nvSpPr>
        <p:spPr>
          <a:xfrm>
            <a:off x="13411200" y="6876288"/>
            <a:ext cx="9753600" cy="1341120"/>
          </a:xfrm>
          <a:prstGeom prst="rect">
            <a:avLst/>
          </a:prstGeom>
          <a:solidFill>
            <a:schemeClr val="bg1">
              <a:lumMod val="50000"/>
              <a:alpha val="7000"/>
            </a:schemeClr>
          </a:solidFill>
          <a:ln/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US" kern="120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6" name="Shape 36"/>
          <p:cNvSpPr/>
          <p:nvPr/>
        </p:nvSpPr>
        <p:spPr>
          <a:xfrm>
            <a:off x="13655040" y="7022592"/>
            <a:ext cx="1048512" cy="1048512"/>
          </a:xfrm>
          <a:prstGeom prst="ellipse">
            <a:avLst/>
          </a:prstGeom>
          <a:solidFill>
            <a:srgbClr val="FF6B35">
              <a:alpha val="75000"/>
            </a:srgbClr>
          </a:solidFill>
          <a:ln/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US" kern="120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874496" y="7193280"/>
            <a:ext cx="609600" cy="609600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15118080" y="6925056"/>
            <a:ext cx="75590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r>
              <a:rPr lang="en-US" sz="3067" b="1" kern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Staff Augmentation</a:t>
            </a:r>
            <a:endParaRPr lang="en-US" sz="3067" kern="12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" name="Text 38"/>
          <p:cNvSpPr/>
          <p:nvPr/>
        </p:nvSpPr>
        <p:spPr>
          <a:xfrm>
            <a:off x="15118080" y="7534656"/>
            <a:ext cx="75590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r>
              <a:rPr lang="en-US" sz="2267" kern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Largest independent resource database via SWI Recruit</a:t>
            </a:r>
          </a:p>
        </p:txBody>
      </p:sp>
      <p:sp>
        <p:nvSpPr>
          <p:cNvPr id="50" name="Shape 39"/>
          <p:cNvSpPr/>
          <p:nvPr/>
        </p:nvSpPr>
        <p:spPr>
          <a:xfrm>
            <a:off x="13411200" y="8534400"/>
            <a:ext cx="9753600" cy="1341120"/>
          </a:xfrm>
          <a:prstGeom prst="rect">
            <a:avLst/>
          </a:prstGeom>
          <a:solidFill>
            <a:schemeClr val="bg1">
              <a:lumMod val="50000"/>
              <a:alpha val="7000"/>
            </a:schemeClr>
          </a:solidFill>
          <a:ln/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US" kern="120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1" name="Shape 40"/>
          <p:cNvSpPr/>
          <p:nvPr/>
        </p:nvSpPr>
        <p:spPr>
          <a:xfrm>
            <a:off x="13655040" y="8680704"/>
            <a:ext cx="1048512" cy="1048512"/>
          </a:xfrm>
          <a:prstGeom prst="ellipse">
            <a:avLst/>
          </a:prstGeom>
          <a:solidFill>
            <a:srgbClr val="FF6B35">
              <a:alpha val="75000"/>
            </a:srgbClr>
          </a:solidFill>
          <a:ln/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US" kern="120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2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874496" y="8851392"/>
            <a:ext cx="609600" cy="609600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15118080" y="8583168"/>
            <a:ext cx="75590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r>
              <a:rPr lang="en-US" sz="3067" b="1" kern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Deployment Services</a:t>
            </a:r>
            <a:endParaRPr lang="en-US" sz="3067" kern="12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4" name="Text 42"/>
          <p:cNvSpPr/>
          <p:nvPr/>
        </p:nvSpPr>
        <p:spPr>
          <a:xfrm>
            <a:off x="15118080" y="9192768"/>
            <a:ext cx="75590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r>
              <a:rPr lang="en-US" sz="2267" kern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Equipment installation, testing &amp; commissioning</a:t>
            </a:r>
          </a:p>
        </p:txBody>
      </p:sp>
      <p:sp>
        <p:nvSpPr>
          <p:cNvPr id="55" name="Text 43"/>
          <p:cNvSpPr/>
          <p:nvPr/>
        </p:nvSpPr>
        <p:spPr>
          <a:xfrm>
            <a:off x="13411200" y="10363200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r>
              <a:rPr lang="en-US" sz="2400" b="1" spc="8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GLOBAL PRESENCE</a:t>
            </a:r>
            <a:endParaRPr lang="en-US" sz="2400" kern="12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6" name="Shape 44"/>
          <p:cNvSpPr/>
          <p:nvPr/>
        </p:nvSpPr>
        <p:spPr>
          <a:xfrm>
            <a:off x="13411200" y="11094720"/>
            <a:ext cx="1414272" cy="804672"/>
          </a:xfrm>
          <a:prstGeom prst="rect">
            <a:avLst/>
          </a:prstGeom>
          <a:solidFill>
            <a:srgbClr val="F6C5A0"/>
          </a:solidFill>
          <a:ln/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US" kern="120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7" name="Text 45"/>
          <p:cNvSpPr/>
          <p:nvPr/>
        </p:nvSpPr>
        <p:spPr>
          <a:xfrm>
            <a:off x="13411200" y="11094720"/>
            <a:ext cx="1414272" cy="804672"/>
          </a:xfrm>
          <a:prstGeom prst="rect">
            <a:avLst/>
          </a:prstGeom>
          <a:solidFill>
            <a:srgbClr val="F6C5A0"/>
          </a:solidFill>
          <a:ln/>
        </p:spPr>
        <p:txBody>
          <a:bodyPr wrap="square" lIns="0" tIns="0" rIns="0" bIns="0" rtlCol="0" anchor="ctr"/>
          <a:lstStyle/>
          <a:p>
            <a:pPr algn="ctr" defTabSz="2438430" hangingPunct="1">
              <a:lnSpc>
                <a:spcPct val="100000"/>
              </a:lnSpc>
              <a:spcBef>
                <a:spcPts val="0"/>
              </a:spcBef>
            </a:pPr>
            <a:r>
              <a:rPr lang="en-US" sz="2000" b="1" kern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USA</a:t>
            </a:r>
            <a:endParaRPr lang="en-US" sz="2000" kern="12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8" name="Shape 46"/>
          <p:cNvSpPr/>
          <p:nvPr/>
        </p:nvSpPr>
        <p:spPr>
          <a:xfrm>
            <a:off x="15044928" y="11094720"/>
            <a:ext cx="1414272" cy="804672"/>
          </a:xfrm>
          <a:prstGeom prst="rect">
            <a:avLst/>
          </a:prstGeom>
          <a:solidFill>
            <a:srgbClr val="F6C5A0"/>
          </a:solidFill>
          <a:ln/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US" kern="120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9" name="Text 47"/>
          <p:cNvSpPr/>
          <p:nvPr/>
        </p:nvSpPr>
        <p:spPr>
          <a:xfrm>
            <a:off x="15044928" y="11094720"/>
            <a:ext cx="1414272" cy="804672"/>
          </a:xfrm>
          <a:prstGeom prst="rect">
            <a:avLst/>
          </a:prstGeom>
          <a:solidFill>
            <a:srgbClr val="F6C5A0"/>
          </a:solidFill>
          <a:ln/>
        </p:spPr>
        <p:txBody>
          <a:bodyPr wrap="square" lIns="0" tIns="0" rIns="0" bIns="0" rtlCol="0" anchor="ctr"/>
          <a:lstStyle/>
          <a:p>
            <a:pPr algn="ctr" defTabSz="2438430" hangingPunct="1">
              <a:lnSpc>
                <a:spcPct val="100000"/>
              </a:lnSpc>
              <a:spcBef>
                <a:spcPts val="0"/>
              </a:spcBef>
            </a:pPr>
            <a:r>
              <a:rPr lang="en-US" sz="2000" b="1" kern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UAE</a:t>
            </a:r>
            <a:endParaRPr lang="en-US" sz="2000" kern="12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0" name="Shape 48"/>
          <p:cNvSpPr/>
          <p:nvPr/>
        </p:nvSpPr>
        <p:spPr>
          <a:xfrm>
            <a:off x="16678656" y="11094720"/>
            <a:ext cx="1414272" cy="804672"/>
          </a:xfrm>
          <a:prstGeom prst="rect">
            <a:avLst/>
          </a:prstGeom>
          <a:solidFill>
            <a:srgbClr val="F6C5A0"/>
          </a:solidFill>
          <a:ln/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US" kern="120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1" name="Text 49"/>
          <p:cNvSpPr/>
          <p:nvPr/>
        </p:nvSpPr>
        <p:spPr>
          <a:xfrm>
            <a:off x="16678656" y="11094720"/>
            <a:ext cx="1414272" cy="804672"/>
          </a:xfrm>
          <a:prstGeom prst="rect">
            <a:avLst/>
          </a:prstGeom>
          <a:solidFill>
            <a:srgbClr val="F6C5A0"/>
          </a:solidFill>
          <a:ln/>
        </p:spPr>
        <p:txBody>
          <a:bodyPr wrap="square" lIns="0" tIns="0" rIns="0" bIns="0" rtlCol="0" anchor="ctr"/>
          <a:lstStyle/>
          <a:p>
            <a:pPr algn="ctr" defTabSz="2438430" hangingPunct="1">
              <a:lnSpc>
                <a:spcPct val="100000"/>
              </a:lnSpc>
              <a:spcBef>
                <a:spcPts val="0"/>
              </a:spcBef>
            </a:pPr>
            <a:r>
              <a:rPr lang="en-US" sz="2000" b="1" kern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UK</a:t>
            </a:r>
            <a:endParaRPr lang="en-US" sz="2000" kern="12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2" name="Shape 50"/>
          <p:cNvSpPr/>
          <p:nvPr/>
        </p:nvSpPr>
        <p:spPr>
          <a:xfrm>
            <a:off x="18312384" y="11094720"/>
            <a:ext cx="1414272" cy="804672"/>
          </a:xfrm>
          <a:prstGeom prst="rect">
            <a:avLst/>
          </a:prstGeom>
          <a:solidFill>
            <a:srgbClr val="F6C5A0"/>
          </a:solidFill>
          <a:ln/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US" kern="120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3" name="Text 51"/>
          <p:cNvSpPr/>
          <p:nvPr/>
        </p:nvSpPr>
        <p:spPr>
          <a:xfrm>
            <a:off x="18312384" y="11094720"/>
            <a:ext cx="1414272" cy="804672"/>
          </a:xfrm>
          <a:prstGeom prst="rect">
            <a:avLst/>
          </a:prstGeom>
          <a:solidFill>
            <a:srgbClr val="F6C5A0"/>
          </a:solidFill>
          <a:ln/>
        </p:spPr>
        <p:txBody>
          <a:bodyPr wrap="square" lIns="0" tIns="0" rIns="0" bIns="0" rtlCol="0" anchor="ctr"/>
          <a:lstStyle/>
          <a:p>
            <a:pPr algn="ctr" defTabSz="2438430" hangingPunct="1">
              <a:lnSpc>
                <a:spcPct val="100000"/>
              </a:lnSpc>
              <a:spcBef>
                <a:spcPts val="0"/>
              </a:spcBef>
            </a:pPr>
            <a:r>
              <a:rPr lang="en-US" sz="2000" b="1" kern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Canada</a:t>
            </a:r>
            <a:endParaRPr lang="en-US" sz="2000" kern="12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4" name="Shape 52"/>
          <p:cNvSpPr/>
          <p:nvPr/>
        </p:nvSpPr>
        <p:spPr>
          <a:xfrm>
            <a:off x="19946112" y="11094720"/>
            <a:ext cx="1414272" cy="804672"/>
          </a:xfrm>
          <a:prstGeom prst="rect">
            <a:avLst/>
          </a:prstGeom>
          <a:solidFill>
            <a:srgbClr val="F6C5A0"/>
          </a:solidFill>
          <a:ln/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US" kern="120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5" name="Text 53"/>
          <p:cNvSpPr/>
          <p:nvPr/>
        </p:nvSpPr>
        <p:spPr>
          <a:xfrm>
            <a:off x="19946112" y="11094720"/>
            <a:ext cx="1414272" cy="804672"/>
          </a:xfrm>
          <a:prstGeom prst="rect">
            <a:avLst/>
          </a:prstGeom>
          <a:solidFill>
            <a:srgbClr val="F6C5A0"/>
          </a:solidFill>
          <a:ln/>
        </p:spPr>
        <p:txBody>
          <a:bodyPr wrap="square" lIns="0" tIns="0" rIns="0" bIns="0" rtlCol="0" anchor="ctr"/>
          <a:lstStyle/>
          <a:p>
            <a:pPr algn="ctr" defTabSz="2438430" hangingPunct="1">
              <a:lnSpc>
                <a:spcPct val="100000"/>
              </a:lnSpc>
              <a:spcBef>
                <a:spcPts val="0"/>
              </a:spcBef>
            </a:pPr>
            <a:r>
              <a:rPr lang="en-US" sz="2000" b="1" kern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KSA</a:t>
            </a:r>
            <a:endParaRPr lang="en-US" sz="2000" kern="12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6" name="Shape 54"/>
          <p:cNvSpPr/>
          <p:nvPr/>
        </p:nvSpPr>
        <p:spPr>
          <a:xfrm>
            <a:off x="21579840" y="11094720"/>
            <a:ext cx="1414272" cy="804672"/>
          </a:xfrm>
          <a:prstGeom prst="rect">
            <a:avLst/>
          </a:prstGeom>
          <a:solidFill>
            <a:srgbClr val="F6C5A0"/>
          </a:solidFill>
          <a:ln/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US" kern="120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7" name="Text 55"/>
          <p:cNvSpPr/>
          <p:nvPr/>
        </p:nvSpPr>
        <p:spPr>
          <a:xfrm>
            <a:off x="21579840" y="11094720"/>
            <a:ext cx="1414272" cy="804672"/>
          </a:xfrm>
          <a:prstGeom prst="rect">
            <a:avLst/>
          </a:prstGeom>
          <a:solidFill>
            <a:srgbClr val="F6C5A0"/>
          </a:solidFill>
          <a:ln/>
        </p:spPr>
        <p:txBody>
          <a:bodyPr wrap="square" lIns="0" tIns="0" rIns="0" bIns="0" rtlCol="0" anchor="ctr"/>
          <a:lstStyle/>
          <a:p>
            <a:pPr algn="ctr" defTabSz="2438430" hangingPunct="1">
              <a:lnSpc>
                <a:spcPct val="100000"/>
              </a:lnSpc>
              <a:spcBef>
                <a:spcPts val="0"/>
              </a:spcBef>
            </a:pPr>
            <a:r>
              <a:rPr lang="en-US" sz="2000" b="1" kern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Panama</a:t>
            </a:r>
            <a:endParaRPr lang="en-US" sz="2000" kern="12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0" name="Text 58"/>
          <p:cNvSpPr/>
          <p:nvPr/>
        </p:nvSpPr>
        <p:spPr>
          <a:xfrm>
            <a:off x="1463040" y="12923520"/>
            <a:ext cx="2145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2438430" hangingPunct="1">
              <a:lnSpc>
                <a:spcPct val="100000"/>
              </a:lnSpc>
              <a:spcBef>
                <a:spcPts val="0"/>
              </a:spcBef>
            </a:pPr>
            <a:r>
              <a:rPr lang="en-US" sz="2133" kern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swius.com  |  AirCod Technologies Channel Partner  |  Digital Transformation</a:t>
            </a:r>
            <a:endParaRPr lang="en-US" sz="2133" kern="1200" dirty="0">
              <a:solidFill>
                <a:schemeClr val="tx1"/>
              </a:solidFill>
              <a:latin typeface="Calibri" panose="020F0502020204030204"/>
            </a:endParaRPr>
          </a:p>
        </p:txBody>
      </p:sp>
      <p:pic>
        <p:nvPicPr>
          <p:cNvPr id="6" name="Icon.png" descr="Icon.png">
            <a:extLst>
              <a:ext uri="{FF2B5EF4-FFF2-40B4-BE49-F238E27FC236}">
                <a16:creationId xmlns:a16="http://schemas.microsoft.com/office/drawing/2014/main" id="{D4BE1A80-EFF3-E29F-EE13-5ED4A27A14B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071413" y="508000"/>
            <a:ext cx="804588" cy="825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BB46E-7CB5-E5F3-F0E9-554D68B07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Evolution of Unified Business Operating System">
            <a:extLst>
              <a:ext uri="{FF2B5EF4-FFF2-40B4-BE49-F238E27FC236}">
                <a16:creationId xmlns:a16="http://schemas.microsoft.com/office/drawing/2014/main" id="{E6026A69-FF20-018E-FC40-3B3CFA7A2542}"/>
              </a:ext>
            </a:extLst>
          </p:cNvPr>
          <p:cNvSpPr txBox="1"/>
          <p:nvPr/>
        </p:nvSpPr>
        <p:spPr>
          <a:xfrm>
            <a:off x="1107354" y="749606"/>
            <a:ext cx="12813994" cy="9087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defTabSz="1828636">
              <a:lnSpc>
                <a:spcPct val="80000"/>
              </a:lnSpc>
              <a:spcBef>
                <a:spcPts val="0"/>
              </a:spcBef>
              <a:defRPr sz="6500" b="1" spc="-180">
                <a:solidFill>
                  <a:srgbClr val="222222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r>
              <a:rPr lang="en-US" dirty="0"/>
              <a:t>Clients Reference </a:t>
            </a:r>
            <a:endParaRPr dirty="0"/>
          </a:p>
        </p:txBody>
      </p:sp>
      <p:pic>
        <p:nvPicPr>
          <p:cNvPr id="514" name="Icon.png" descr="Icon.png">
            <a:extLst>
              <a:ext uri="{FF2B5EF4-FFF2-40B4-BE49-F238E27FC236}">
                <a16:creationId xmlns:a16="http://schemas.microsoft.com/office/drawing/2014/main" id="{83D956A3-2660-DD9E-BD8A-CC112596A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71413" y="508000"/>
            <a:ext cx="804588" cy="8255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5E351E05-B34E-EC90-A2A1-4544A3EC9311}"/>
              </a:ext>
            </a:extLst>
          </p:cNvPr>
          <p:cNvGrpSpPr/>
          <p:nvPr/>
        </p:nvGrpSpPr>
        <p:grpSpPr>
          <a:xfrm>
            <a:off x="2443976" y="2349934"/>
            <a:ext cx="19496048" cy="10616460"/>
            <a:chOff x="1361449" y="1050529"/>
            <a:chExt cx="10266190" cy="5590394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2C4B5C4-19CF-7725-30BA-3EA4EFFA32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36908" y="1050808"/>
              <a:ext cx="9952398" cy="5590115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87ACFD96-77C5-A59A-AC83-B3E9B7279C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09606" y="1253184"/>
              <a:ext cx="1552644" cy="508339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32FAE68A-E1A8-2C1B-9EDE-ED4D073DA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93848" y="1083275"/>
              <a:ext cx="1381318" cy="619211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CDCFCCA-BF96-F128-2CE1-64C694197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583" y="1050529"/>
              <a:ext cx="1749704" cy="725487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7695E5D2-47D7-6C92-C860-132C00CD101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77284" y="1952996"/>
              <a:ext cx="1682642" cy="755970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478CBC8D-7008-D883-D69F-333D754FCAE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40428" y="1205957"/>
              <a:ext cx="1298561" cy="524301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AF66F5D2-5D7C-4D85-F4FD-3B3EF986DFF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60013" y="1665591"/>
              <a:ext cx="1292464" cy="695004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8214A82C-9892-9F45-02A1-88A01E2F14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77581" y="1970697"/>
              <a:ext cx="1542422" cy="42066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38CE6D0D-8949-33F3-10F1-CC519A8BC7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85644" y="3012664"/>
              <a:ext cx="554784" cy="353599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EF8E485D-7582-98FB-C673-C94D20194F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19490" y="2095782"/>
              <a:ext cx="1707028" cy="377985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B9D5654D-520F-DF27-468D-58CFC6F131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73366" y="2047492"/>
              <a:ext cx="1432684" cy="566977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7088AFEF-55F3-2C58-DF82-5BD8CCFFE6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12902" y="3016189"/>
              <a:ext cx="999831" cy="280440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F992820C-0E7C-6334-BD0C-9A1BA9BFCBD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12892" y="1232789"/>
              <a:ext cx="1560711" cy="512108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5D2CF407-52E4-B3B1-4D7A-52BE4EC562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41299" y="2926097"/>
              <a:ext cx="1322947" cy="518205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B687A204-F703-BDA6-336F-DB10F834BE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20444" y="3689141"/>
              <a:ext cx="1505843" cy="603556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1D4DD24B-DC15-156A-8D34-A2A7893090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19819" y="3745497"/>
              <a:ext cx="646232" cy="518205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ED2EA663-1297-8A71-6690-853C34F9A75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93247" y="2843737"/>
              <a:ext cx="1066800" cy="365760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6CC716EC-57D3-A4B3-B71C-425EDD89C8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65251" y="3708755"/>
              <a:ext cx="941801" cy="648341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BA177A52-3148-4FFF-9048-ECFC9258D6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2656" y="2807142"/>
              <a:ext cx="2048434" cy="438950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F6857324-8B79-6ADF-7CD1-3578B57003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80208" y="2888513"/>
              <a:ext cx="1475360" cy="518205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7A44D7AA-E1C3-80B8-AD96-0B41458567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00907" y="3765368"/>
              <a:ext cx="1548518" cy="414564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4CA99A92-53F4-1443-2D81-73605773CC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10430" y="3779985"/>
              <a:ext cx="1676545" cy="634039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6EAD425C-7AAC-EACB-9377-1EC1195B8D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22287" y="4782871"/>
              <a:ext cx="1091279" cy="493819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F94DFA9A-5599-C3DC-F329-7CE079419A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81424" y="4992957"/>
              <a:ext cx="1883827" cy="207282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1D17BDE1-D847-A97D-EF7A-E8BF9F385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12957" y="3432093"/>
              <a:ext cx="1225402" cy="944962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16363F0C-2696-F544-CA42-95D94A4CEC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47080" y="4762522"/>
              <a:ext cx="1774090" cy="597460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66BD0BAC-1475-356F-664F-9F7C499471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77284" y="4461386"/>
              <a:ext cx="883997" cy="755970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E5FF171F-4761-6128-CB6C-63528AECE6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47608" y="5514883"/>
              <a:ext cx="1530229" cy="688908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84BA57ED-3A96-1950-61F8-6B213CFE21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06434" y="5693323"/>
              <a:ext cx="2011854" cy="573074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8A448520-3807-3EC6-F2E8-758A65DA39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3110" y="5648165"/>
              <a:ext cx="1780186" cy="377985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778363FE-BAD1-8CC5-B0F9-C627B5AD75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1449" y="5317990"/>
              <a:ext cx="1115665" cy="847417"/>
            </a:xfrm>
            <a:prstGeom prst="rect">
              <a:avLst/>
            </a:prstGeom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3027582D-F510-367F-5C19-B3190B28D1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16191" y="5470031"/>
              <a:ext cx="1097375" cy="579170"/>
            </a:xfrm>
            <a:prstGeom prst="rect">
              <a:avLst/>
            </a:prstGeom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A4459257-8769-4895-6A8D-C08CA3E884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65717" y="5728050"/>
              <a:ext cx="798645" cy="317019"/>
            </a:xfrm>
            <a:prstGeom prst="rect">
              <a:avLst/>
            </a:prstGeom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75D6A95B-32ED-10ED-3801-9C5D7241F3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31619" y="4758030"/>
              <a:ext cx="1896020" cy="530398"/>
            </a:xfrm>
            <a:prstGeom prst="rect">
              <a:avLst/>
            </a:prstGeom>
          </p:spPr>
        </p:pic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CCC24A2C-0F58-28C4-85D8-C3DF7DE02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52408" y="4800706"/>
              <a:ext cx="1450974" cy="4450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332348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Line"/>
          <p:cNvSpPr/>
          <p:nvPr/>
        </p:nvSpPr>
        <p:spPr>
          <a:xfrm>
            <a:off x="1454789" y="5991094"/>
            <a:ext cx="4542201" cy="861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150" extrusionOk="0">
                <a:moveTo>
                  <a:pt x="0" y="21150"/>
                </a:moveTo>
                <a:cubicBezTo>
                  <a:pt x="3089" y="7093"/>
                  <a:pt x="7089" y="-450"/>
                  <a:pt x="11205" y="20"/>
                </a:cubicBezTo>
                <a:cubicBezTo>
                  <a:pt x="15036" y="458"/>
                  <a:pt x="18715" y="7828"/>
                  <a:pt x="21600" y="20844"/>
                </a:cubicBezTo>
              </a:path>
            </a:pathLst>
          </a:custGeom>
          <a:ln w="25400">
            <a:solidFill>
              <a:srgbClr val="2D6A97">
                <a:alpha val="28970"/>
              </a:srgbClr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411" name="Line"/>
          <p:cNvSpPr/>
          <p:nvPr/>
        </p:nvSpPr>
        <p:spPr>
          <a:xfrm>
            <a:off x="6008841" y="5991094"/>
            <a:ext cx="4542202" cy="861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150" extrusionOk="0">
                <a:moveTo>
                  <a:pt x="0" y="21150"/>
                </a:moveTo>
                <a:cubicBezTo>
                  <a:pt x="3089" y="7093"/>
                  <a:pt x="7089" y="-450"/>
                  <a:pt x="11205" y="20"/>
                </a:cubicBezTo>
                <a:cubicBezTo>
                  <a:pt x="15036" y="458"/>
                  <a:pt x="18715" y="7828"/>
                  <a:pt x="21600" y="20844"/>
                </a:cubicBezTo>
              </a:path>
            </a:pathLst>
          </a:custGeom>
          <a:ln w="25400">
            <a:solidFill>
              <a:srgbClr val="2D6A97">
                <a:alpha val="28970"/>
              </a:srgbClr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412" name="Line"/>
          <p:cNvSpPr/>
          <p:nvPr/>
        </p:nvSpPr>
        <p:spPr>
          <a:xfrm>
            <a:off x="10562767" y="5950501"/>
            <a:ext cx="6075242" cy="9020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9106" extrusionOk="0">
                <a:moveTo>
                  <a:pt x="0" y="19106"/>
                </a:moveTo>
                <a:cubicBezTo>
                  <a:pt x="2522" y="9292"/>
                  <a:pt x="5388" y="3056"/>
                  <a:pt x="8377" y="877"/>
                </a:cubicBezTo>
                <a:cubicBezTo>
                  <a:pt x="13005" y="-2494"/>
                  <a:pt x="17684" y="3912"/>
                  <a:pt x="21600" y="18980"/>
                </a:cubicBezTo>
              </a:path>
            </a:pathLst>
          </a:custGeom>
          <a:ln w="25400">
            <a:solidFill>
              <a:srgbClr val="2D6A97">
                <a:alpha val="28970"/>
              </a:srgbClr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413" name="Line"/>
          <p:cNvSpPr/>
          <p:nvPr/>
        </p:nvSpPr>
        <p:spPr>
          <a:xfrm>
            <a:off x="16633283" y="5986574"/>
            <a:ext cx="5160843" cy="876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540" extrusionOk="0">
                <a:moveTo>
                  <a:pt x="0" y="20294"/>
                </a:moveTo>
                <a:cubicBezTo>
                  <a:pt x="2849" y="8160"/>
                  <a:pt x="6287" y="1130"/>
                  <a:pt x="9862" y="126"/>
                </a:cubicBezTo>
                <a:cubicBezTo>
                  <a:pt x="14083" y="-1060"/>
                  <a:pt x="18242" y="6173"/>
                  <a:pt x="21600" y="20540"/>
                </a:cubicBezTo>
              </a:path>
            </a:pathLst>
          </a:custGeom>
          <a:ln w="25400">
            <a:solidFill>
              <a:srgbClr val="2D6A97">
                <a:alpha val="28970"/>
              </a:srgbClr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414" name="Evolution of Unified Business Operating System"/>
          <p:cNvSpPr txBox="1"/>
          <p:nvPr/>
        </p:nvSpPr>
        <p:spPr>
          <a:xfrm>
            <a:off x="1107354" y="749606"/>
            <a:ext cx="12813994" cy="1884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defTabSz="1828636">
              <a:lnSpc>
                <a:spcPct val="80000"/>
              </a:lnSpc>
              <a:spcBef>
                <a:spcPts val="0"/>
              </a:spcBef>
              <a:defRPr sz="6500" b="1" spc="-180">
                <a:solidFill>
                  <a:srgbClr val="222222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r>
              <a:rPr dirty="0"/>
              <a:t>Evolution of Unified Business Operating System</a:t>
            </a:r>
          </a:p>
        </p:txBody>
      </p:sp>
      <p:sp>
        <p:nvSpPr>
          <p:cNvPr id="415" name="From fragmented legacy to autonomous intelligence"/>
          <p:cNvSpPr txBox="1"/>
          <p:nvPr/>
        </p:nvSpPr>
        <p:spPr>
          <a:xfrm>
            <a:off x="1107354" y="2739020"/>
            <a:ext cx="22768647" cy="46724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>
            <a:lvl1pPr defTabSz="1828660">
              <a:lnSpc>
                <a:spcPct val="130000"/>
              </a:lnSpc>
              <a:spcBef>
                <a:spcPts val="2000"/>
              </a:spcBef>
              <a:defRPr sz="2800" b="1">
                <a:solidFill>
                  <a:srgbClr val="22222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sz="2000" dirty="0"/>
              <a:t>From fragmented legacy to autonomous intelligence</a:t>
            </a:r>
            <a:r>
              <a:rPr lang="en-US" sz="2000" dirty="0"/>
              <a:t> – </a:t>
            </a:r>
            <a:r>
              <a:rPr lang="en-US" sz="2000" b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Evolution from infrastructure → connectivity → intelligence → autonomy, and AVX is the execution layer for the next phase</a:t>
            </a:r>
          </a:p>
        </p:txBody>
      </p:sp>
      <p:sp>
        <p:nvSpPr>
          <p:cNvPr id="416" name="Straight Connector 37"/>
          <p:cNvSpPr/>
          <p:nvPr/>
        </p:nvSpPr>
        <p:spPr>
          <a:xfrm>
            <a:off x="1553616" y="6863296"/>
            <a:ext cx="21030148" cy="1"/>
          </a:xfrm>
          <a:prstGeom prst="line">
            <a:avLst/>
          </a:prstGeom>
          <a:ln w="12700">
            <a:solidFill>
              <a:srgbClr val="222222">
                <a:alpha val="10000"/>
              </a:srgbClr>
            </a:solidFill>
            <a:miter/>
          </a:ln>
        </p:spPr>
        <p:txBody>
          <a:bodyPr tIns="91439" bIns="91439"/>
          <a:lstStyle/>
          <a:p>
            <a:pPr defTabSz="182866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22222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17" name="Oval 38"/>
          <p:cNvSpPr/>
          <p:nvPr/>
        </p:nvSpPr>
        <p:spPr>
          <a:xfrm>
            <a:off x="1359531" y="6766252"/>
            <a:ext cx="194089" cy="19408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7344"/>
            </a:solidFill>
            <a:miter/>
          </a:ln>
          <a:effectLst>
            <a:outerShdw blurRad="177800" dist="76200" dir="5400000" rotWithShape="0">
              <a:srgbClr val="000000">
                <a:alpha val="11000"/>
              </a:srgbClr>
            </a:outerShdw>
          </a:effectLst>
        </p:spPr>
        <p:txBody>
          <a:bodyPr lIns="0" tIns="0" rIns="0" bIns="0" anchor="ctr"/>
          <a:lstStyle/>
          <a:p>
            <a:pPr algn="ctr" defTabSz="1828660">
              <a:lnSpc>
                <a:spcPct val="100000"/>
              </a:lnSpc>
              <a:spcBef>
                <a:spcPts val="0"/>
              </a:spcBef>
              <a:defRPr>
                <a:solidFill>
                  <a:srgbClr val="F0F0F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18" name="Oval 39"/>
          <p:cNvSpPr/>
          <p:nvPr/>
        </p:nvSpPr>
        <p:spPr>
          <a:xfrm>
            <a:off x="3628824" y="6760956"/>
            <a:ext cx="194089" cy="194089"/>
          </a:xfrm>
          <a:prstGeom prst="ellipse">
            <a:avLst/>
          </a:prstGeom>
          <a:solidFill>
            <a:srgbClr val="FFFFFF"/>
          </a:solidFill>
          <a:ln w="25400">
            <a:solidFill>
              <a:schemeClr val="accent4">
                <a:hueOff val="-1247790"/>
                <a:lumOff val="-12326"/>
                <a:alpha val="32650"/>
              </a:schemeClr>
            </a:solidFill>
            <a:miter/>
          </a:ln>
        </p:spPr>
        <p:txBody>
          <a:bodyPr lIns="0" tIns="0" rIns="0" bIns="0" anchor="ctr"/>
          <a:lstStyle/>
          <a:p>
            <a:pPr algn="ctr" defTabSz="1828660">
              <a:lnSpc>
                <a:spcPct val="100000"/>
              </a:lnSpc>
              <a:spcBef>
                <a:spcPts val="0"/>
              </a:spcBef>
              <a:defRPr>
                <a:solidFill>
                  <a:srgbClr val="F0F0F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grpSp>
        <p:nvGrpSpPr>
          <p:cNvPr id="421" name="Freeform: Shape 49"/>
          <p:cNvGrpSpPr/>
          <p:nvPr/>
        </p:nvGrpSpPr>
        <p:grpSpPr>
          <a:xfrm>
            <a:off x="1412566" y="7239324"/>
            <a:ext cx="1543053" cy="773445"/>
            <a:chOff x="0" y="0"/>
            <a:chExt cx="1543052" cy="773444"/>
          </a:xfrm>
        </p:grpSpPr>
        <p:sp>
          <p:nvSpPr>
            <p:cNvPr id="419" name="Shape"/>
            <p:cNvSpPr/>
            <p:nvPr/>
          </p:nvSpPr>
          <p:spPr>
            <a:xfrm>
              <a:off x="-1" y="-1"/>
              <a:ext cx="1543054" cy="7734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733" y="5453"/>
                  </a:lnTo>
                  <a:lnTo>
                    <a:pt x="21600" y="5453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5453"/>
                  </a:lnTo>
                  <a:close/>
                </a:path>
              </a:pathLst>
            </a:custGeom>
            <a:solidFill>
              <a:srgbClr val="E07344"/>
            </a:solidFill>
            <a:ln w="12700" cap="flat">
              <a:noFill/>
              <a:miter lim="400000"/>
            </a:ln>
            <a:effectLst>
              <a:outerShdw blurRad="76200" dist="25400" dir="5400000" rotWithShape="0">
                <a:srgbClr val="000000">
                  <a:alpha val="15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 defTabSz="1828660">
                <a:lnSpc>
                  <a:spcPct val="100000"/>
                </a:lnSpc>
                <a:spcBef>
                  <a:spcPts val="2000"/>
                </a:spcBef>
                <a:defRPr sz="3600">
                  <a:solidFill>
                    <a:srgbClr val="F0F0F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20" name="2005"/>
            <p:cNvSpPr txBox="1"/>
            <p:nvPr/>
          </p:nvSpPr>
          <p:spPr>
            <a:xfrm>
              <a:off x="-1" y="312300"/>
              <a:ext cx="1543054" cy="368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828660">
                <a:lnSpc>
                  <a:spcPct val="100000"/>
                </a:lnSpc>
                <a:spcBef>
                  <a:spcPts val="2000"/>
                </a:spcBef>
                <a:defRPr sz="2400" b="1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2005</a:t>
              </a:r>
            </a:p>
          </p:txBody>
        </p:sp>
      </p:grpSp>
      <p:grpSp>
        <p:nvGrpSpPr>
          <p:cNvPr id="424" name="Group"/>
          <p:cNvGrpSpPr/>
          <p:nvPr/>
        </p:nvGrpSpPr>
        <p:grpSpPr>
          <a:xfrm>
            <a:off x="1191005" y="4045592"/>
            <a:ext cx="1715071" cy="1542465"/>
            <a:chOff x="0" y="0"/>
            <a:chExt cx="1715070" cy="1542463"/>
          </a:xfrm>
        </p:grpSpPr>
        <p:sp>
          <p:nvSpPr>
            <p:cNvPr id="422" name="Legacy ERP"/>
            <p:cNvSpPr txBox="1"/>
            <p:nvPr/>
          </p:nvSpPr>
          <p:spPr>
            <a:xfrm>
              <a:off x="0" y="0"/>
              <a:ext cx="1515269" cy="4445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defTabSz="1244600">
                <a:spcBef>
                  <a:spcPts val="1100"/>
                </a:spcBef>
                <a:defRPr sz="2000" b="1">
                  <a:solidFill>
                    <a:srgbClr val="222222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t>Legacy ERP</a:t>
              </a:r>
            </a:p>
          </p:txBody>
        </p:sp>
        <p:sp>
          <p:nvSpPr>
            <p:cNvPr id="423" name="SAP/Oracle…"/>
            <p:cNvSpPr txBox="1"/>
            <p:nvPr/>
          </p:nvSpPr>
          <p:spPr>
            <a:xfrm>
              <a:off x="0" y="480743"/>
              <a:ext cx="1715071" cy="10617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/>
            <a:p>
              <a:pPr marL="254000" indent="-254000" defTabSz="1828660">
                <a:spcBef>
                  <a:spcPts val="0"/>
                </a:spcBef>
                <a:buSzPct val="123000"/>
                <a:buChar char="•"/>
                <a:defRPr sz="2000">
                  <a:solidFill>
                    <a:srgbClr val="222222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r>
                <a:t>SAP/Oracle</a:t>
              </a:r>
            </a:p>
            <a:p>
              <a:pPr marL="254000" indent="-254000" defTabSz="1828660">
                <a:spcBef>
                  <a:spcPts val="0"/>
                </a:spcBef>
                <a:buSzPct val="123000"/>
                <a:buChar char="•"/>
                <a:defRPr sz="2000">
                  <a:solidFill>
                    <a:srgbClr val="222222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r>
                <a:t>On-Premise</a:t>
              </a:r>
            </a:p>
            <a:p>
              <a:pPr marL="254000" indent="-254000" defTabSz="1828660">
                <a:spcBef>
                  <a:spcPts val="0"/>
                </a:spcBef>
                <a:buSzPct val="123000"/>
                <a:buChar char="•"/>
                <a:defRPr sz="2000">
                  <a:solidFill>
                    <a:srgbClr val="222222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r>
                <a:t>Silos</a:t>
              </a:r>
            </a:p>
          </p:txBody>
        </p:sp>
      </p:grpSp>
      <p:grpSp>
        <p:nvGrpSpPr>
          <p:cNvPr id="427" name="Group"/>
          <p:cNvGrpSpPr/>
          <p:nvPr/>
        </p:nvGrpSpPr>
        <p:grpSpPr>
          <a:xfrm>
            <a:off x="3473853" y="4045592"/>
            <a:ext cx="1627138" cy="1542465"/>
            <a:chOff x="0" y="0"/>
            <a:chExt cx="1627137" cy="1542463"/>
          </a:xfrm>
        </p:grpSpPr>
        <p:sp>
          <p:nvSpPr>
            <p:cNvPr id="425" name="Early ERP"/>
            <p:cNvSpPr txBox="1"/>
            <p:nvPr/>
          </p:nvSpPr>
          <p:spPr>
            <a:xfrm>
              <a:off x="0" y="0"/>
              <a:ext cx="1282725" cy="4445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defTabSz="1244600">
                <a:spcBef>
                  <a:spcPts val="1100"/>
                </a:spcBef>
                <a:defRPr sz="2000" b="1">
                  <a:solidFill>
                    <a:srgbClr val="222222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t>Early ERP</a:t>
              </a:r>
            </a:p>
          </p:txBody>
        </p:sp>
        <p:sp>
          <p:nvSpPr>
            <p:cNvPr id="426" name="Salesforce…"/>
            <p:cNvSpPr txBox="1"/>
            <p:nvPr/>
          </p:nvSpPr>
          <p:spPr>
            <a:xfrm>
              <a:off x="0" y="480743"/>
              <a:ext cx="1627138" cy="10617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/>
            <a:p>
              <a:pPr marL="254000" indent="-254000" defTabSz="1828660">
                <a:spcBef>
                  <a:spcPts val="0"/>
                </a:spcBef>
                <a:buSzPct val="123000"/>
                <a:buChar char="•"/>
                <a:defRPr sz="2000">
                  <a:solidFill>
                    <a:srgbClr val="222222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r>
                <a:t>Salesforce</a:t>
              </a:r>
            </a:p>
            <a:p>
              <a:pPr marL="254000" indent="-254000" defTabSz="1828660">
                <a:spcBef>
                  <a:spcPts val="0"/>
                </a:spcBef>
                <a:buSzPct val="123000"/>
                <a:buChar char="•"/>
                <a:defRPr sz="2000">
                  <a:solidFill>
                    <a:srgbClr val="222222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r>
                <a:t>Web 2.0</a:t>
              </a:r>
            </a:p>
            <a:p>
              <a:pPr marL="254000" indent="-254000" defTabSz="1828660">
                <a:spcBef>
                  <a:spcPts val="0"/>
                </a:spcBef>
                <a:buSzPct val="123000"/>
                <a:buChar char="•"/>
                <a:defRPr sz="2000">
                  <a:solidFill>
                    <a:srgbClr val="222222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r>
                <a:t>CRM Cloud</a:t>
              </a:r>
            </a:p>
          </p:txBody>
        </p:sp>
      </p:grpSp>
      <p:grpSp>
        <p:nvGrpSpPr>
          <p:cNvPr id="430" name="Group"/>
          <p:cNvGrpSpPr/>
          <p:nvPr/>
        </p:nvGrpSpPr>
        <p:grpSpPr>
          <a:xfrm>
            <a:off x="5629700" y="4045592"/>
            <a:ext cx="1886844" cy="1542465"/>
            <a:chOff x="0" y="0"/>
            <a:chExt cx="1886842" cy="1542463"/>
          </a:xfrm>
        </p:grpSpPr>
        <p:sp>
          <p:nvSpPr>
            <p:cNvPr id="428" name="Cloud Core"/>
            <p:cNvSpPr txBox="1"/>
            <p:nvPr/>
          </p:nvSpPr>
          <p:spPr>
            <a:xfrm>
              <a:off x="0" y="0"/>
              <a:ext cx="1484015" cy="4445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defTabSz="1244600">
                <a:spcBef>
                  <a:spcPts val="1100"/>
                </a:spcBef>
                <a:defRPr sz="2000" b="1">
                  <a:solidFill>
                    <a:srgbClr val="222222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t>Cloud Core</a:t>
              </a:r>
            </a:p>
          </p:txBody>
        </p:sp>
        <p:sp>
          <p:nvSpPr>
            <p:cNvPr id="429" name="AWS/Azure…"/>
            <p:cNvSpPr txBox="1"/>
            <p:nvPr/>
          </p:nvSpPr>
          <p:spPr>
            <a:xfrm>
              <a:off x="0" y="480743"/>
              <a:ext cx="1886843" cy="10617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/>
            <a:p>
              <a:pPr marL="254000" indent="-254000" defTabSz="1828660">
                <a:spcBef>
                  <a:spcPts val="0"/>
                </a:spcBef>
                <a:buSzPct val="123000"/>
                <a:buChar char="•"/>
                <a:defRPr sz="2000">
                  <a:solidFill>
                    <a:srgbClr val="222222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r>
                <a:t>AWS/Azure</a:t>
              </a:r>
            </a:p>
            <a:p>
              <a:pPr marL="254000" indent="-254000" defTabSz="1828660">
                <a:spcBef>
                  <a:spcPts val="0"/>
                </a:spcBef>
                <a:buSzPct val="123000"/>
                <a:buChar char="•"/>
                <a:defRPr sz="2000">
                  <a:solidFill>
                    <a:srgbClr val="222222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r>
                <a:t>Mass Migrate</a:t>
              </a:r>
            </a:p>
            <a:p>
              <a:pPr marL="254000" indent="-254000" defTabSz="1828660">
                <a:spcBef>
                  <a:spcPts val="0"/>
                </a:spcBef>
                <a:buSzPct val="123000"/>
                <a:buChar char="•"/>
                <a:defRPr sz="2000">
                  <a:solidFill>
                    <a:srgbClr val="222222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r>
                <a:t>IaaS/Paas</a:t>
              </a:r>
            </a:p>
          </p:txBody>
        </p:sp>
      </p:grpSp>
      <p:grpSp>
        <p:nvGrpSpPr>
          <p:cNvPr id="433" name="Group"/>
          <p:cNvGrpSpPr/>
          <p:nvPr/>
        </p:nvGrpSpPr>
        <p:grpSpPr>
          <a:xfrm>
            <a:off x="8103048" y="4045592"/>
            <a:ext cx="1788494" cy="1542465"/>
            <a:chOff x="0" y="0"/>
            <a:chExt cx="1788492" cy="1542463"/>
          </a:xfrm>
        </p:grpSpPr>
        <p:sp>
          <p:nvSpPr>
            <p:cNvPr id="431" name="Mobile First"/>
            <p:cNvSpPr txBox="1"/>
            <p:nvPr/>
          </p:nvSpPr>
          <p:spPr>
            <a:xfrm>
              <a:off x="0" y="0"/>
              <a:ext cx="1611635" cy="4445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defTabSz="1244600">
                <a:spcBef>
                  <a:spcPts val="1100"/>
                </a:spcBef>
                <a:defRPr sz="2000" b="1">
                  <a:solidFill>
                    <a:srgbClr val="222222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t>Mobile First</a:t>
              </a:r>
            </a:p>
          </p:txBody>
        </p:sp>
        <p:sp>
          <p:nvSpPr>
            <p:cNvPr id="432" name="Smartphone…"/>
            <p:cNvSpPr txBox="1"/>
            <p:nvPr/>
          </p:nvSpPr>
          <p:spPr>
            <a:xfrm>
              <a:off x="0" y="480743"/>
              <a:ext cx="1788493" cy="10617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/>
            <a:p>
              <a:pPr marL="254000" indent="-254000" defTabSz="1828660">
                <a:spcBef>
                  <a:spcPts val="0"/>
                </a:spcBef>
                <a:buSzPct val="123000"/>
                <a:buChar char="•"/>
                <a:defRPr sz="2000">
                  <a:solidFill>
                    <a:srgbClr val="222222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r>
                <a:t>Smartphone</a:t>
              </a:r>
            </a:p>
            <a:p>
              <a:pPr marL="254000" indent="-254000" defTabSz="1828660">
                <a:spcBef>
                  <a:spcPts val="0"/>
                </a:spcBef>
                <a:buSzPct val="123000"/>
                <a:buChar char="•"/>
                <a:defRPr sz="2000">
                  <a:solidFill>
                    <a:srgbClr val="222222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r>
                <a:t>Apps Era</a:t>
              </a:r>
            </a:p>
            <a:p>
              <a:pPr marL="254000" indent="-254000" defTabSz="1828660">
                <a:spcBef>
                  <a:spcPts val="0"/>
                </a:spcBef>
                <a:buSzPct val="123000"/>
                <a:buChar char="•"/>
                <a:defRPr sz="2000">
                  <a:solidFill>
                    <a:srgbClr val="222222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r>
                <a:t>Responsive</a:t>
              </a:r>
            </a:p>
          </p:txBody>
        </p:sp>
      </p:grpSp>
      <p:grpSp>
        <p:nvGrpSpPr>
          <p:cNvPr id="436" name="Group"/>
          <p:cNvGrpSpPr/>
          <p:nvPr/>
        </p:nvGrpSpPr>
        <p:grpSpPr>
          <a:xfrm>
            <a:off x="10462097" y="4045592"/>
            <a:ext cx="2054895" cy="1542465"/>
            <a:chOff x="0" y="0"/>
            <a:chExt cx="2054894" cy="1542463"/>
          </a:xfrm>
        </p:grpSpPr>
        <p:sp>
          <p:nvSpPr>
            <p:cNvPr id="434" name="API Economy"/>
            <p:cNvSpPr txBox="1"/>
            <p:nvPr/>
          </p:nvSpPr>
          <p:spPr>
            <a:xfrm>
              <a:off x="0" y="0"/>
              <a:ext cx="1747317" cy="4445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defTabSz="1244600">
                <a:spcBef>
                  <a:spcPts val="1100"/>
                </a:spcBef>
                <a:defRPr sz="2000" b="1">
                  <a:solidFill>
                    <a:srgbClr val="222222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t>API Economy</a:t>
              </a:r>
            </a:p>
          </p:txBody>
        </p:sp>
        <p:sp>
          <p:nvSpPr>
            <p:cNvPr id="435" name="Microservices…"/>
            <p:cNvSpPr txBox="1"/>
            <p:nvPr/>
          </p:nvSpPr>
          <p:spPr>
            <a:xfrm>
              <a:off x="0" y="480743"/>
              <a:ext cx="2054895" cy="10617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/>
            <a:p>
              <a:pPr marL="254000" indent="-254000" defTabSz="1828660">
                <a:spcBef>
                  <a:spcPts val="0"/>
                </a:spcBef>
                <a:buSzPct val="123000"/>
                <a:buChar char="•"/>
                <a:defRPr sz="2000">
                  <a:solidFill>
                    <a:srgbClr val="222222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r>
                <a:t>Microservices</a:t>
              </a:r>
            </a:p>
            <a:p>
              <a:pPr marL="254000" indent="-254000" defTabSz="1828660">
                <a:spcBef>
                  <a:spcPts val="0"/>
                </a:spcBef>
                <a:buSzPct val="123000"/>
                <a:buChar char="•"/>
                <a:defRPr sz="2000">
                  <a:solidFill>
                    <a:srgbClr val="222222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r>
                <a:t>REST/GraphQL</a:t>
              </a:r>
            </a:p>
            <a:p>
              <a:pPr marL="254000" indent="-254000" defTabSz="1828660">
                <a:spcBef>
                  <a:spcPts val="0"/>
                </a:spcBef>
                <a:buSzPct val="123000"/>
                <a:buChar char="•"/>
                <a:defRPr sz="2000">
                  <a:solidFill>
                    <a:srgbClr val="222222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r>
                <a:t>Integration</a:t>
              </a:r>
            </a:p>
          </p:txBody>
        </p:sp>
      </p:grpSp>
      <p:grpSp>
        <p:nvGrpSpPr>
          <p:cNvPr id="439" name="Group"/>
          <p:cNvGrpSpPr/>
          <p:nvPr/>
        </p:nvGrpSpPr>
        <p:grpSpPr>
          <a:xfrm>
            <a:off x="13087844" y="4045592"/>
            <a:ext cx="1697956" cy="1542465"/>
            <a:chOff x="0" y="0"/>
            <a:chExt cx="1697955" cy="1542463"/>
          </a:xfrm>
        </p:grpSpPr>
        <p:sp>
          <p:nvSpPr>
            <p:cNvPr id="437" name="Data Centric"/>
            <p:cNvSpPr txBox="1"/>
            <p:nvPr/>
          </p:nvSpPr>
          <p:spPr>
            <a:xfrm>
              <a:off x="0" y="0"/>
              <a:ext cx="1697956" cy="4445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defTabSz="1244600">
                <a:spcBef>
                  <a:spcPts val="1100"/>
                </a:spcBef>
                <a:defRPr sz="2000" b="1">
                  <a:solidFill>
                    <a:srgbClr val="222222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t>Data Centric</a:t>
              </a:r>
            </a:p>
          </p:txBody>
        </p:sp>
        <p:sp>
          <p:nvSpPr>
            <p:cNvPr id="438" name="Analytics…"/>
            <p:cNvSpPr txBox="1"/>
            <p:nvPr/>
          </p:nvSpPr>
          <p:spPr>
            <a:xfrm>
              <a:off x="0" y="480743"/>
              <a:ext cx="1618085" cy="10617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/>
            <a:p>
              <a:pPr marL="254000" indent="-254000" defTabSz="1828660">
                <a:spcBef>
                  <a:spcPts val="0"/>
                </a:spcBef>
                <a:buSzPct val="123000"/>
                <a:buChar char="•"/>
                <a:defRPr sz="2000">
                  <a:solidFill>
                    <a:srgbClr val="222222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r>
                <a:t>Analytics</a:t>
              </a:r>
            </a:p>
            <a:p>
              <a:pPr marL="254000" indent="-254000" defTabSz="1828660">
                <a:spcBef>
                  <a:spcPts val="0"/>
                </a:spcBef>
                <a:buSzPct val="123000"/>
                <a:buChar char="•"/>
                <a:defRPr sz="2000">
                  <a:solidFill>
                    <a:srgbClr val="222222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r>
                <a:t>ML Models</a:t>
              </a:r>
            </a:p>
            <a:p>
              <a:pPr marL="254000" indent="-254000" defTabSz="1828660">
                <a:spcBef>
                  <a:spcPts val="0"/>
                </a:spcBef>
                <a:buSzPct val="123000"/>
                <a:buChar char="•"/>
                <a:defRPr sz="2000">
                  <a:solidFill>
                    <a:srgbClr val="222222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r>
                <a:t>Real-Time</a:t>
              </a:r>
            </a:p>
          </p:txBody>
        </p:sp>
      </p:grpSp>
      <p:grpSp>
        <p:nvGrpSpPr>
          <p:cNvPr id="442" name="Group"/>
          <p:cNvGrpSpPr/>
          <p:nvPr/>
        </p:nvGrpSpPr>
        <p:grpSpPr>
          <a:xfrm>
            <a:off x="15382599" y="4045592"/>
            <a:ext cx="1270001" cy="1750745"/>
            <a:chOff x="0" y="0"/>
            <a:chExt cx="1270000" cy="1750743"/>
          </a:xfrm>
        </p:grpSpPr>
        <p:sp>
          <p:nvSpPr>
            <p:cNvPr id="440" name="AI Native"/>
            <p:cNvSpPr/>
            <p:nvPr/>
          </p:nvSpPr>
          <p:spPr>
            <a:xfrm>
              <a:off x="0" y="0"/>
              <a:ext cx="1270000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defTabSz="1244600">
                <a:spcBef>
                  <a:spcPts val="1100"/>
                </a:spcBef>
                <a:defRPr sz="2000" b="1">
                  <a:solidFill>
                    <a:srgbClr val="222222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t>AI Native</a:t>
              </a:r>
            </a:p>
          </p:txBody>
        </p:sp>
        <p:sp>
          <p:nvSpPr>
            <p:cNvPr id="441" name="GenAI…"/>
            <p:cNvSpPr/>
            <p:nvPr/>
          </p:nvSpPr>
          <p:spPr>
            <a:xfrm>
              <a:off x="0" y="480743"/>
              <a:ext cx="1270000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/>
            <a:p>
              <a:pPr marL="254000" indent="-254000" defTabSz="1828660">
                <a:spcBef>
                  <a:spcPts val="0"/>
                </a:spcBef>
                <a:buSzPct val="123000"/>
                <a:buChar char="•"/>
                <a:defRPr sz="2000">
                  <a:solidFill>
                    <a:srgbClr val="222222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r>
                <a:t>GenAI</a:t>
              </a:r>
            </a:p>
            <a:p>
              <a:pPr marL="254000" indent="-254000" defTabSz="1828660">
                <a:spcBef>
                  <a:spcPts val="0"/>
                </a:spcBef>
                <a:buSzPct val="123000"/>
                <a:buChar char="•"/>
                <a:defRPr sz="2000">
                  <a:solidFill>
                    <a:srgbClr val="222222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r>
                <a:t>LLMs</a:t>
              </a:r>
            </a:p>
            <a:p>
              <a:pPr marL="254000" indent="-254000" defTabSz="1828660">
                <a:spcBef>
                  <a:spcPts val="0"/>
                </a:spcBef>
                <a:buSzPct val="123000"/>
                <a:buChar char="•"/>
                <a:defRPr sz="2000">
                  <a:solidFill>
                    <a:srgbClr val="222222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r>
                <a:t>Copilots</a:t>
              </a:r>
            </a:p>
          </p:txBody>
        </p:sp>
      </p:grpSp>
      <p:grpSp>
        <p:nvGrpSpPr>
          <p:cNvPr id="445" name="Group"/>
          <p:cNvGrpSpPr/>
          <p:nvPr/>
        </p:nvGrpSpPr>
        <p:grpSpPr>
          <a:xfrm>
            <a:off x="17247141" y="4045592"/>
            <a:ext cx="1554957" cy="1542465"/>
            <a:chOff x="0" y="0"/>
            <a:chExt cx="1554956" cy="1542463"/>
          </a:xfrm>
        </p:grpSpPr>
        <p:sp>
          <p:nvSpPr>
            <p:cNvPr id="443" name="Hyper Auto"/>
            <p:cNvSpPr txBox="1"/>
            <p:nvPr/>
          </p:nvSpPr>
          <p:spPr>
            <a:xfrm>
              <a:off x="0" y="0"/>
              <a:ext cx="1554957" cy="4445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defTabSz="1244600">
                <a:spcBef>
                  <a:spcPts val="1100"/>
                </a:spcBef>
                <a:defRPr sz="2000" b="1">
                  <a:solidFill>
                    <a:srgbClr val="222222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t>Hyper Auto</a:t>
              </a:r>
            </a:p>
          </p:txBody>
        </p:sp>
        <p:sp>
          <p:nvSpPr>
            <p:cNvPr id="444" name="Intelligent…"/>
            <p:cNvSpPr txBox="1"/>
            <p:nvPr/>
          </p:nvSpPr>
          <p:spPr>
            <a:xfrm>
              <a:off x="0" y="480743"/>
              <a:ext cx="1539702" cy="10617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/>
            <a:p>
              <a:pPr marL="254000" indent="-254000" defTabSz="1828660">
                <a:spcBef>
                  <a:spcPts val="0"/>
                </a:spcBef>
                <a:buSzPct val="123000"/>
                <a:buChar char="•"/>
                <a:defRPr sz="2000">
                  <a:solidFill>
                    <a:srgbClr val="222222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r>
                <a:t>Intelligent</a:t>
              </a:r>
            </a:p>
            <a:p>
              <a:pPr marL="254000" indent="-254000" defTabSz="1828660">
                <a:spcBef>
                  <a:spcPts val="0"/>
                </a:spcBef>
                <a:buSzPct val="123000"/>
                <a:buChar char="•"/>
                <a:defRPr sz="2000">
                  <a:solidFill>
                    <a:srgbClr val="222222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r>
                <a:t>Workflows</a:t>
              </a:r>
            </a:p>
            <a:p>
              <a:pPr marL="254000" indent="-254000" defTabSz="1828660">
                <a:spcBef>
                  <a:spcPts val="0"/>
                </a:spcBef>
                <a:buSzPct val="123000"/>
                <a:buChar char="•"/>
                <a:defRPr sz="2000">
                  <a:solidFill>
                    <a:srgbClr val="222222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r>
                <a:t>RPA+AI</a:t>
              </a:r>
            </a:p>
          </p:txBody>
        </p:sp>
      </p:grpSp>
      <p:grpSp>
        <p:nvGrpSpPr>
          <p:cNvPr id="448" name="Group"/>
          <p:cNvGrpSpPr/>
          <p:nvPr/>
        </p:nvGrpSpPr>
        <p:grpSpPr>
          <a:xfrm>
            <a:off x="19377589" y="4045592"/>
            <a:ext cx="1676500" cy="1542465"/>
            <a:chOff x="0" y="0"/>
            <a:chExt cx="1676499" cy="1542463"/>
          </a:xfrm>
        </p:grpSpPr>
        <p:sp>
          <p:nvSpPr>
            <p:cNvPr id="446" name="Predict Intel"/>
            <p:cNvSpPr txBox="1"/>
            <p:nvPr/>
          </p:nvSpPr>
          <p:spPr>
            <a:xfrm>
              <a:off x="0" y="0"/>
              <a:ext cx="1668066" cy="4445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defTabSz="1244600">
                <a:spcBef>
                  <a:spcPts val="1100"/>
                </a:spcBef>
                <a:defRPr sz="2000" b="1">
                  <a:solidFill>
                    <a:srgbClr val="222222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t>Predict Intel</a:t>
              </a:r>
            </a:p>
          </p:txBody>
        </p:sp>
        <p:sp>
          <p:nvSpPr>
            <p:cNvPr id="447" name="Forecasting…"/>
            <p:cNvSpPr txBox="1"/>
            <p:nvPr/>
          </p:nvSpPr>
          <p:spPr>
            <a:xfrm>
              <a:off x="0" y="480743"/>
              <a:ext cx="1676500" cy="10617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/>
            <a:p>
              <a:pPr marL="254000" indent="-254000" defTabSz="1828660">
                <a:spcBef>
                  <a:spcPts val="0"/>
                </a:spcBef>
                <a:buSzPct val="123000"/>
                <a:buChar char="•"/>
                <a:defRPr sz="2000">
                  <a:solidFill>
                    <a:srgbClr val="222222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r>
                <a:t>Forecasting</a:t>
              </a:r>
            </a:p>
            <a:p>
              <a:pPr marL="254000" indent="-254000" defTabSz="1828660">
                <a:spcBef>
                  <a:spcPts val="0"/>
                </a:spcBef>
                <a:buSzPct val="123000"/>
                <a:buChar char="•"/>
                <a:defRPr sz="2000">
                  <a:solidFill>
                    <a:srgbClr val="222222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r>
                <a:t>Proactive</a:t>
              </a:r>
            </a:p>
            <a:p>
              <a:pPr marL="254000" indent="-254000" defTabSz="1828660">
                <a:spcBef>
                  <a:spcPts val="0"/>
                </a:spcBef>
                <a:buSzPct val="123000"/>
                <a:buChar char="•"/>
                <a:defRPr sz="2000">
                  <a:solidFill>
                    <a:srgbClr val="222222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r>
                <a:t>Anticipate</a:t>
              </a:r>
            </a:p>
          </p:txBody>
        </p:sp>
      </p:grpSp>
      <p:grpSp>
        <p:nvGrpSpPr>
          <p:cNvPr id="451" name="Group"/>
          <p:cNvGrpSpPr/>
          <p:nvPr/>
        </p:nvGrpSpPr>
        <p:grpSpPr>
          <a:xfrm>
            <a:off x="21622337" y="4045592"/>
            <a:ext cx="1710359" cy="1542465"/>
            <a:chOff x="0" y="0"/>
            <a:chExt cx="1710357" cy="1542463"/>
          </a:xfrm>
        </p:grpSpPr>
        <p:sp>
          <p:nvSpPr>
            <p:cNvPr id="449" name="Auto System"/>
            <p:cNvSpPr txBox="1"/>
            <p:nvPr/>
          </p:nvSpPr>
          <p:spPr>
            <a:xfrm>
              <a:off x="0" y="0"/>
              <a:ext cx="1710358" cy="4445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defTabSz="1244600">
                <a:spcBef>
                  <a:spcPts val="1100"/>
                </a:spcBef>
                <a:defRPr sz="2000" b="1">
                  <a:solidFill>
                    <a:srgbClr val="222222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t>Auto System</a:t>
              </a:r>
            </a:p>
          </p:txBody>
        </p:sp>
        <p:sp>
          <p:nvSpPr>
            <p:cNvPr id="450" name="Self-Heal…"/>
            <p:cNvSpPr txBox="1"/>
            <p:nvPr/>
          </p:nvSpPr>
          <p:spPr>
            <a:xfrm>
              <a:off x="0" y="480743"/>
              <a:ext cx="1375495" cy="10617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/>
            <a:p>
              <a:pPr marL="254000" indent="-254000" defTabSz="1828660">
                <a:spcBef>
                  <a:spcPts val="0"/>
                </a:spcBef>
                <a:buSzPct val="123000"/>
                <a:buChar char="•"/>
                <a:defRPr sz="2000">
                  <a:solidFill>
                    <a:srgbClr val="222222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r>
                <a:t>Self-Heal</a:t>
              </a:r>
            </a:p>
            <a:p>
              <a:pPr marL="254000" indent="-254000" defTabSz="1828660">
                <a:spcBef>
                  <a:spcPts val="0"/>
                </a:spcBef>
                <a:buSzPct val="123000"/>
                <a:buChar char="•"/>
                <a:defRPr sz="2000">
                  <a:solidFill>
                    <a:srgbClr val="222222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r>
                <a:t>Adaptive</a:t>
              </a:r>
            </a:p>
            <a:p>
              <a:pPr marL="254000" indent="-254000" defTabSz="1828660">
                <a:spcBef>
                  <a:spcPts val="0"/>
                </a:spcBef>
                <a:buSzPct val="123000"/>
                <a:buChar char="•"/>
                <a:defRPr sz="2000">
                  <a:solidFill>
                    <a:srgbClr val="222222"/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r>
                <a:t>Unified</a:t>
              </a:r>
            </a:p>
          </p:txBody>
        </p:sp>
      </p:grpSp>
      <p:sp>
        <p:nvSpPr>
          <p:cNvPr id="452" name="Oval 38"/>
          <p:cNvSpPr/>
          <p:nvPr/>
        </p:nvSpPr>
        <p:spPr>
          <a:xfrm>
            <a:off x="5908428" y="6766252"/>
            <a:ext cx="194089" cy="19408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7344"/>
            </a:solidFill>
            <a:miter/>
          </a:ln>
          <a:effectLst>
            <a:outerShdw blurRad="177800" dist="76200" dir="5400000" rotWithShape="0">
              <a:srgbClr val="000000">
                <a:alpha val="11000"/>
              </a:srgbClr>
            </a:outerShdw>
          </a:effectLst>
        </p:spPr>
        <p:txBody>
          <a:bodyPr lIns="0" tIns="0" rIns="0" bIns="0" anchor="ctr"/>
          <a:lstStyle/>
          <a:p>
            <a:pPr algn="ctr" defTabSz="1828660">
              <a:lnSpc>
                <a:spcPct val="100000"/>
              </a:lnSpc>
              <a:spcBef>
                <a:spcPts val="0"/>
              </a:spcBef>
              <a:defRPr>
                <a:solidFill>
                  <a:srgbClr val="F0F0F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grpSp>
        <p:nvGrpSpPr>
          <p:cNvPr id="455" name="Freeform: Shape 49"/>
          <p:cNvGrpSpPr/>
          <p:nvPr/>
        </p:nvGrpSpPr>
        <p:grpSpPr>
          <a:xfrm>
            <a:off x="5961464" y="7239324"/>
            <a:ext cx="1543053" cy="773445"/>
            <a:chOff x="0" y="0"/>
            <a:chExt cx="1543052" cy="773444"/>
          </a:xfrm>
        </p:grpSpPr>
        <p:sp>
          <p:nvSpPr>
            <p:cNvPr id="453" name="Shape"/>
            <p:cNvSpPr/>
            <p:nvPr/>
          </p:nvSpPr>
          <p:spPr>
            <a:xfrm>
              <a:off x="-1" y="-1"/>
              <a:ext cx="1543054" cy="7734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733" y="5453"/>
                  </a:lnTo>
                  <a:lnTo>
                    <a:pt x="21600" y="5453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5453"/>
                  </a:lnTo>
                  <a:close/>
                </a:path>
              </a:pathLst>
            </a:custGeom>
            <a:solidFill>
              <a:srgbClr val="E07344">
                <a:alpha val="73144"/>
              </a:srgbClr>
            </a:solidFill>
            <a:ln w="12700" cap="flat">
              <a:noFill/>
              <a:miter lim="400000"/>
            </a:ln>
            <a:effectLst>
              <a:outerShdw blurRad="76200" dist="25400" dir="5400000" rotWithShape="0">
                <a:srgbClr val="000000">
                  <a:alpha val="15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 defTabSz="1828660">
                <a:lnSpc>
                  <a:spcPct val="100000"/>
                </a:lnSpc>
                <a:spcBef>
                  <a:spcPts val="2000"/>
                </a:spcBef>
                <a:defRPr sz="3600">
                  <a:solidFill>
                    <a:srgbClr val="F0F0F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54" name="2010"/>
            <p:cNvSpPr txBox="1"/>
            <p:nvPr/>
          </p:nvSpPr>
          <p:spPr>
            <a:xfrm>
              <a:off x="-1" y="312300"/>
              <a:ext cx="1543054" cy="368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828660">
                <a:lnSpc>
                  <a:spcPct val="100000"/>
                </a:lnSpc>
                <a:spcBef>
                  <a:spcPts val="2000"/>
                </a:spcBef>
                <a:defRPr sz="2400" b="1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2010</a:t>
              </a:r>
            </a:p>
          </p:txBody>
        </p:sp>
      </p:grpSp>
      <p:sp>
        <p:nvSpPr>
          <p:cNvPr id="456" name="Oval 38"/>
          <p:cNvSpPr/>
          <p:nvPr/>
        </p:nvSpPr>
        <p:spPr>
          <a:xfrm>
            <a:off x="10457326" y="6766252"/>
            <a:ext cx="194089" cy="19408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7344"/>
            </a:solidFill>
            <a:miter/>
          </a:ln>
          <a:effectLst>
            <a:outerShdw blurRad="177800" dist="76200" dir="5400000" rotWithShape="0">
              <a:srgbClr val="000000">
                <a:alpha val="11000"/>
              </a:srgbClr>
            </a:outerShdw>
          </a:effectLst>
        </p:spPr>
        <p:txBody>
          <a:bodyPr lIns="0" tIns="0" rIns="0" bIns="0" anchor="ctr"/>
          <a:lstStyle/>
          <a:p>
            <a:pPr algn="ctr" defTabSz="1828660">
              <a:lnSpc>
                <a:spcPct val="100000"/>
              </a:lnSpc>
              <a:spcBef>
                <a:spcPts val="0"/>
              </a:spcBef>
              <a:defRPr>
                <a:solidFill>
                  <a:srgbClr val="F0F0F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grpSp>
        <p:nvGrpSpPr>
          <p:cNvPr id="459" name="Freeform: Shape 49"/>
          <p:cNvGrpSpPr/>
          <p:nvPr/>
        </p:nvGrpSpPr>
        <p:grpSpPr>
          <a:xfrm>
            <a:off x="10510362" y="7239324"/>
            <a:ext cx="1543053" cy="773445"/>
            <a:chOff x="0" y="0"/>
            <a:chExt cx="1543052" cy="773444"/>
          </a:xfrm>
        </p:grpSpPr>
        <p:sp>
          <p:nvSpPr>
            <p:cNvPr id="457" name="Shape"/>
            <p:cNvSpPr/>
            <p:nvPr/>
          </p:nvSpPr>
          <p:spPr>
            <a:xfrm>
              <a:off x="-1" y="-1"/>
              <a:ext cx="1543054" cy="7734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733" y="5453"/>
                  </a:lnTo>
                  <a:lnTo>
                    <a:pt x="21600" y="5453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5453"/>
                  </a:lnTo>
                  <a:close/>
                </a:path>
              </a:pathLst>
            </a:custGeom>
            <a:solidFill>
              <a:srgbClr val="E07344">
                <a:alpha val="16582"/>
              </a:srgbClr>
            </a:solidFill>
            <a:ln w="12700" cap="flat">
              <a:noFill/>
              <a:miter lim="400000"/>
            </a:ln>
            <a:effectLst>
              <a:outerShdw blurRad="76200" dist="25400" dir="5400000" rotWithShape="0">
                <a:srgbClr val="000000">
                  <a:alpha val="15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 defTabSz="1828660">
                <a:lnSpc>
                  <a:spcPct val="100000"/>
                </a:lnSpc>
                <a:spcBef>
                  <a:spcPts val="2000"/>
                </a:spcBef>
                <a:defRPr sz="3600">
                  <a:solidFill>
                    <a:srgbClr val="F0F0F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58" name="2015"/>
            <p:cNvSpPr txBox="1"/>
            <p:nvPr/>
          </p:nvSpPr>
          <p:spPr>
            <a:xfrm>
              <a:off x="-1" y="312300"/>
              <a:ext cx="1543054" cy="368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828660">
                <a:lnSpc>
                  <a:spcPct val="100000"/>
                </a:lnSpc>
                <a:spcBef>
                  <a:spcPts val="2000"/>
                </a:spcBef>
                <a:defRPr sz="2400" b="1">
                  <a:solidFill>
                    <a:srgbClr val="222222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2015</a:t>
              </a:r>
            </a:p>
          </p:txBody>
        </p:sp>
      </p:grpSp>
      <p:sp>
        <p:nvSpPr>
          <p:cNvPr id="460" name="Oval 38"/>
          <p:cNvSpPr/>
          <p:nvPr/>
        </p:nvSpPr>
        <p:spPr>
          <a:xfrm>
            <a:off x="16534322" y="6766252"/>
            <a:ext cx="194089" cy="19408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0AA5D"/>
            </a:solidFill>
            <a:miter/>
          </a:ln>
          <a:effectLst>
            <a:outerShdw blurRad="177800" dist="76200" dir="5400000" rotWithShape="0">
              <a:srgbClr val="000000">
                <a:alpha val="11000"/>
              </a:srgbClr>
            </a:outerShdw>
          </a:effectLst>
        </p:spPr>
        <p:txBody>
          <a:bodyPr lIns="0" tIns="0" rIns="0" bIns="0" anchor="ctr"/>
          <a:lstStyle/>
          <a:p>
            <a:pPr algn="ctr" defTabSz="1828660">
              <a:lnSpc>
                <a:spcPct val="100000"/>
              </a:lnSpc>
              <a:spcBef>
                <a:spcPts val="0"/>
              </a:spcBef>
              <a:defRPr>
                <a:solidFill>
                  <a:srgbClr val="F0F0F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grpSp>
        <p:nvGrpSpPr>
          <p:cNvPr id="463" name="Freeform: Shape 49"/>
          <p:cNvGrpSpPr/>
          <p:nvPr/>
        </p:nvGrpSpPr>
        <p:grpSpPr>
          <a:xfrm>
            <a:off x="16587359" y="7239324"/>
            <a:ext cx="1543053" cy="773445"/>
            <a:chOff x="0" y="0"/>
            <a:chExt cx="1543052" cy="773444"/>
          </a:xfrm>
        </p:grpSpPr>
        <p:sp>
          <p:nvSpPr>
            <p:cNvPr id="461" name="Shape"/>
            <p:cNvSpPr/>
            <p:nvPr/>
          </p:nvSpPr>
          <p:spPr>
            <a:xfrm>
              <a:off x="-1" y="-1"/>
              <a:ext cx="1543054" cy="7734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733" y="5453"/>
                  </a:lnTo>
                  <a:lnTo>
                    <a:pt x="21600" y="5453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5453"/>
                  </a:lnTo>
                  <a:close/>
                </a:path>
              </a:pathLst>
            </a:custGeom>
            <a:solidFill>
              <a:srgbClr val="50AA5D">
                <a:alpha val="52014"/>
              </a:srgbClr>
            </a:solidFill>
            <a:ln w="12700" cap="flat">
              <a:noFill/>
              <a:miter lim="400000"/>
            </a:ln>
            <a:effectLst>
              <a:outerShdw blurRad="76200" dist="25400" dir="5400000" rotWithShape="0">
                <a:srgbClr val="000000">
                  <a:alpha val="15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 defTabSz="1828660">
                <a:lnSpc>
                  <a:spcPct val="100000"/>
                </a:lnSpc>
                <a:spcBef>
                  <a:spcPts val="2000"/>
                </a:spcBef>
                <a:defRPr sz="3600">
                  <a:solidFill>
                    <a:srgbClr val="F0F0F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62" name="2025"/>
            <p:cNvSpPr txBox="1"/>
            <p:nvPr/>
          </p:nvSpPr>
          <p:spPr>
            <a:xfrm>
              <a:off x="-1" y="312300"/>
              <a:ext cx="1543054" cy="368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828660">
                <a:lnSpc>
                  <a:spcPct val="100000"/>
                </a:lnSpc>
                <a:spcBef>
                  <a:spcPts val="2000"/>
                </a:spcBef>
                <a:defRPr sz="2400" b="1">
                  <a:solidFill>
                    <a:srgbClr val="222222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2025</a:t>
              </a:r>
            </a:p>
          </p:txBody>
        </p:sp>
      </p:grpSp>
      <p:sp>
        <p:nvSpPr>
          <p:cNvPr id="464" name="Oval 38"/>
          <p:cNvSpPr/>
          <p:nvPr/>
        </p:nvSpPr>
        <p:spPr>
          <a:xfrm>
            <a:off x="21685822" y="6766252"/>
            <a:ext cx="194089" cy="19408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0AA5D"/>
            </a:solidFill>
            <a:miter/>
          </a:ln>
          <a:effectLst>
            <a:outerShdw blurRad="177800" dist="76200" dir="5400000" rotWithShape="0">
              <a:srgbClr val="000000">
                <a:alpha val="11000"/>
              </a:srgbClr>
            </a:outerShdw>
          </a:effectLst>
        </p:spPr>
        <p:txBody>
          <a:bodyPr lIns="0" tIns="0" rIns="0" bIns="0" anchor="ctr"/>
          <a:lstStyle/>
          <a:p>
            <a:pPr algn="ctr" defTabSz="1828660">
              <a:lnSpc>
                <a:spcPct val="100000"/>
              </a:lnSpc>
              <a:spcBef>
                <a:spcPts val="0"/>
              </a:spcBef>
              <a:defRPr>
                <a:solidFill>
                  <a:srgbClr val="F0F0F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grpSp>
        <p:nvGrpSpPr>
          <p:cNvPr id="467" name="Freeform: Shape 49"/>
          <p:cNvGrpSpPr/>
          <p:nvPr/>
        </p:nvGrpSpPr>
        <p:grpSpPr>
          <a:xfrm>
            <a:off x="21738859" y="7239324"/>
            <a:ext cx="1543053" cy="773445"/>
            <a:chOff x="0" y="0"/>
            <a:chExt cx="1543052" cy="773444"/>
          </a:xfrm>
        </p:grpSpPr>
        <p:sp>
          <p:nvSpPr>
            <p:cNvPr id="465" name="Shape"/>
            <p:cNvSpPr/>
            <p:nvPr/>
          </p:nvSpPr>
          <p:spPr>
            <a:xfrm>
              <a:off x="-1" y="-1"/>
              <a:ext cx="1543054" cy="7734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733" y="5453"/>
                  </a:lnTo>
                  <a:lnTo>
                    <a:pt x="21600" y="5453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5453"/>
                  </a:lnTo>
                  <a:close/>
                </a:path>
              </a:pathLst>
            </a:custGeom>
            <a:solidFill>
              <a:srgbClr val="50AA5D"/>
            </a:solidFill>
            <a:ln w="12700" cap="flat">
              <a:noFill/>
              <a:miter lim="400000"/>
            </a:ln>
            <a:effectLst>
              <a:outerShdw blurRad="76200" dist="25400" dir="5400000" rotWithShape="0">
                <a:srgbClr val="000000">
                  <a:alpha val="15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 defTabSz="1828660">
                <a:lnSpc>
                  <a:spcPct val="100000"/>
                </a:lnSpc>
                <a:spcBef>
                  <a:spcPts val="2000"/>
                </a:spcBef>
                <a:defRPr sz="3600">
                  <a:solidFill>
                    <a:srgbClr val="F0F0F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66" name="2035"/>
            <p:cNvSpPr txBox="1"/>
            <p:nvPr/>
          </p:nvSpPr>
          <p:spPr>
            <a:xfrm>
              <a:off x="-1" y="312300"/>
              <a:ext cx="1543054" cy="368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828660">
                <a:lnSpc>
                  <a:spcPct val="100000"/>
                </a:lnSpc>
                <a:spcBef>
                  <a:spcPts val="2000"/>
                </a:spcBef>
                <a:defRPr sz="2400" b="1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2035</a:t>
              </a:r>
            </a:p>
          </p:txBody>
        </p:sp>
      </p:grpSp>
      <p:sp>
        <p:nvSpPr>
          <p:cNvPr id="468" name="Oval 39"/>
          <p:cNvSpPr/>
          <p:nvPr/>
        </p:nvSpPr>
        <p:spPr>
          <a:xfrm>
            <a:off x="8182877" y="6766252"/>
            <a:ext cx="194089" cy="194089"/>
          </a:xfrm>
          <a:prstGeom prst="ellipse">
            <a:avLst/>
          </a:prstGeom>
          <a:solidFill>
            <a:srgbClr val="FFFFFF"/>
          </a:solidFill>
          <a:ln w="25400">
            <a:solidFill>
              <a:schemeClr val="accent4">
                <a:hueOff val="-1247790"/>
                <a:lumOff val="-12326"/>
                <a:alpha val="32650"/>
              </a:schemeClr>
            </a:solidFill>
            <a:miter/>
          </a:ln>
        </p:spPr>
        <p:txBody>
          <a:bodyPr lIns="0" tIns="0" rIns="0" bIns="0" anchor="ctr"/>
          <a:lstStyle/>
          <a:p>
            <a:pPr algn="ctr" defTabSz="1828660">
              <a:lnSpc>
                <a:spcPct val="100000"/>
              </a:lnSpc>
              <a:spcBef>
                <a:spcPts val="0"/>
              </a:spcBef>
              <a:defRPr>
                <a:solidFill>
                  <a:srgbClr val="F0F0F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69" name="Oval 39"/>
          <p:cNvSpPr/>
          <p:nvPr/>
        </p:nvSpPr>
        <p:spPr>
          <a:xfrm>
            <a:off x="13495824" y="6766252"/>
            <a:ext cx="194089" cy="19408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0AA5D">
                <a:alpha val="39291"/>
              </a:srgbClr>
            </a:solidFill>
            <a:miter/>
          </a:ln>
          <a:effectLst>
            <a:outerShdw blurRad="177800" dist="76200" dir="5400000" rotWithShape="0">
              <a:srgbClr val="000000">
                <a:alpha val="11000"/>
              </a:srgbClr>
            </a:outerShdw>
          </a:effectLst>
        </p:spPr>
        <p:txBody>
          <a:bodyPr lIns="0" tIns="0" rIns="0" bIns="0" anchor="ctr"/>
          <a:lstStyle/>
          <a:p>
            <a:pPr algn="ctr" defTabSz="1828660">
              <a:lnSpc>
                <a:spcPct val="100000"/>
              </a:lnSpc>
              <a:spcBef>
                <a:spcPts val="0"/>
              </a:spcBef>
              <a:defRPr>
                <a:solidFill>
                  <a:srgbClr val="F0F0F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70" name="Oval 39"/>
          <p:cNvSpPr/>
          <p:nvPr/>
        </p:nvSpPr>
        <p:spPr>
          <a:xfrm>
            <a:off x="19110072" y="6766252"/>
            <a:ext cx="194089" cy="19408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0AA5D">
                <a:alpha val="39291"/>
              </a:srgbClr>
            </a:solidFill>
            <a:miter/>
          </a:ln>
          <a:effectLst>
            <a:outerShdw blurRad="177800" dist="76200" dir="5400000" rotWithShape="0">
              <a:srgbClr val="000000">
                <a:alpha val="11000"/>
              </a:srgbClr>
            </a:outerShdw>
          </a:effectLst>
        </p:spPr>
        <p:txBody>
          <a:bodyPr lIns="0" tIns="0" rIns="0" bIns="0" anchor="ctr"/>
          <a:lstStyle/>
          <a:p>
            <a:pPr algn="ctr" defTabSz="1828660">
              <a:lnSpc>
                <a:spcPct val="100000"/>
              </a:lnSpc>
              <a:spcBef>
                <a:spcPts val="0"/>
              </a:spcBef>
              <a:defRPr>
                <a:solidFill>
                  <a:srgbClr val="F0F0F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71" name="2008"/>
          <p:cNvSpPr txBox="1"/>
          <p:nvPr/>
        </p:nvSpPr>
        <p:spPr>
          <a:xfrm>
            <a:off x="3383907" y="6139054"/>
            <a:ext cx="694234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1828660">
              <a:lnSpc>
                <a:spcPct val="130000"/>
              </a:lnSpc>
              <a:spcBef>
                <a:spcPts val="2000"/>
              </a:spcBef>
              <a:defRPr sz="2000" b="1">
                <a:solidFill>
                  <a:srgbClr val="22222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2008</a:t>
            </a:r>
          </a:p>
        </p:txBody>
      </p:sp>
      <p:sp>
        <p:nvSpPr>
          <p:cNvPr id="472" name="2013"/>
          <p:cNvSpPr txBox="1"/>
          <p:nvPr/>
        </p:nvSpPr>
        <p:spPr>
          <a:xfrm>
            <a:off x="7932804" y="6139054"/>
            <a:ext cx="694235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1828660">
              <a:lnSpc>
                <a:spcPct val="130000"/>
              </a:lnSpc>
              <a:spcBef>
                <a:spcPts val="2000"/>
              </a:spcBef>
              <a:defRPr sz="2000" b="1">
                <a:solidFill>
                  <a:srgbClr val="22222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2013</a:t>
            </a:r>
          </a:p>
        </p:txBody>
      </p:sp>
      <p:sp>
        <p:nvSpPr>
          <p:cNvPr id="473" name="2020"/>
          <p:cNvSpPr txBox="1"/>
          <p:nvPr/>
        </p:nvSpPr>
        <p:spPr>
          <a:xfrm>
            <a:off x="13245751" y="6139054"/>
            <a:ext cx="694234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1828660">
              <a:lnSpc>
                <a:spcPct val="130000"/>
              </a:lnSpc>
              <a:spcBef>
                <a:spcPts val="2000"/>
              </a:spcBef>
              <a:defRPr sz="2000" b="1">
                <a:solidFill>
                  <a:srgbClr val="22222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2020</a:t>
            </a:r>
          </a:p>
        </p:txBody>
      </p:sp>
      <p:sp>
        <p:nvSpPr>
          <p:cNvPr id="474" name="2030"/>
          <p:cNvSpPr txBox="1"/>
          <p:nvPr/>
        </p:nvSpPr>
        <p:spPr>
          <a:xfrm>
            <a:off x="18859999" y="6139054"/>
            <a:ext cx="694234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1828660">
              <a:lnSpc>
                <a:spcPct val="130000"/>
              </a:lnSpc>
              <a:spcBef>
                <a:spcPts val="2000"/>
              </a:spcBef>
              <a:defRPr sz="2000" b="1">
                <a:solidFill>
                  <a:srgbClr val="22222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2030</a:t>
            </a:r>
          </a:p>
        </p:txBody>
      </p:sp>
      <p:sp>
        <p:nvSpPr>
          <p:cNvPr id="475" name="On-Premise"/>
          <p:cNvSpPr txBox="1"/>
          <p:nvPr/>
        </p:nvSpPr>
        <p:spPr>
          <a:xfrm>
            <a:off x="1389995" y="8092948"/>
            <a:ext cx="1588196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algn="ctr" defTabSz="1244600">
              <a:spcBef>
                <a:spcPts val="1100"/>
              </a:spcBef>
              <a:defRPr sz="2000" b="1">
                <a:solidFill>
                  <a:srgbClr val="22222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On-Premise</a:t>
            </a:r>
          </a:p>
        </p:txBody>
      </p:sp>
      <p:sp>
        <p:nvSpPr>
          <p:cNvPr id="476" name="Cloud Era"/>
          <p:cNvSpPr txBox="1"/>
          <p:nvPr/>
        </p:nvSpPr>
        <p:spPr>
          <a:xfrm>
            <a:off x="6077737" y="8092948"/>
            <a:ext cx="1310507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algn="ctr" defTabSz="1244600">
              <a:spcBef>
                <a:spcPts val="1100"/>
              </a:spcBef>
              <a:defRPr sz="2000" b="1">
                <a:solidFill>
                  <a:srgbClr val="22222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Cloud Era</a:t>
            </a:r>
          </a:p>
        </p:txBody>
      </p:sp>
      <p:sp>
        <p:nvSpPr>
          <p:cNvPr id="477" name="Connected"/>
          <p:cNvSpPr txBox="1"/>
          <p:nvPr/>
        </p:nvSpPr>
        <p:spPr>
          <a:xfrm>
            <a:off x="10547384" y="8092948"/>
            <a:ext cx="1469009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algn="ctr" defTabSz="1244600">
              <a:spcBef>
                <a:spcPts val="1100"/>
              </a:spcBef>
              <a:defRPr sz="2000" b="1">
                <a:solidFill>
                  <a:srgbClr val="22222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Connected</a:t>
            </a:r>
          </a:p>
        </p:txBody>
      </p:sp>
      <p:sp>
        <p:nvSpPr>
          <p:cNvPr id="478" name="Intelligent"/>
          <p:cNvSpPr txBox="1"/>
          <p:nvPr/>
        </p:nvSpPr>
        <p:spPr>
          <a:xfrm>
            <a:off x="16644410" y="8092948"/>
            <a:ext cx="1428949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algn="ctr" defTabSz="1244600">
              <a:spcBef>
                <a:spcPts val="1100"/>
              </a:spcBef>
              <a:defRPr sz="2000" b="1">
                <a:solidFill>
                  <a:srgbClr val="22222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Intelligent</a:t>
            </a:r>
          </a:p>
        </p:txBody>
      </p:sp>
      <p:sp>
        <p:nvSpPr>
          <p:cNvPr id="479" name="Autonomous"/>
          <p:cNvSpPr txBox="1"/>
          <p:nvPr/>
        </p:nvSpPr>
        <p:spPr>
          <a:xfrm>
            <a:off x="21603486" y="8092948"/>
            <a:ext cx="1748061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algn="ctr" defTabSz="1244600">
              <a:spcBef>
                <a:spcPts val="1100"/>
              </a:spcBef>
              <a:defRPr sz="2000" b="1">
                <a:solidFill>
                  <a:srgbClr val="22222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Autonomous</a:t>
            </a:r>
          </a:p>
        </p:txBody>
      </p:sp>
      <p:sp>
        <p:nvSpPr>
          <p:cNvPr id="480" name="Rectangle"/>
          <p:cNvSpPr/>
          <p:nvPr/>
        </p:nvSpPr>
        <p:spPr>
          <a:xfrm>
            <a:off x="1436276" y="8920722"/>
            <a:ext cx="2652384" cy="2157427"/>
          </a:xfrm>
          <a:prstGeom prst="rect">
            <a:avLst/>
          </a:prstGeom>
          <a:solidFill>
            <a:srgbClr val="FEFFFF"/>
          </a:solidFill>
          <a:ln w="12700">
            <a:miter lim="400000"/>
          </a:ln>
          <a:effectLst>
            <a:outerShdw blurRad="1270000" dist="508000" dir="5400000" rotWithShape="0">
              <a:srgbClr val="000000">
                <a:alpha val="12991"/>
              </a:srgbClr>
            </a:outerShdw>
          </a:effectLst>
        </p:spPr>
        <p:txBody>
          <a:bodyPr lIns="0" tIns="0" rIns="0" bIns="0" anchor="b"/>
          <a:lstStyle/>
          <a:p>
            <a:pPr defTabSz="1828660">
              <a:lnSpc>
                <a:spcPct val="130000"/>
              </a:lnSpc>
              <a:spcBef>
                <a:spcPts val="1200"/>
              </a:spcBef>
              <a:defRPr sz="3600">
                <a:solidFill>
                  <a:srgbClr val="F0F0F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81" name="Rectangle 42"/>
          <p:cNvSpPr/>
          <p:nvPr/>
        </p:nvSpPr>
        <p:spPr>
          <a:xfrm rot="5400000">
            <a:off x="2694067" y="7662930"/>
            <a:ext cx="136803" cy="2652385"/>
          </a:xfrm>
          <a:prstGeom prst="rect">
            <a:avLst/>
          </a:prstGeom>
          <a:solidFill>
            <a:srgbClr val="E0734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1828660">
              <a:lnSpc>
                <a:spcPct val="130000"/>
              </a:lnSpc>
              <a:spcBef>
                <a:spcPts val="1200"/>
              </a:spcBef>
              <a:defRPr sz="3600">
                <a:solidFill>
                  <a:srgbClr val="F0F0F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82" name="Customer NPS"/>
          <p:cNvSpPr txBox="1"/>
          <p:nvPr/>
        </p:nvSpPr>
        <p:spPr>
          <a:xfrm>
            <a:off x="1800691" y="9241755"/>
            <a:ext cx="1923555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algn="ctr" defTabSz="1244600">
              <a:spcBef>
                <a:spcPts val="1100"/>
              </a:spcBef>
              <a:defRPr sz="2000" b="1">
                <a:solidFill>
                  <a:srgbClr val="22222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Customer NPS</a:t>
            </a:r>
          </a:p>
        </p:txBody>
      </p:sp>
      <p:sp>
        <p:nvSpPr>
          <p:cNvPr id="483" name="Slower Delivery"/>
          <p:cNvSpPr txBox="1"/>
          <p:nvPr/>
        </p:nvSpPr>
        <p:spPr>
          <a:xfrm>
            <a:off x="2012324" y="10538629"/>
            <a:ext cx="1500288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algn="ctr" defTabSz="1828660">
              <a:spcBef>
                <a:spcPts val="0"/>
              </a:spcBef>
              <a:defRPr sz="1600">
                <a:solidFill>
                  <a:srgbClr val="222222">
                    <a:alpha val="70000"/>
                  </a:srgbClr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</a:lstStyle>
          <a:p>
            <a:r>
              <a:t>Slower Delivery</a:t>
            </a:r>
          </a:p>
        </p:txBody>
      </p:sp>
      <p:sp>
        <p:nvSpPr>
          <p:cNvPr id="484" name="-20%"/>
          <p:cNvSpPr txBox="1"/>
          <p:nvPr/>
        </p:nvSpPr>
        <p:spPr>
          <a:xfrm>
            <a:off x="1999400" y="9679885"/>
            <a:ext cx="1526136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1828636">
              <a:lnSpc>
                <a:spcPct val="80000"/>
              </a:lnSpc>
              <a:spcBef>
                <a:spcPts val="0"/>
              </a:spcBef>
              <a:defRPr sz="5000" b="1" spc="-138">
                <a:solidFill>
                  <a:srgbClr val="E07344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r>
              <a:t>-20%</a:t>
            </a:r>
          </a:p>
        </p:txBody>
      </p:sp>
      <p:sp>
        <p:nvSpPr>
          <p:cNvPr id="485" name="Rectangle"/>
          <p:cNvSpPr/>
          <p:nvPr/>
        </p:nvSpPr>
        <p:spPr>
          <a:xfrm>
            <a:off x="20740263" y="8920722"/>
            <a:ext cx="2652384" cy="2157427"/>
          </a:xfrm>
          <a:prstGeom prst="rect">
            <a:avLst/>
          </a:prstGeom>
          <a:solidFill>
            <a:srgbClr val="FEFFFF"/>
          </a:solidFill>
          <a:ln w="12700">
            <a:miter lim="400000"/>
          </a:ln>
          <a:effectLst>
            <a:outerShdw blurRad="1270000" dist="508000" dir="5400000" rotWithShape="0">
              <a:srgbClr val="000000">
                <a:alpha val="12991"/>
              </a:srgbClr>
            </a:outerShdw>
          </a:effectLst>
        </p:spPr>
        <p:txBody>
          <a:bodyPr lIns="0" tIns="0" rIns="0" bIns="0" anchor="b"/>
          <a:lstStyle/>
          <a:p>
            <a:pPr defTabSz="1828660">
              <a:lnSpc>
                <a:spcPct val="130000"/>
              </a:lnSpc>
              <a:spcBef>
                <a:spcPts val="1200"/>
              </a:spcBef>
              <a:defRPr sz="3600">
                <a:solidFill>
                  <a:srgbClr val="F0F0F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86" name="Rectangle 42"/>
          <p:cNvSpPr/>
          <p:nvPr/>
        </p:nvSpPr>
        <p:spPr>
          <a:xfrm rot="5400000">
            <a:off x="21998054" y="7662930"/>
            <a:ext cx="136803" cy="2652385"/>
          </a:xfrm>
          <a:prstGeom prst="rect">
            <a:avLst/>
          </a:prstGeom>
          <a:solidFill>
            <a:srgbClr val="50AA5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1828660">
              <a:lnSpc>
                <a:spcPct val="130000"/>
              </a:lnSpc>
              <a:spcBef>
                <a:spcPts val="1200"/>
              </a:spcBef>
              <a:defRPr sz="3600">
                <a:solidFill>
                  <a:srgbClr val="F0F0F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87" name="Customer NPS"/>
          <p:cNvSpPr txBox="1"/>
          <p:nvPr/>
        </p:nvSpPr>
        <p:spPr>
          <a:xfrm>
            <a:off x="21104678" y="9241755"/>
            <a:ext cx="1923555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algn="ctr" defTabSz="1244600">
              <a:spcBef>
                <a:spcPts val="1100"/>
              </a:spcBef>
              <a:defRPr sz="2000" b="1">
                <a:solidFill>
                  <a:srgbClr val="22222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dirty="0"/>
              <a:t>Customer NPS</a:t>
            </a:r>
          </a:p>
        </p:txBody>
      </p:sp>
      <p:sp>
        <p:nvSpPr>
          <p:cNvPr id="488" name="Faster Delivery"/>
          <p:cNvSpPr txBox="1"/>
          <p:nvPr/>
        </p:nvSpPr>
        <p:spPr>
          <a:xfrm>
            <a:off x="21339429" y="10538629"/>
            <a:ext cx="145405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algn="ctr" defTabSz="1828660">
              <a:spcBef>
                <a:spcPts val="0"/>
              </a:spcBef>
              <a:defRPr sz="1600">
                <a:solidFill>
                  <a:srgbClr val="222222">
                    <a:alpha val="70000"/>
                  </a:srgbClr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</a:lstStyle>
          <a:p>
            <a:r>
              <a:t>Faster Delivery</a:t>
            </a:r>
          </a:p>
        </p:txBody>
      </p:sp>
      <p:sp>
        <p:nvSpPr>
          <p:cNvPr id="489" name="+35%"/>
          <p:cNvSpPr txBox="1"/>
          <p:nvPr/>
        </p:nvSpPr>
        <p:spPr>
          <a:xfrm>
            <a:off x="21223703" y="9679885"/>
            <a:ext cx="1685505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1828636">
              <a:lnSpc>
                <a:spcPct val="80000"/>
              </a:lnSpc>
              <a:spcBef>
                <a:spcPts val="0"/>
              </a:spcBef>
              <a:defRPr sz="5000" b="1" spc="-138">
                <a:solidFill>
                  <a:srgbClr val="50AA5D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r>
              <a:t>+35%</a:t>
            </a:r>
          </a:p>
        </p:txBody>
      </p:sp>
      <p:grpSp>
        <p:nvGrpSpPr>
          <p:cNvPr id="495" name="Group"/>
          <p:cNvGrpSpPr/>
          <p:nvPr/>
        </p:nvGrpSpPr>
        <p:grpSpPr>
          <a:xfrm>
            <a:off x="14177819" y="11526278"/>
            <a:ext cx="2413813" cy="2370187"/>
            <a:chOff x="0" y="0"/>
            <a:chExt cx="2413811" cy="2370185"/>
          </a:xfrm>
        </p:grpSpPr>
        <p:sp>
          <p:nvSpPr>
            <p:cNvPr id="490" name="Rectangle"/>
            <p:cNvSpPr/>
            <p:nvPr/>
          </p:nvSpPr>
          <p:spPr>
            <a:xfrm>
              <a:off x="0" y="-1"/>
              <a:ext cx="2211424" cy="1743866"/>
            </a:xfrm>
            <a:prstGeom prst="rect">
              <a:avLst/>
            </a:prstGeom>
            <a:solidFill>
              <a:srgbClr val="FEFFFF"/>
            </a:solidFill>
            <a:ln w="12700" cap="flat">
              <a:noFill/>
              <a:miter lim="400000"/>
            </a:ln>
            <a:effectLst>
              <a:outerShdw blurRad="1270000" dist="508000" dir="5400000" rotWithShape="0">
                <a:srgbClr val="000000">
                  <a:alpha val="13000"/>
                </a:srgbClr>
              </a:outerShdw>
            </a:effectLst>
          </p:spPr>
          <p:txBody>
            <a:bodyPr wrap="square" lIns="0" tIns="0" rIns="0" bIns="0" numCol="1" anchor="b">
              <a:noAutofit/>
            </a:bodyPr>
            <a:lstStyle/>
            <a:p>
              <a:pPr defTabSz="1828660">
                <a:lnSpc>
                  <a:spcPct val="130000"/>
                </a:lnSpc>
                <a:spcBef>
                  <a:spcPts val="1200"/>
                </a:spcBef>
                <a:defRPr sz="3600">
                  <a:solidFill>
                    <a:srgbClr val="F0F0F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91" name="Rectangle 42"/>
            <p:cNvSpPr/>
            <p:nvPr/>
          </p:nvSpPr>
          <p:spPr>
            <a:xfrm rot="10800000">
              <a:off x="0" y="0"/>
              <a:ext cx="136803" cy="1743865"/>
            </a:xfrm>
            <a:prstGeom prst="rect">
              <a:avLst/>
            </a:prstGeom>
            <a:solidFill>
              <a:srgbClr val="CECDD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 defTabSz="1828660">
                <a:lnSpc>
                  <a:spcPct val="130000"/>
                </a:lnSpc>
                <a:spcBef>
                  <a:spcPts val="1200"/>
                </a:spcBef>
                <a:defRPr sz="3600">
                  <a:solidFill>
                    <a:srgbClr val="F0F0F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92" name="Cost Reduction"/>
            <p:cNvSpPr/>
            <p:nvPr/>
          </p:nvSpPr>
          <p:spPr>
            <a:xfrm>
              <a:off x="1143811" y="16107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algn="ctr" defTabSz="1244600">
                <a:spcBef>
                  <a:spcPts val="1100"/>
                </a:spcBef>
                <a:defRPr sz="1600" b="1">
                  <a:solidFill>
                    <a:srgbClr val="222222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t>Cost Reduction</a:t>
              </a:r>
            </a:p>
          </p:txBody>
        </p:sp>
        <p:sp>
          <p:nvSpPr>
            <p:cNvPr id="493" name="Open Savings…"/>
            <p:cNvSpPr/>
            <p:nvPr/>
          </p:nvSpPr>
          <p:spPr>
            <a:xfrm>
              <a:off x="1143811" y="1100185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/>
            <a:p>
              <a:pPr algn="ctr" defTabSz="1828660">
                <a:spcBef>
                  <a:spcPts val="0"/>
                </a:spcBef>
                <a:defRPr sz="1500">
                  <a:solidFill>
                    <a:srgbClr val="222222">
                      <a:alpha val="70000"/>
                    </a:srgbClr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r>
                <a:t>Open Savings</a:t>
              </a:r>
            </a:p>
            <a:p>
              <a:pPr algn="ctr" defTabSz="1828660">
                <a:spcBef>
                  <a:spcPts val="0"/>
                </a:spcBef>
                <a:defRPr sz="1100">
                  <a:solidFill>
                    <a:srgbClr val="222222">
                      <a:alpha val="70000"/>
                    </a:srgbClr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r>
                <a:t>Streamlined Operations</a:t>
              </a:r>
            </a:p>
          </p:txBody>
        </p:sp>
        <p:sp>
          <p:nvSpPr>
            <p:cNvPr id="494" name="45%"/>
            <p:cNvSpPr/>
            <p:nvPr/>
          </p:nvSpPr>
          <p:spPr>
            <a:xfrm>
              <a:off x="1143811" y="836514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 defTabSz="1828636">
                <a:lnSpc>
                  <a:spcPct val="80000"/>
                </a:lnSpc>
                <a:spcBef>
                  <a:spcPts val="0"/>
                </a:spcBef>
                <a:defRPr sz="3500" b="1" spc="-97">
                  <a:solidFill>
                    <a:srgbClr val="222222"/>
                  </a:solidFill>
                  <a:latin typeface="Montserrat Bold"/>
                  <a:ea typeface="Montserrat Bold"/>
                  <a:cs typeface="Montserrat Bold"/>
                  <a:sym typeface="Montserrat Bold"/>
                </a:defRPr>
              </a:lvl1pPr>
            </a:lstStyle>
            <a:p>
              <a:r>
                <a:t>45%</a:t>
              </a:r>
            </a:p>
          </p:txBody>
        </p:sp>
      </p:grpSp>
      <p:grpSp>
        <p:nvGrpSpPr>
          <p:cNvPr id="501" name="Group"/>
          <p:cNvGrpSpPr/>
          <p:nvPr/>
        </p:nvGrpSpPr>
        <p:grpSpPr>
          <a:xfrm>
            <a:off x="16507123" y="11526277"/>
            <a:ext cx="2451913" cy="2352407"/>
            <a:chOff x="0" y="0"/>
            <a:chExt cx="2451911" cy="2352406"/>
          </a:xfrm>
        </p:grpSpPr>
        <p:sp>
          <p:nvSpPr>
            <p:cNvPr id="496" name="Rectangle"/>
            <p:cNvSpPr/>
            <p:nvPr/>
          </p:nvSpPr>
          <p:spPr>
            <a:xfrm>
              <a:off x="0" y="-1"/>
              <a:ext cx="2211424" cy="1743866"/>
            </a:xfrm>
            <a:prstGeom prst="rect">
              <a:avLst/>
            </a:prstGeom>
            <a:solidFill>
              <a:srgbClr val="FEFFFF"/>
            </a:solidFill>
            <a:ln w="12700" cap="flat">
              <a:noFill/>
              <a:miter lim="400000"/>
            </a:ln>
            <a:effectLst>
              <a:outerShdw blurRad="1270000" dist="508000" dir="5400000" rotWithShape="0">
                <a:srgbClr val="000000">
                  <a:alpha val="13000"/>
                </a:srgbClr>
              </a:outerShdw>
            </a:effectLst>
          </p:spPr>
          <p:txBody>
            <a:bodyPr wrap="square" lIns="0" tIns="0" rIns="0" bIns="0" numCol="1" anchor="b">
              <a:noAutofit/>
            </a:bodyPr>
            <a:lstStyle/>
            <a:p>
              <a:pPr defTabSz="1828660">
                <a:lnSpc>
                  <a:spcPct val="130000"/>
                </a:lnSpc>
                <a:spcBef>
                  <a:spcPts val="1200"/>
                </a:spcBef>
                <a:defRPr sz="3600">
                  <a:solidFill>
                    <a:srgbClr val="F0F0F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97" name="Rectangle 42"/>
            <p:cNvSpPr/>
            <p:nvPr/>
          </p:nvSpPr>
          <p:spPr>
            <a:xfrm rot="10800000">
              <a:off x="0" y="0"/>
              <a:ext cx="136803" cy="1743865"/>
            </a:xfrm>
            <a:prstGeom prst="rect">
              <a:avLst/>
            </a:prstGeom>
            <a:solidFill>
              <a:srgbClr val="CECDD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 defTabSz="1828660">
                <a:lnSpc>
                  <a:spcPct val="130000"/>
                </a:lnSpc>
                <a:spcBef>
                  <a:spcPts val="1200"/>
                </a:spcBef>
                <a:defRPr sz="3600">
                  <a:solidFill>
                    <a:srgbClr val="F0F0F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98" name="Faster Execution"/>
            <p:cNvSpPr/>
            <p:nvPr/>
          </p:nvSpPr>
          <p:spPr>
            <a:xfrm>
              <a:off x="1181911" y="130599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algn="ctr" defTabSz="1244600">
                <a:spcBef>
                  <a:spcPts val="1100"/>
                </a:spcBef>
                <a:defRPr sz="1600" b="1">
                  <a:solidFill>
                    <a:srgbClr val="222222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t>Faster Execution</a:t>
              </a:r>
            </a:p>
          </p:txBody>
        </p:sp>
        <p:sp>
          <p:nvSpPr>
            <p:cNvPr id="499" name="Decision to Action…"/>
            <p:cNvSpPr/>
            <p:nvPr/>
          </p:nvSpPr>
          <p:spPr>
            <a:xfrm>
              <a:off x="1181911" y="1082406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/>
            <a:p>
              <a:pPr algn="ctr" defTabSz="1828660">
                <a:spcBef>
                  <a:spcPts val="0"/>
                </a:spcBef>
                <a:defRPr sz="1500">
                  <a:solidFill>
                    <a:srgbClr val="222222">
                      <a:alpha val="70000"/>
                    </a:srgbClr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r>
                <a:t>Decision to Action</a:t>
              </a:r>
            </a:p>
            <a:p>
              <a:pPr algn="ctr" defTabSz="1828660">
                <a:spcBef>
                  <a:spcPts val="0"/>
                </a:spcBef>
                <a:defRPr sz="1100">
                  <a:solidFill>
                    <a:srgbClr val="222222">
                      <a:alpha val="70000"/>
                    </a:srgbClr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r>
                <a:t>Accelerated Workflows</a:t>
              </a:r>
            </a:p>
          </p:txBody>
        </p:sp>
        <p:sp>
          <p:nvSpPr>
            <p:cNvPr id="500" name="76%"/>
            <p:cNvSpPr/>
            <p:nvPr/>
          </p:nvSpPr>
          <p:spPr>
            <a:xfrm>
              <a:off x="1181911" y="806034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 defTabSz="1828636">
                <a:lnSpc>
                  <a:spcPct val="80000"/>
                </a:lnSpc>
                <a:spcBef>
                  <a:spcPts val="0"/>
                </a:spcBef>
                <a:defRPr sz="3500" b="1" spc="-97">
                  <a:solidFill>
                    <a:srgbClr val="222222"/>
                  </a:solidFill>
                  <a:latin typeface="Montserrat Bold"/>
                  <a:ea typeface="Montserrat Bold"/>
                  <a:cs typeface="Montserrat Bold"/>
                  <a:sym typeface="Montserrat Bold"/>
                </a:defRPr>
              </a:lvl1pPr>
            </a:lstStyle>
            <a:p>
              <a:r>
                <a:t>76%</a:t>
              </a:r>
            </a:p>
          </p:txBody>
        </p:sp>
      </p:grpSp>
      <p:grpSp>
        <p:nvGrpSpPr>
          <p:cNvPr id="507" name="Group"/>
          <p:cNvGrpSpPr/>
          <p:nvPr/>
        </p:nvGrpSpPr>
        <p:grpSpPr>
          <a:xfrm>
            <a:off x="18836428" y="11526277"/>
            <a:ext cx="2426513" cy="2365107"/>
            <a:chOff x="0" y="0"/>
            <a:chExt cx="2426511" cy="2365106"/>
          </a:xfrm>
        </p:grpSpPr>
        <p:sp>
          <p:nvSpPr>
            <p:cNvPr id="502" name="Rectangle"/>
            <p:cNvSpPr/>
            <p:nvPr/>
          </p:nvSpPr>
          <p:spPr>
            <a:xfrm>
              <a:off x="0" y="-1"/>
              <a:ext cx="2211424" cy="1743866"/>
            </a:xfrm>
            <a:prstGeom prst="rect">
              <a:avLst/>
            </a:prstGeom>
            <a:solidFill>
              <a:srgbClr val="FEFFFF"/>
            </a:solidFill>
            <a:ln w="12700" cap="flat">
              <a:noFill/>
              <a:miter lim="400000"/>
            </a:ln>
            <a:effectLst>
              <a:outerShdw blurRad="1270000" dist="508000" dir="5400000" rotWithShape="0">
                <a:srgbClr val="000000">
                  <a:alpha val="13000"/>
                </a:srgbClr>
              </a:outerShdw>
            </a:effectLst>
          </p:spPr>
          <p:txBody>
            <a:bodyPr wrap="square" lIns="0" tIns="0" rIns="0" bIns="0" numCol="1" anchor="b">
              <a:noAutofit/>
            </a:bodyPr>
            <a:lstStyle/>
            <a:p>
              <a:pPr defTabSz="1828660">
                <a:lnSpc>
                  <a:spcPct val="130000"/>
                </a:lnSpc>
                <a:spcBef>
                  <a:spcPts val="1200"/>
                </a:spcBef>
                <a:defRPr sz="3600">
                  <a:solidFill>
                    <a:srgbClr val="F0F0F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03" name="Rectangle 42"/>
            <p:cNvSpPr/>
            <p:nvPr/>
          </p:nvSpPr>
          <p:spPr>
            <a:xfrm rot="10800000">
              <a:off x="0" y="0"/>
              <a:ext cx="136803" cy="1743865"/>
            </a:xfrm>
            <a:prstGeom prst="rect">
              <a:avLst/>
            </a:prstGeom>
            <a:solidFill>
              <a:srgbClr val="CECDD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 defTabSz="1828660">
                <a:lnSpc>
                  <a:spcPct val="130000"/>
                </a:lnSpc>
                <a:spcBef>
                  <a:spcPts val="1200"/>
                </a:spcBef>
                <a:defRPr sz="3600">
                  <a:solidFill>
                    <a:srgbClr val="F0F0F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04" name="Productivity Gain"/>
            <p:cNvSpPr/>
            <p:nvPr/>
          </p:nvSpPr>
          <p:spPr>
            <a:xfrm>
              <a:off x="1156511" y="130599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algn="ctr" defTabSz="1244600">
                <a:spcBef>
                  <a:spcPts val="1100"/>
                </a:spcBef>
                <a:defRPr sz="1600" b="1">
                  <a:solidFill>
                    <a:srgbClr val="222222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t>Productivity Gain</a:t>
              </a:r>
            </a:p>
          </p:txBody>
        </p:sp>
        <p:sp>
          <p:nvSpPr>
            <p:cNvPr id="505" name="Per Knowledge Worker…"/>
            <p:cNvSpPr/>
            <p:nvPr/>
          </p:nvSpPr>
          <p:spPr>
            <a:xfrm>
              <a:off x="1156511" y="1095106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/>
            <a:p>
              <a:pPr algn="ctr" defTabSz="1828660">
                <a:spcBef>
                  <a:spcPts val="0"/>
                </a:spcBef>
                <a:defRPr sz="1400">
                  <a:solidFill>
                    <a:srgbClr val="222222">
                      <a:alpha val="70000"/>
                    </a:srgbClr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r>
                <a:t>Per Knowledge Worker</a:t>
              </a:r>
            </a:p>
            <a:p>
              <a:pPr algn="ctr" defTabSz="1828660">
                <a:spcBef>
                  <a:spcPts val="0"/>
                </a:spcBef>
                <a:defRPr sz="1100">
                  <a:solidFill>
                    <a:srgbClr val="222222">
                      <a:alpha val="70000"/>
                    </a:srgbClr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r>
                <a:t>AI-Augmented Teams</a:t>
              </a:r>
            </a:p>
          </p:txBody>
        </p:sp>
        <p:sp>
          <p:nvSpPr>
            <p:cNvPr id="506" name="8X"/>
            <p:cNvSpPr/>
            <p:nvPr/>
          </p:nvSpPr>
          <p:spPr>
            <a:xfrm>
              <a:off x="1156511" y="806034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 defTabSz="1828636">
                <a:lnSpc>
                  <a:spcPct val="80000"/>
                </a:lnSpc>
                <a:spcBef>
                  <a:spcPts val="0"/>
                </a:spcBef>
                <a:defRPr sz="3500" b="1" spc="-97">
                  <a:solidFill>
                    <a:srgbClr val="222222"/>
                  </a:solidFill>
                  <a:latin typeface="Montserrat Bold"/>
                  <a:ea typeface="Montserrat Bold"/>
                  <a:cs typeface="Montserrat Bold"/>
                  <a:sym typeface="Montserrat Bold"/>
                </a:defRPr>
              </a:lvl1pPr>
            </a:lstStyle>
            <a:p>
              <a:r>
                <a:t>8X</a:t>
              </a:r>
            </a:p>
          </p:txBody>
        </p:sp>
      </p:grpSp>
      <p:grpSp>
        <p:nvGrpSpPr>
          <p:cNvPr id="513" name="Group"/>
          <p:cNvGrpSpPr/>
          <p:nvPr/>
        </p:nvGrpSpPr>
        <p:grpSpPr>
          <a:xfrm>
            <a:off x="21165732" y="11526277"/>
            <a:ext cx="2467963" cy="2301607"/>
            <a:chOff x="0" y="0"/>
            <a:chExt cx="2467962" cy="2301606"/>
          </a:xfrm>
        </p:grpSpPr>
        <p:sp>
          <p:nvSpPr>
            <p:cNvPr id="508" name="Rectangle"/>
            <p:cNvSpPr/>
            <p:nvPr/>
          </p:nvSpPr>
          <p:spPr>
            <a:xfrm>
              <a:off x="0" y="-1"/>
              <a:ext cx="2211424" cy="1743866"/>
            </a:xfrm>
            <a:prstGeom prst="rect">
              <a:avLst/>
            </a:prstGeom>
            <a:solidFill>
              <a:srgbClr val="FEFFFF"/>
            </a:solidFill>
            <a:ln w="12700" cap="flat">
              <a:noFill/>
              <a:miter lim="400000"/>
            </a:ln>
            <a:effectLst>
              <a:outerShdw blurRad="1270000" dist="508000" dir="5400000" rotWithShape="0">
                <a:srgbClr val="000000">
                  <a:alpha val="13000"/>
                </a:srgbClr>
              </a:outerShdw>
            </a:effectLst>
          </p:spPr>
          <p:txBody>
            <a:bodyPr wrap="square" lIns="0" tIns="0" rIns="0" bIns="0" numCol="1" anchor="b">
              <a:noAutofit/>
            </a:bodyPr>
            <a:lstStyle/>
            <a:p>
              <a:pPr defTabSz="1828660">
                <a:lnSpc>
                  <a:spcPct val="130000"/>
                </a:lnSpc>
                <a:spcBef>
                  <a:spcPts val="1200"/>
                </a:spcBef>
                <a:defRPr sz="3600">
                  <a:solidFill>
                    <a:srgbClr val="F0F0F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09" name="Rectangle 42"/>
            <p:cNvSpPr/>
            <p:nvPr/>
          </p:nvSpPr>
          <p:spPr>
            <a:xfrm rot="10800000">
              <a:off x="0" y="0"/>
              <a:ext cx="136803" cy="1743865"/>
            </a:xfrm>
            <a:prstGeom prst="rect">
              <a:avLst/>
            </a:prstGeom>
            <a:solidFill>
              <a:srgbClr val="CECDD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 defTabSz="1828660">
                <a:lnSpc>
                  <a:spcPct val="130000"/>
                </a:lnSpc>
                <a:spcBef>
                  <a:spcPts val="1200"/>
                </a:spcBef>
                <a:defRPr sz="3600">
                  <a:solidFill>
                    <a:srgbClr val="F0F0F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10" name="Data Accuracy"/>
            <p:cNvSpPr/>
            <p:nvPr/>
          </p:nvSpPr>
          <p:spPr>
            <a:xfrm>
              <a:off x="1197962" y="130599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algn="ctr" defTabSz="1244600">
                <a:spcBef>
                  <a:spcPts val="1100"/>
                </a:spcBef>
                <a:defRPr sz="1600" b="1">
                  <a:solidFill>
                    <a:srgbClr val="222222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t>Data Accuracy</a:t>
              </a:r>
            </a:p>
          </p:txBody>
        </p:sp>
        <p:sp>
          <p:nvSpPr>
            <p:cNvPr id="511" name="Real-Time Sync…"/>
            <p:cNvSpPr/>
            <p:nvPr/>
          </p:nvSpPr>
          <p:spPr>
            <a:xfrm>
              <a:off x="1197962" y="1031606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/>
            <a:p>
              <a:pPr algn="ctr" defTabSz="1828660">
                <a:spcBef>
                  <a:spcPts val="0"/>
                </a:spcBef>
                <a:defRPr sz="1500">
                  <a:solidFill>
                    <a:srgbClr val="222222">
                      <a:alpha val="70000"/>
                    </a:srgbClr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r>
                <a:t>Real-Time Sync</a:t>
              </a:r>
            </a:p>
            <a:p>
              <a:pPr algn="ctr" defTabSz="1828660">
                <a:spcBef>
                  <a:spcPts val="0"/>
                </a:spcBef>
                <a:defRPr sz="1100">
                  <a:solidFill>
                    <a:srgbClr val="222222">
                      <a:alpha val="70000"/>
                    </a:srgbClr>
                  </a:solidFill>
                  <a:latin typeface="Open Sans Light"/>
                  <a:ea typeface="Open Sans Light"/>
                  <a:cs typeface="Open Sans Light"/>
                  <a:sym typeface="Open Sans Light"/>
                </a:defRPr>
              </a:pPr>
              <a:r>
                <a:t>Enterprise-Wide Consistency</a:t>
              </a:r>
            </a:p>
          </p:txBody>
        </p:sp>
        <p:sp>
          <p:nvSpPr>
            <p:cNvPr id="512" name="99%"/>
            <p:cNvSpPr/>
            <p:nvPr/>
          </p:nvSpPr>
          <p:spPr>
            <a:xfrm>
              <a:off x="1197962" y="806034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 defTabSz="1828636">
                <a:lnSpc>
                  <a:spcPct val="80000"/>
                </a:lnSpc>
                <a:spcBef>
                  <a:spcPts val="0"/>
                </a:spcBef>
                <a:defRPr sz="3500" b="1" spc="-97">
                  <a:solidFill>
                    <a:srgbClr val="222222"/>
                  </a:solidFill>
                  <a:latin typeface="Montserrat Bold"/>
                  <a:ea typeface="Montserrat Bold"/>
                  <a:cs typeface="Montserrat Bold"/>
                  <a:sym typeface="Montserrat Bold"/>
                </a:defRPr>
              </a:lvl1pPr>
            </a:lstStyle>
            <a:p>
              <a:r>
                <a:t>99%</a:t>
              </a:r>
            </a:p>
          </p:txBody>
        </p:sp>
      </p:grpSp>
      <p:pic>
        <p:nvPicPr>
          <p:cNvPr id="514" name="Icon.png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71413" y="508000"/>
            <a:ext cx="804588" cy="8255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3AC1267-E0CB-C9A1-F9E0-39E2E2A7510A}"/>
              </a:ext>
            </a:extLst>
          </p:cNvPr>
          <p:cNvSpPr txBox="1"/>
          <p:nvPr/>
        </p:nvSpPr>
        <p:spPr>
          <a:xfrm>
            <a:off x="1107354" y="13183257"/>
            <a:ext cx="12331700" cy="2585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Metrics based on observed enterprise transformations across telecom, utilities, and field-service environments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122">
            <a:extLst>
              <a:ext uri="{FF2B5EF4-FFF2-40B4-BE49-F238E27FC236}">
                <a16:creationId xmlns:a16="http://schemas.microsoft.com/office/drawing/2014/main" id="{319E3F7D-2066-08E2-9B7C-DFAE0D7590C0}"/>
              </a:ext>
            </a:extLst>
          </p:cNvPr>
          <p:cNvSpPr/>
          <p:nvPr/>
        </p:nvSpPr>
        <p:spPr>
          <a:xfrm>
            <a:off x="10789918" y="10542016"/>
            <a:ext cx="12527280" cy="288950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endParaRPr lang="en-US" sz="3600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3762" y="421423"/>
            <a:ext cx="23409912" cy="1095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r>
              <a:rPr lang="en-US" sz="3600" kern="1200" dirty="0">
                <a:solidFill>
                  <a:srgbClr val="4472C4"/>
                </a:solidFill>
                <a:latin typeface="Abadi" panose="020B0604020104020204" pitchFamily="34" charset="77"/>
                <a:ea typeface="Calibri" pitchFamily="34" charset="-122"/>
                <a:cs typeface="Calibri" pitchFamily="34" charset="-120"/>
              </a:rPr>
              <a:t> </a:t>
            </a:r>
          </a:p>
          <a:p>
            <a:pPr defTabSz="1828636">
              <a:lnSpc>
                <a:spcPct val="80000"/>
              </a:lnSpc>
              <a:spcBef>
                <a:spcPts val="0"/>
              </a:spcBef>
            </a:pPr>
            <a:r>
              <a:rPr lang="en-US" sz="6500" b="1" spc="-180" dirty="0">
                <a:solidFill>
                  <a:srgbClr val="222222"/>
                </a:solidFill>
                <a:latin typeface="Montserrat Bold"/>
                <a:sym typeface="Montserrat Bold"/>
              </a:rPr>
              <a:t>The Agentic Execution Plane for Enterprise</a:t>
            </a:r>
          </a:p>
        </p:txBody>
      </p:sp>
      <p:sp>
        <p:nvSpPr>
          <p:cNvPr id="9" name="Shape 7"/>
          <p:cNvSpPr/>
          <p:nvPr/>
        </p:nvSpPr>
        <p:spPr>
          <a:xfrm>
            <a:off x="1005840" y="2021840"/>
            <a:ext cx="22311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endParaRPr lang="en-US" sz="3600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67428" y="27899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r>
              <a:rPr lang="en-US" sz="3200" b="1" spc="400" dirty="0">
                <a:solidFill>
                  <a:srgbClr val="ED7D31"/>
                </a:solidFill>
                <a:latin typeface="Abadi" panose="020B0604020104020204" pitchFamily="34" charset="77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b="1" kern="1200" dirty="0">
              <a:solidFill>
                <a:srgbClr val="ED7D31"/>
              </a:solidFill>
              <a:latin typeface="Abadi" panose="020B0604020104020204" pitchFamily="34" charset="7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05840" y="3173984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r>
              <a:rPr lang="en-US" sz="2400" kern="1200" dirty="0">
                <a:solidFill>
                  <a:srgbClr val="1E293B"/>
                </a:solidFill>
                <a:latin typeface="Abadi ExtraLight" panose="020B0204020104020204" pitchFamily="34" charset="77"/>
                <a:ea typeface="Georgia" pitchFamily="34" charset="-122"/>
                <a:cs typeface="Georgia" pitchFamily="34" charset="-120"/>
              </a:rPr>
              <a:t>Enterprises Run on Broken Paradigms</a:t>
            </a:r>
            <a:endParaRPr lang="en-US" sz="2400" kern="1200" dirty="0">
              <a:solidFill>
                <a:prstClr val="black"/>
              </a:solidFill>
              <a:latin typeface="Abadi ExtraLight" panose="020B0204020104020204" pitchFamily="34" charset="7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005839" y="3974863"/>
            <a:ext cx="4480562" cy="156417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endParaRPr lang="en-US" sz="3600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05839" y="3974863"/>
            <a:ext cx="91438" cy="1577078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endParaRPr lang="en-US" sz="3600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261872" y="4157744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FFE4E6"/>
          </a:solidFill>
          <a:ln/>
        </p:spPr>
        <p:txBody>
          <a:bodyPr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endParaRPr lang="en-US" sz="3600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920240" y="40845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r>
              <a:rPr lang="en-US" sz="2800" b="1" kern="1200" dirty="0">
                <a:solidFill>
                  <a:srgbClr val="C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130+</a:t>
            </a:r>
            <a:endParaRPr lang="en-US" sz="2800" kern="1200" dirty="0">
              <a:solidFill>
                <a:srgbClr val="C00000"/>
              </a:solidFill>
              <a:latin typeface="Calibri" panose="020F0502020204030204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3158372" y="4198112"/>
            <a:ext cx="2560320" cy="469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r>
              <a:rPr lang="en-US" sz="2400" kern="1200" dirty="0">
                <a:solidFill>
                  <a:prstClr val="black">
                    <a:lumMod val="50000"/>
                    <a:lumOff val="50000"/>
                  </a:prstClr>
                </a:solidFill>
                <a:latin typeface="Abadi ExtraLight" panose="020B0204020104020204" pitchFamily="34" charset="77"/>
                <a:ea typeface="Calibri" pitchFamily="34" charset="-122"/>
                <a:cs typeface="Calibri" pitchFamily="34" charset="-120"/>
              </a:rPr>
              <a:t>Apps per Company</a:t>
            </a:r>
            <a:endParaRPr lang="en-US" sz="2400" kern="1200" dirty="0">
              <a:solidFill>
                <a:prstClr val="black">
                  <a:lumMod val="50000"/>
                  <a:lumOff val="50000"/>
                </a:prstClr>
              </a:solidFill>
              <a:latin typeface="Abadi ExtraLight" panose="020B0204020104020204" pitchFamily="34" charset="77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1920240" y="4688096"/>
            <a:ext cx="338328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endParaRPr lang="en-US" sz="3600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920240" y="4706384"/>
            <a:ext cx="3383280" cy="759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r>
              <a:rPr lang="en-US" sz="2000" kern="1200" dirty="0">
                <a:solidFill>
                  <a:srgbClr val="475569"/>
                </a:solidFill>
                <a:latin typeface="Abadi ExtraLight" panose="020B0204020104020204" pitchFamily="34" charset="77"/>
                <a:ea typeface="Calibri" pitchFamily="34" charset="-122"/>
                <a:cs typeface="Calibri" pitchFamily="34" charset="-120"/>
              </a:rPr>
              <a:t>Siloed ITSM, PMO, FSM &amp; EAM with zero cross-functional visibility</a:t>
            </a:r>
            <a:endParaRPr lang="en-US" sz="2000" kern="1200" dirty="0">
              <a:solidFill>
                <a:prstClr val="black"/>
              </a:solidFill>
              <a:latin typeface="Abadi ExtraLight" panose="020B0204020104020204" pitchFamily="34" charset="77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760719" y="3987764"/>
            <a:ext cx="4736594" cy="156417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endParaRPr lang="en-US" sz="3600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0"/>
          <p:cNvSpPr/>
          <p:nvPr/>
        </p:nvSpPr>
        <p:spPr>
          <a:xfrm flipH="1">
            <a:off x="5779009" y="4024802"/>
            <a:ext cx="91438" cy="1527588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endParaRPr lang="en-US" sz="3600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6016752" y="4157744"/>
            <a:ext cx="512064" cy="512064"/>
          </a:xfrm>
          <a:prstGeom prst="roundRect">
            <a:avLst>
              <a:gd name="adj" fmla="val 21429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endParaRPr lang="en-US" sz="3600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6675120" y="40845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r>
              <a:rPr lang="en-US" sz="2800" b="1" kern="1200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2800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8599061" y="4298248"/>
            <a:ext cx="1783074" cy="28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r>
              <a:rPr lang="en-US" sz="2400" kern="1200" dirty="0">
                <a:solidFill>
                  <a:prstClr val="black">
                    <a:lumMod val="50000"/>
                    <a:lumOff val="50000"/>
                  </a:prstClr>
                </a:solidFill>
                <a:latin typeface="Abadi ExtraLight" panose="020B0204020104020204" pitchFamily="34" charset="77"/>
                <a:cs typeface="Calibri" pitchFamily="34" charset="-120"/>
              </a:rPr>
              <a:t>Time Wasted</a:t>
            </a:r>
          </a:p>
        </p:txBody>
      </p:sp>
      <p:sp>
        <p:nvSpPr>
          <p:cNvPr id="28" name="Shape 24"/>
          <p:cNvSpPr/>
          <p:nvPr/>
        </p:nvSpPr>
        <p:spPr>
          <a:xfrm>
            <a:off x="6675120" y="4688096"/>
            <a:ext cx="338328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endParaRPr lang="en-US" sz="3600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6675120" y="4706384"/>
            <a:ext cx="3383280" cy="759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r>
              <a:rPr lang="en-US" sz="2000" kern="1200" dirty="0">
                <a:solidFill>
                  <a:srgbClr val="475569"/>
                </a:solidFill>
                <a:latin typeface="Abadi ExtraLight" panose="020B0204020104020204" pitchFamily="34" charset="77"/>
                <a:cs typeface="Calibri" pitchFamily="34" charset="-120"/>
              </a:rPr>
              <a:t>Poor physical-to-digital integration, broken workflows</a:t>
            </a:r>
          </a:p>
        </p:txBody>
      </p:sp>
      <p:sp>
        <p:nvSpPr>
          <p:cNvPr id="30" name="Shape 26"/>
          <p:cNvSpPr/>
          <p:nvPr/>
        </p:nvSpPr>
        <p:spPr>
          <a:xfrm>
            <a:off x="1005840" y="5904799"/>
            <a:ext cx="4480560" cy="155553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endParaRPr lang="en-US" sz="3600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28"/>
          <p:cNvSpPr/>
          <p:nvPr/>
        </p:nvSpPr>
        <p:spPr>
          <a:xfrm>
            <a:off x="1261872" y="6087680"/>
            <a:ext cx="512064" cy="512064"/>
          </a:xfrm>
          <a:prstGeom prst="roundRect">
            <a:avLst>
              <a:gd name="adj" fmla="val 21429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endParaRPr lang="en-US" sz="3600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29"/>
          <p:cNvSpPr/>
          <p:nvPr/>
        </p:nvSpPr>
        <p:spPr>
          <a:xfrm>
            <a:off x="1920240" y="60145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r>
              <a:rPr lang="en-US" sz="2800" b="1" kern="1200" dirty="0">
                <a:solidFill>
                  <a:srgbClr val="EA580C"/>
                </a:solidFill>
                <a:latin typeface="Georgia" pitchFamily="34" charset="0"/>
              </a:rPr>
              <a:t>6–12 mo</a:t>
            </a:r>
          </a:p>
        </p:txBody>
      </p:sp>
      <p:sp>
        <p:nvSpPr>
          <p:cNvPr id="35" name="Text 30"/>
          <p:cNvSpPr/>
          <p:nvPr/>
        </p:nvSpPr>
        <p:spPr>
          <a:xfrm>
            <a:off x="3711390" y="6087681"/>
            <a:ext cx="2103120" cy="595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r>
              <a:rPr lang="en-US" sz="2400" kern="1200" dirty="0">
                <a:solidFill>
                  <a:prstClr val="black">
                    <a:lumMod val="50000"/>
                    <a:lumOff val="50000"/>
                  </a:prstClr>
                </a:solidFill>
                <a:latin typeface="Abadi ExtraLight" panose="020B0204020104020204" pitchFamily="34" charset="77"/>
                <a:cs typeface="Calibri" pitchFamily="34" charset="-120"/>
              </a:rPr>
              <a:t>Deploy Cycles</a:t>
            </a:r>
          </a:p>
        </p:txBody>
      </p:sp>
      <p:sp>
        <p:nvSpPr>
          <p:cNvPr id="36" name="Shape 31"/>
          <p:cNvSpPr/>
          <p:nvPr/>
        </p:nvSpPr>
        <p:spPr>
          <a:xfrm>
            <a:off x="1920240" y="6618032"/>
            <a:ext cx="338328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endParaRPr lang="en-US" sz="3600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2"/>
          <p:cNvSpPr/>
          <p:nvPr/>
        </p:nvSpPr>
        <p:spPr>
          <a:xfrm>
            <a:off x="1928038" y="6724523"/>
            <a:ext cx="3566160" cy="71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r>
              <a:rPr lang="en-US" sz="2000" kern="1200" dirty="0">
                <a:solidFill>
                  <a:srgbClr val="475569"/>
                </a:solidFill>
                <a:latin typeface="Abadi ExtraLight" panose="020B0204020104020204" pitchFamily="34" charset="77"/>
                <a:cs typeface="Calibri" pitchFamily="34" charset="-120"/>
              </a:rPr>
              <a:t>Slow &amp; expensive customization</a:t>
            </a:r>
          </a:p>
        </p:txBody>
      </p:sp>
      <p:sp>
        <p:nvSpPr>
          <p:cNvPr id="38" name="Shape 33"/>
          <p:cNvSpPr/>
          <p:nvPr/>
        </p:nvSpPr>
        <p:spPr>
          <a:xfrm>
            <a:off x="5760719" y="5904799"/>
            <a:ext cx="4645154" cy="160233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endParaRPr lang="en-US" sz="3600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Shape 35"/>
          <p:cNvSpPr/>
          <p:nvPr/>
        </p:nvSpPr>
        <p:spPr>
          <a:xfrm>
            <a:off x="6016752" y="608768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FFE4E6"/>
          </a:solidFill>
          <a:ln/>
        </p:spPr>
        <p:txBody>
          <a:bodyPr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endParaRPr lang="en-US" sz="3600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36"/>
          <p:cNvSpPr/>
          <p:nvPr/>
        </p:nvSpPr>
        <p:spPr>
          <a:xfrm>
            <a:off x="6675120" y="60145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r>
              <a:rPr lang="en-US" sz="2800" b="1" kern="1200" dirty="0">
                <a:solidFill>
                  <a:srgbClr val="C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</a:t>
            </a:r>
            <a:r>
              <a:rPr lang="en-US" sz="2800" b="1" kern="1200" dirty="0">
                <a:solidFill>
                  <a:srgbClr val="C00000"/>
                </a:solidFill>
                <a:latin typeface="Georgia" pitchFamily="34" charset="0"/>
              </a:rPr>
              <a:t>10%</a:t>
            </a:r>
          </a:p>
        </p:txBody>
      </p:sp>
      <p:sp>
        <p:nvSpPr>
          <p:cNvPr id="43" name="Text 37"/>
          <p:cNvSpPr/>
          <p:nvPr/>
        </p:nvSpPr>
        <p:spPr>
          <a:xfrm>
            <a:off x="8665650" y="5939121"/>
            <a:ext cx="1747580" cy="581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r>
              <a:rPr lang="en-US" sz="2400" kern="1200" dirty="0">
                <a:solidFill>
                  <a:prstClr val="black">
                    <a:lumMod val="50000"/>
                    <a:lumOff val="50000"/>
                  </a:prstClr>
                </a:solidFill>
                <a:latin typeface="Abadi ExtraLight" panose="020B0204020104020204" pitchFamily="34" charset="77"/>
                <a:cs typeface="Calibri" pitchFamily="34" charset="-120"/>
              </a:rPr>
              <a:t> Automation</a:t>
            </a:r>
          </a:p>
        </p:txBody>
      </p:sp>
      <p:sp>
        <p:nvSpPr>
          <p:cNvPr id="44" name="Shape 38"/>
          <p:cNvSpPr/>
          <p:nvPr/>
        </p:nvSpPr>
        <p:spPr>
          <a:xfrm>
            <a:off x="6675120" y="6618032"/>
            <a:ext cx="338328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endParaRPr lang="en-US" sz="3600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39"/>
          <p:cNvSpPr/>
          <p:nvPr/>
        </p:nvSpPr>
        <p:spPr>
          <a:xfrm>
            <a:off x="6675120" y="6636319"/>
            <a:ext cx="3383280" cy="694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r>
              <a:rPr lang="en-US" sz="2000" kern="1200" dirty="0">
                <a:solidFill>
                  <a:srgbClr val="475569"/>
                </a:solidFill>
                <a:latin typeface="Abadi ExtraLight" panose="020B0204020104020204" pitchFamily="34" charset="77"/>
                <a:cs typeface="Calibri" pitchFamily="34" charset="-120"/>
              </a:rPr>
              <a:t>Limited real-time visibility for countermeasures</a:t>
            </a:r>
          </a:p>
        </p:txBody>
      </p:sp>
      <p:sp>
        <p:nvSpPr>
          <p:cNvPr id="92" name="Text 80"/>
          <p:cNvSpPr/>
          <p:nvPr/>
        </p:nvSpPr>
        <p:spPr>
          <a:xfrm>
            <a:off x="10789918" y="28082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r>
              <a:rPr lang="en-US" sz="3200" b="1" spc="400" dirty="0">
                <a:solidFill>
                  <a:srgbClr val="3B82F6"/>
                </a:solidFill>
                <a:latin typeface="Abadi" panose="020B0604020104020204" pitchFamily="34" charset="77"/>
                <a:ea typeface="Calibri" pitchFamily="34" charset="-122"/>
                <a:cs typeface="Calibri" pitchFamily="34" charset="-120"/>
              </a:rPr>
              <a:t>THE SOLUTION</a:t>
            </a:r>
            <a:endParaRPr lang="en-US" sz="3200" b="1" kern="1200" dirty="0">
              <a:solidFill>
                <a:prstClr val="black"/>
              </a:solidFill>
              <a:latin typeface="Abadi" panose="020B0604020104020204" pitchFamily="34" charset="77"/>
            </a:endParaRPr>
          </a:p>
        </p:txBody>
      </p:sp>
      <p:sp>
        <p:nvSpPr>
          <p:cNvPr id="93" name="Text 81"/>
          <p:cNvSpPr/>
          <p:nvPr/>
        </p:nvSpPr>
        <p:spPr>
          <a:xfrm>
            <a:off x="10771630" y="3047968"/>
            <a:ext cx="12527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828800" hangingPunct="1">
              <a:lnSpc>
                <a:spcPct val="115000"/>
              </a:lnSpc>
              <a:spcBef>
                <a:spcPts val="0"/>
              </a:spcBef>
            </a:pPr>
            <a:r>
              <a:rPr lang="en-US" sz="2400" kern="1200" dirty="0">
                <a:solidFill>
                  <a:srgbClr val="1E293B"/>
                </a:solidFill>
                <a:latin typeface="Abadi ExtraLight" panose="020B0204020104020204" pitchFamily="34" charset="77"/>
              </a:rPr>
              <a:t>Three Agentic Engines, One Composable Runtime</a:t>
            </a:r>
          </a:p>
        </p:txBody>
      </p:sp>
      <p:sp>
        <p:nvSpPr>
          <p:cNvPr id="94" name="Shape 82"/>
          <p:cNvSpPr/>
          <p:nvPr/>
        </p:nvSpPr>
        <p:spPr>
          <a:xfrm>
            <a:off x="10789920" y="3978656"/>
            <a:ext cx="12527280" cy="193852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endParaRPr lang="en-US" sz="3600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5" name="Shape 83"/>
          <p:cNvSpPr/>
          <p:nvPr/>
        </p:nvSpPr>
        <p:spPr>
          <a:xfrm>
            <a:off x="10789920" y="3978656"/>
            <a:ext cx="12527280" cy="64008"/>
          </a:xfrm>
          <a:prstGeom prst="rect">
            <a:avLst/>
          </a:prstGeom>
          <a:solidFill>
            <a:schemeClr val="accent5">
              <a:lumMod val="50000"/>
            </a:schemeClr>
          </a:solidFill>
          <a:ln/>
        </p:spPr>
        <p:txBody>
          <a:bodyPr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endParaRPr lang="en-US" sz="3600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8" name="Text 85"/>
          <p:cNvSpPr/>
          <p:nvPr/>
        </p:nvSpPr>
        <p:spPr>
          <a:xfrm>
            <a:off x="11003520" y="4244715"/>
            <a:ext cx="2557032" cy="511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r>
              <a:rPr lang="en-US" sz="3200" b="1" spc="400" dirty="0">
                <a:solidFill>
                  <a:srgbClr val="5B9BD5">
                    <a:lumMod val="75000"/>
                  </a:srgbClr>
                </a:solidFill>
                <a:latin typeface="Abadi" panose="020B0604020104020204" pitchFamily="34" charset="77"/>
                <a:ea typeface="Calibri" pitchFamily="34" charset="-122"/>
                <a:cs typeface="Calibri" pitchFamily="34" charset="-120"/>
              </a:rPr>
              <a:t>THE BRAIN</a:t>
            </a:r>
            <a:endParaRPr lang="en-US" sz="3200" b="1" kern="1200" dirty="0">
              <a:solidFill>
                <a:srgbClr val="5B9BD5">
                  <a:lumMod val="75000"/>
                </a:srgbClr>
              </a:solidFill>
              <a:latin typeface="Abadi" panose="020B0604020104020204" pitchFamily="34" charset="77"/>
            </a:endParaRPr>
          </a:p>
        </p:txBody>
      </p:sp>
      <p:sp>
        <p:nvSpPr>
          <p:cNvPr id="99" name="Text 86"/>
          <p:cNvSpPr/>
          <p:nvPr/>
        </p:nvSpPr>
        <p:spPr>
          <a:xfrm>
            <a:off x="13853160" y="419811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r>
              <a:rPr lang="en-US" sz="3000" b="1" kern="120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 Agentic BPMN</a:t>
            </a:r>
            <a:endParaRPr lang="en-US" sz="3000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0" name="Text 87"/>
          <p:cNvSpPr/>
          <p:nvPr/>
        </p:nvSpPr>
        <p:spPr>
          <a:xfrm>
            <a:off x="11064240" y="4929632"/>
            <a:ext cx="1197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828800" hangingPunct="1">
              <a:lnSpc>
                <a:spcPct val="125000"/>
              </a:lnSpc>
              <a:spcBef>
                <a:spcPts val="0"/>
              </a:spcBef>
            </a:pPr>
            <a:r>
              <a:rPr lang="en-US" sz="2000" kern="1200" dirty="0">
                <a:solidFill>
                  <a:srgbClr val="475569"/>
                </a:solidFill>
                <a:latin typeface="Abadi ExtraLight" panose="020B0204020104020204" pitchFamily="34" charset="77"/>
                <a:ea typeface="Calibri" pitchFamily="34" charset="-122"/>
                <a:cs typeface="Calibri" pitchFamily="34" charset="-120"/>
              </a:rPr>
              <a:t>Agents compose &amp; govern workflows in real-time. Process logic adapts based on outcomes.</a:t>
            </a:r>
            <a:endParaRPr lang="en-US" sz="2000" kern="1200" dirty="0">
              <a:solidFill>
                <a:prstClr val="black"/>
              </a:solidFill>
              <a:latin typeface="Abadi ExtraLight" panose="020B0204020104020204" pitchFamily="34" charset="77"/>
            </a:endParaRPr>
          </a:p>
        </p:txBody>
      </p:sp>
      <p:sp>
        <p:nvSpPr>
          <p:cNvPr id="101" name="Shape 88"/>
          <p:cNvSpPr/>
          <p:nvPr/>
        </p:nvSpPr>
        <p:spPr>
          <a:xfrm>
            <a:off x="11064240" y="5386832"/>
            <a:ext cx="11978640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dash"/>
          </a:ln>
        </p:spPr>
        <p:txBody>
          <a:bodyPr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endParaRPr lang="en-US" sz="3600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2" name="Text 89"/>
          <p:cNvSpPr/>
          <p:nvPr/>
        </p:nvSpPr>
        <p:spPr>
          <a:xfrm>
            <a:off x="11064240" y="5441696"/>
            <a:ext cx="1197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828800" hangingPunct="1">
              <a:lnSpc>
                <a:spcPct val="120000"/>
              </a:lnSpc>
              <a:spcBef>
                <a:spcPts val="0"/>
              </a:spcBef>
            </a:pPr>
            <a:r>
              <a:rPr lang="en-US" sz="2000" kern="1200" dirty="0">
                <a:solidFill>
                  <a:srgbClr val="4472C4"/>
                </a:solidFill>
                <a:latin typeface="Abadi ExtraLight" panose="020B0204020104020204" pitchFamily="34" charset="77"/>
                <a:ea typeface="Calibri" pitchFamily="34" charset="-122"/>
                <a:cs typeface="Calibri" pitchFamily="34" charset="-120"/>
              </a:rPr>
              <a:t>End-to-end orchestration as the authoritative execution layer</a:t>
            </a:r>
            <a:endParaRPr lang="en-US" sz="2000" kern="1200" dirty="0">
              <a:solidFill>
                <a:srgbClr val="4472C4"/>
              </a:solidFill>
              <a:latin typeface="Abadi ExtraLight" panose="020B0204020104020204" pitchFamily="34" charset="77"/>
            </a:endParaRPr>
          </a:p>
        </p:txBody>
      </p:sp>
      <p:sp>
        <p:nvSpPr>
          <p:cNvPr id="103" name="Shape 90"/>
          <p:cNvSpPr/>
          <p:nvPr/>
        </p:nvSpPr>
        <p:spPr>
          <a:xfrm>
            <a:off x="10789920" y="6100064"/>
            <a:ext cx="12527280" cy="193852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endParaRPr lang="en-US" sz="3600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4" name="Shape 91"/>
          <p:cNvSpPr/>
          <p:nvPr/>
        </p:nvSpPr>
        <p:spPr>
          <a:xfrm>
            <a:off x="10789920" y="6100064"/>
            <a:ext cx="12527280" cy="6400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endParaRPr lang="en-US" sz="3600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7" name="Text 93"/>
          <p:cNvSpPr/>
          <p:nvPr/>
        </p:nvSpPr>
        <p:spPr>
          <a:xfrm>
            <a:off x="11064240" y="6186932"/>
            <a:ext cx="2834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r>
              <a:rPr lang="en-US" sz="3200" b="1" spc="400" dirty="0">
                <a:solidFill>
                  <a:srgbClr val="5B9BD5">
                    <a:lumMod val="75000"/>
                  </a:srgbClr>
                </a:solidFill>
                <a:latin typeface="Abadi" panose="020B0604020104020204" pitchFamily="34" charset="77"/>
                <a:cs typeface="Calibri" pitchFamily="34" charset="-120"/>
              </a:rPr>
              <a:t>THE HANDS</a:t>
            </a:r>
          </a:p>
        </p:txBody>
      </p:sp>
      <p:sp>
        <p:nvSpPr>
          <p:cNvPr id="108" name="Text 94"/>
          <p:cNvSpPr/>
          <p:nvPr/>
        </p:nvSpPr>
        <p:spPr>
          <a:xfrm>
            <a:off x="13862305" y="6123389"/>
            <a:ext cx="4846322" cy="697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r>
              <a:rPr lang="en-US" sz="3000" b="1" kern="120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 Agentic RPA</a:t>
            </a:r>
            <a:endParaRPr lang="en-US" sz="3000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9" name="Text 95"/>
          <p:cNvSpPr/>
          <p:nvPr/>
        </p:nvSpPr>
        <p:spPr>
          <a:xfrm>
            <a:off x="11064240" y="7051040"/>
            <a:ext cx="1197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828800" hangingPunct="1">
              <a:lnSpc>
                <a:spcPct val="125000"/>
              </a:lnSpc>
              <a:spcBef>
                <a:spcPts val="0"/>
              </a:spcBef>
            </a:pPr>
            <a:r>
              <a:rPr lang="en-US" sz="2000" kern="1200" dirty="0">
                <a:solidFill>
                  <a:srgbClr val="475569"/>
                </a:solidFill>
                <a:latin typeface="Abadi ExtraLight" panose="020B0204020104020204" pitchFamily="34" charset="77"/>
                <a:cs typeface="Calibri" pitchFamily="34" charset="-120"/>
              </a:rPr>
              <a:t>Agents execute across any system, APIs, UIs, databases, legacy with full auditability and error recovery.</a:t>
            </a:r>
          </a:p>
        </p:txBody>
      </p:sp>
      <p:sp>
        <p:nvSpPr>
          <p:cNvPr id="110" name="Shape 96"/>
          <p:cNvSpPr/>
          <p:nvPr/>
        </p:nvSpPr>
        <p:spPr>
          <a:xfrm>
            <a:off x="14447518" y="6729984"/>
            <a:ext cx="11978640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dash"/>
          </a:ln>
        </p:spPr>
        <p:txBody>
          <a:bodyPr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endParaRPr lang="en-US" sz="3600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1" name="Text 97"/>
          <p:cNvSpPr/>
          <p:nvPr/>
        </p:nvSpPr>
        <p:spPr>
          <a:xfrm>
            <a:off x="11064240" y="7563104"/>
            <a:ext cx="1197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828800" hangingPunct="1">
              <a:lnSpc>
                <a:spcPct val="120000"/>
              </a:lnSpc>
              <a:spcBef>
                <a:spcPts val="0"/>
              </a:spcBef>
            </a:pPr>
            <a:r>
              <a:rPr lang="en-US" sz="2000" kern="1200" dirty="0">
                <a:solidFill>
                  <a:srgbClr val="4472C4"/>
                </a:solidFill>
                <a:latin typeface="Abadi ExtraLight" panose="020B0204020104020204" pitchFamily="34" charset="77"/>
                <a:cs typeface="Calibri" pitchFamily="34" charset="-120"/>
              </a:rPr>
              <a:t>Non-intrusive automation for legacy &amp; non-API systems</a:t>
            </a:r>
          </a:p>
        </p:txBody>
      </p:sp>
      <p:sp>
        <p:nvSpPr>
          <p:cNvPr id="112" name="Shape 98"/>
          <p:cNvSpPr/>
          <p:nvPr/>
        </p:nvSpPr>
        <p:spPr>
          <a:xfrm>
            <a:off x="10789920" y="8221472"/>
            <a:ext cx="12527280" cy="193852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endParaRPr lang="en-US" sz="3600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3" name="Shape 99"/>
          <p:cNvSpPr/>
          <p:nvPr/>
        </p:nvSpPr>
        <p:spPr>
          <a:xfrm>
            <a:off x="10789920" y="8221472"/>
            <a:ext cx="12527280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endParaRPr lang="en-US" sz="3600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6" name="Text 101"/>
          <p:cNvSpPr/>
          <p:nvPr/>
        </p:nvSpPr>
        <p:spPr>
          <a:xfrm>
            <a:off x="11057249" y="8425805"/>
            <a:ext cx="3200402" cy="484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r>
              <a:rPr lang="en-US" sz="3200" b="1" spc="400" dirty="0">
                <a:solidFill>
                  <a:srgbClr val="5B9BD5">
                    <a:lumMod val="75000"/>
                  </a:srgbClr>
                </a:solidFill>
                <a:latin typeface="Abadi" panose="020B0604020104020204" pitchFamily="34" charset="77"/>
                <a:cs typeface="Calibri" pitchFamily="34" charset="-120"/>
              </a:rPr>
              <a:t>THE EYES</a:t>
            </a:r>
          </a:p>
        </p:txBody>
      </p:sp>
      <p:sp>
        <p:nvSpPr>
          <p:cNvPr id="117" name="Text 102"/>
          <p:cNvSpPr/>
          <p:nvPr/>
        </p:nvSpPr>
        <p:spPr>
          <a:xfrm>
            <a:off x="13889721" y="8398246"/>
            <a:ext cx="3200402" cy="483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r>
              <a:rPr lang="en-US" sz="3000" b="1" kern="120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 Agentic BI</a:t>
            </a:r>
            <a:endParaRPr lang="en-US" sz="3000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8" name="Text 103"/>
          <p:cNvSpPr/>
          <p:nvPr/>
        </p:nvSpPr>
        <p:spPr>
          <a:xfrm>
            <a:off x="11064240" y="9172448"/>
            <a:ext cx="1197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828800" hangingPunct="1">
              <a:lnSpc>
                <a:spcPct val="125000"/>
              </a:lnSpc>
              <a:spcBef>
                <a:spcPts val="0"/>
              </a:spcBef>
            </a:pPr>
            <a:r>
              <a:rPr lang="en-US" sz="2000" kern="1200" dirty="0">
                <a:solidFill>
                  <a:srgbClr val="475569"/>
                </a:solidFill>
                <a:latin typeface="Abadi ExtraLight" panose="020B0204020104020204" pitchFamily="34" charset="77"/>
                <a:cs typeface="Calibri" pitchFamily="34" charset="-120"/>
              </a:rPr>
              <a:t>Agents observe outcomes, detect drift &amp; self-optimize against KPIs, closing the loop automatically.</a:t>
            </a:r>
          </a:p>
        </p:txBody>
      </p:sp>
      <p:sp>
        <p:nvSpPr>
          <p:cNvPr id="119" name="Shape 104"/>
          <p:cNvSpPr/>
          <p:nvPr/>
        </p:nvSpPr>
        <p:spPr>
          <a:xfrm>
            <a:off x="11064240" y="9629648"/>
            <a:ext cx="11978640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dash"/>
          </a:ln>
        </p:spPr>
        <p:txBody>
          <a:bodyPr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endParaRPr lang="en-US" sz="3600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0" name="Text 105"/>
          <p:cNvSpPr/>
          <p:nvPr/>
        </p:nvSpPr>
        <p:spPr>
          <a:xfrm>
            <a:off x="11064240" y="9684512"/>
            <a:ext cx="1197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828800" hangingPunct="1">
              <a:lnSpc>
                <a:spcPct val="120000"/>
              </a:lnSpc>
              <a:spcBef>
                <a:spcPts val="0"/>
              </a:spcBef>
            </a:pPr>
            <a:r>
              <a:rPr lang="en-US" sz="2000" kern="1200" dirty="0">
                <a:solidFill>
                  <a:srgbClr val="4472C4"/>
                </a:solidFill>
                <a:latin typeface="Abadi ExtraLight" panose="020B0204020104020204" pitchFamily="34" charset="77"/>
                <a:cs typeface="Calibri" pitchFamily="34" charset="-120"/>
              </a:rPr>
              <a:t>Unified, role-based analytics across orders, assets, workforce &amp; incidents</a:t>
            </a:r>
          </a:p>
        </p:txBody>
      </p:sp>
      <p:sp>
        <p:nvSpPr>
          <p:cNvPr id="121" name="Text 106"/>
          <p:cNvSpPr/>
          <p:nvPr/>
        </p:nvSpPr>
        <p:spPr>
          <a:xfrm>
            <a:off x="1058283" y="7788491"/>
            <a:ext cx="7392034" cy="632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r>
              <a:rPr lang="en-US" sz="3200" b="1" spc="400" dirty="0">
                <a:solidFill>
                  <a:srgbClr val="16A34A"/>
                </a:solidFill>
                <a:latin typeface="Abadi" panose="020B0604020104020204" pitchFamily="34" charset="77"/>
                <a:ea typeface="Calibri" pitchFamily="34" charset="-122"/>
                <a:cs typeface="Calibri" pitchFamily="34" charset="-120"/>
              </a:rPr>
              <a:t>MEASURABLE OUTCOMES</a:t>
            </a:r>
            <a:endParaRPr lang="en-US" sz="3200" b="1" kern="1200" dirty="0">
              <a:solidFill>
                <a:prstClr val="black"/>
              </a:solidFill>
              <a:latin typeface="Abadi" panose="020B0604020104020204" pitchFamily="34" charset="77"/>
            </a:endParaRPr>
          </a:p>
        </p:txBody>
      </p:sp>
      <p:sp>
        <p:nvSpPr>
          <p:cNvPr id="122" name="Shape 107"/>
          <p:cNvSpPr/>
          <p:nvPr/>
        </p:nvSpPr>
        <p:spPr>
          <a:xfrm>
            <a:off x="1005840" y="8693674"/>
            <a:ext cx="1549900" cy="1139296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endParaRPr lang="en-US" sz="3600" kern="12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23" name="Image 1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612" y="8978734"/>
            <a:ext cx="749808" cy="749808"/>
          </a:xfrm>
          <a:prstGeom prst="rect">
            <a:avLst/>
          </a:prstGeom>
        </p:spPr>
      </p:pic>
      <p:sp>
        <p:nvSpPr>
          <p:cNvPr id="124" name="Text 108"/>
          <p:cNvSpPr/>
          <p:nvPr/>
        </p:nvSpPr>
        <p:spPr>
          <a:xfrm>
            <a:off x="1337486" y="9137945"/>
            <a:ext cx="879980" cy="4733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828800" hangingPunct="1">
              <a:lnSpc>
                <a:spcPct val="100000"/>
              </a:lnSpc>
              <a:spcBef>
                <a:spcPts val="0"/>
              </a:spcBef>
            </a:pPr>
            <a:r>
              <a:rPr lang="en-US" sz="2400" b="1" kern="1200" dirty="0">
                <a:solidFill>
                  <a:srgbClr val="16A34A"/>
                </a:solidFill>
                <a:latin typeface="Abadi" panose="020B0604020104020204" pitchFamily="34" charset="77"/>
                <a:ea typeface="Georgia" pitchFamily="34" charset="-122"/>
                <a:cs typeface="Georgia" pitchFamily="34" charset="-120"/>
              </a:rPr>
              <a:t>45%</a:t>
            </a:r>
            <a:endParaRPr lang="en-US" sz="2400" b="1" kern="1200" dirty="0">
              <a:solidFill>
                <a:prstClr val="black"/>
              </a:solidFill>
              <a:latin typeface="Abadi" panose="020B0604020104020204" pitchFamily="34" charset="77"/>
            </a:endParaRPr>
          </a:p>
        </p:txBody>
      </p:sp>
      <p:sp>
        <p:nvSpPr>
          <p:cNvPr id="125" name="Text 109"/>
          <p:cNvSpPr/>
          <p:nvPr/>
        </p:nvSpPr>
        <p:spPr>
          <a:xfrm>
            <a:off x="2775238" y="8952904"/>
            <a:ext cx="21869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r>
              <a:rPr lang="en-US" sz="2800" kern="1200" dirty="0">
                <a:solidFill>
                  <a:prstClr val="black"/>
                </a:solidFill>
                <a:latin typeface="Abadi ExtraLight" panose="020B0204020104020204" pitchFamily="34" charset="77"/>
                <a:ea typeface="Calibri" pitchFamily="34" charset="-122"/>
                <a:cs typeface="Calibri" pitchFamily="34" charset="-120"/>
              </a:rPr>
              <a:t>Cost</a:t>
            </a:r>
            <a:r>
              <a:rPr lang="en-US" sz="2800" kern="1200" dirty="0">
                <a:solidFill>
                  <a:prstClr val="black"/>
                </a:solidFill>
                <a:latin typeface="Abadi ExtraLight" panose="020B0204020104020204" pitchFamily="34" charset="77"/>
              </a:rPr>
              <a:t> </a:t>
            </a:r>
            <a:r>
              <a:rPr lang="en-US" sz="2800" kern="1200" dirty="0">
                <a:solidFill>
                  <a:prstClr val="black"/>
                </a:solidFill>
                <a:latin typeface="Abadi ExtraLight" panose="020B0204020104020204" pitchFamily="34" charset="77"/>
                <a:ea typeface="Calibri" pitchFamily="34" charset="-122"/>
                <a:cs typeface="Calibri" pitchFamily="34" charset="-120"/>
              </a:rPr>
              <a:t>Reduction</a:t>
            </a:r>
            <a:endParaRPr lang="en-US" sz="2800" kern="1200" dirty="0">
              <a:solidFill>
                <a:prstClr val="black"/>
              </a:solidFill>
              <a:latin typeface="Abadi ExtraLight" panose="020B0204020104020204" pitchFamily="34" charset="77"/>
            </a:endParaRPr>
          </a:p>
        </p:txBody>
      </p:sp>
      <p:sp>
        <p:nvSpPr>
          <p:cNvPr id="126" name="Shape 110"/>
          <p:cNvSpPr/>
          <p:nvPr/>
        </p:nvSpPr>
        <p:spPr>
          <a:xfrm>
            <a:off x="970933" y="10139628"/>
            <a:ext cx="1549894" cy="112686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endParaRPr lang="en-US" sz="3600" kern="12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27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2930" y="10160000"/>
            <a:ext cx="1081144" cy="1081144"/>
          </a:xfrm>
          <a:prstGeom prst="rect">
            <a:avLst/>
          </a:prstGeom>
        </p:spPr>
      </p:pic>
      <p:sp>
        <p:nvSpPr>
          <p:cNvPr id="128" name="Text 111"/>
          <p:cNvSpPr/>
          <p:nvPr/>
        </p:nvSpPr>
        <p:spPr>
          <a:xfrm>
            <a:off x="1371466" y="10434332"/>
            <a:ext cx="8049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828800" hangingPunct="1">
              <a:lnSpc>
                <a:spcPct val="100000"/>
              </a:lnSpc>
              <a:spcBef>
                <a:spcPts val="0"/>
              </a:spcBef>
            </a:pPr>
            <a:r>
              <a:rPr lang="en-US" sz="2400" b="1" kern="1200" dirty="0">
                <a:solidFill>
                  <a:srgbClr val="3B82F6"/>
                </a:solidFill>
                <a:latin typeface="Abadi" panose="020B0604020104020204" pitchFamily="34" charset="77"/>
                <a:ea typeface="Georgia" pitchFamily="34" charset="-122"/>
                <a:cs typeface="Georgia" pitchFamily="34" charset="-120"/>
              </a:rPr>
              <a:t>76%</a:t>
            </a:r>
            <a:endParaRPr lang="en-US" sz="2400" b="1" kern="1200" dirty="0">
              <a:solidFill>
                <a:prstClr val="black"/>
              </a:solidFill>
              <a:latin typeface="Abadi" panose="020B0604020104020204" pitchFamily="34" charset="77"/>
            </a:endParaRPr>
          </a:p>
        </p:txBody>
      </p:sp>
      <p:sp>
        <p:nvSpPr>
          <p:cNvPr id="129" name="Text 112"/>
          <p:cNvSpPr/>
          <p:nvPr/>
        </p:nvSpPr>
        <p:spPr>
          <a:xfrm>
            <a:off x="2772824" y="10515184"/>
            <a:ext cx="2449488" cy="4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r>
              <a:rPr lang="en-US" sz="2800" kern="1200" dirty="0">
                <a:solidFill>
                  <a:prstClr val="black"/>
                </a:solidFill>
                <a:latin typeface="Abadi ExtraLight" panose="020B0204020104020204" pitchFamily="34" charset="77"/>
                <a:cs typeface="Calibri" pitchFamily="34" charset="-120"/>
              </a:rPr>
              <a:t>Faster Execution</a:t>
            </a:r>
          </a:p>
        </p:txBody>
      </p:sp>
      <p:sp>
        <p:nvSpPr>
          <p:cNvPr id="130" name="Shape 113"/>
          <p:cNvSpPr/>
          <p:nvPr/>
        </p:nvSpPr>
        <p:spPr>
          <a:xfrm>
            <a:off x="1005839" y="11540821"/>
            <a:ext cx="1549894" cy="113761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endParaRPr lang="en-US" sz="3600" kern="12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31" name="Image 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6722" y="11576616"/>
            <a:ext cx="1048132" cy="1048132"/>
          </a:xfrm>
          <a:prstGeom prst="rect">
            <a:avLst/>
          </a:prstGeom>
        </p:spPr>
      </p:pic>
      <p:sp>
        <p:nvSpPr>
          <p:cNvPr id="132" name="Text 114"/>
          <p:cNvSpPr/>
          <p:nvPr/>
        </p:nvSpPr>
        <p:spPr>
          <a:xfrm>
            <a:off x="1549896" y="11899514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828800" hangingPunct="1">
              <a:lnSpc>
                <a:spcPct val="100000"/>
              </a:lnSpc>
              <a:spcBef>
                <a:spcPts val="0"/>
              </a:spcBef>
            </a:pPr>
            <a:r>
              <a:rPr lang="en-US" sz="2400" b="1" kern="1200" dirty="0">
                <a:solidFill>
                  <a:srgbClr val="F59E0B"/>
                </a:solidFill>
                <a:latin typeface="Abadi" panose="020B0604020104020204" pitchFamily="34" charset="77"/>
                <a:ea typeface="Georgia" pitchFamily="34" charset="-122"/>
                <a:cs typeface="Georgia" pitchFamily="34" charset="-120"/>
              </a:rPr>
              <a:t>8X</a:t>
            </a:r>
            <a:endParaRPr lang="en-US" sz="2400" b="1" kern="1200" dirty="0">
              <a:solidFill>
                <a:prstClr val="black"/>
              </a:solidFill>
              <a:latin typeface="Abadi" panose="020B0604020104020204" pitchFamily="34" charset="77"/>
            </a:endParaRPr>
          </a:p>
        </p:txBody>
      </p:sp>
      <p:sp>
        <p:nvSpPr>
          <p:cNvPr id="133" name="Text 115"/>
          <p:cNvSpPr/>
          <p:nvPr/>
        </p:nvSpPr>
        <p:spPr>
          <a:xfrm>
            <a:off x="2739012" y="1187208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r>
              <a:rPr lang="en-US" sz="2800" kern="1200" dirty="0">
                <a:solidFill>
                  <a:prstClr val="black"/>
                </a:solidFill>
                <a:latin typeface="Abadi ExtraLight" panose="020B0204020104020204" pitchFamily="34" charset="77"/>
                <a:cs typeface="Calibri" pitchFamily="34" charset="-120"/>
              </a:rPr>
              <a:t>Productivity</a:t>
            </a:r>
          </a:p>
        </p:txBody>
      </p:sp>
      <p:sp>
        <p:nvSpPr>
          <p:cNvPr id="134" name="Shape 116"/>
          <p:cNvSpPr/>
          <p:nvPr/>
        </p:nvSpPr>
        <p:spPr>
          <a:xfrm>
            <a:off x="5287385" y="8612504"/>
            <a:ext cx="1549898" cy="115162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endParaRPr lang="en-US" sz="3600" kern="12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35" name="Image 1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2980" y="8651634"/>
            <a:ext cx="1170020" cy="1170020"/>
          </a:xfrm>
          <a:prstGeom prst="rect">
            <a:avLst/>
          </a:prstGeom>
        </p:spPr>
      </p:pic>
      <p:sp>
        <p:nvSpPr>
          <p:cNvPr id="136" name="Text 117"/>
          <p:cNvSpPr/>
          <p:nvPr/>
        </p:nvSpPr>
        <p:spPr>
          <a:xfrm>
            <a:off x="5792844" y="8980403"/>
            <a:ext cx="693872" cy="55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828800" hangingPunct="1">
              <a:lnSpc>
                <a:spcPct val="100000"/>
              </a:lnSpc>
              <a:spcBef>
                <a:spcPts val="0"/>
              </a:spcBef>
            </a:pPr>
            <a:r>
              <a:rPr lang="en-US" sz="2400" b="1" kern="1200" dirty="0">
                <a:solidFill>
                  <a:srgbClr val="0D9488"/>
                </a:solidFill>
                <a:latin typeface="Abadi" panose="020B0604020104020204" pitchFamily="34" charset="77"/>
                <a:ea typeface="Georgia" pitchFamily="34" charset="-122"/>
                <a:cs typeface="Georgia" pitchFamily="34" charset="-120"/>
              </a:rPr>
              <a:t>99%</a:t>
            </a:r>
            <a:endParaRPr lang="en-US" sz="2400" b="1" kern="1200" dirty="0">
              <a:solidFill>
                <a:prstClr val="black"/>
              </a:solidFill>
              <a:latin typeface="Abadi" panose="020B0604020104020204" pitchFamily="34" charset="77"/>
            </a:endParaRPr>
          </a:p>
        </p:txBody>
      </p:sp>
      <p:sp>
        <p:nvSpPr>
          <p:cNvPr id="137" name="Text 118"/>
          <p:cNvSpPr/>
          <p:nvPr/>
        </p:nvSpPr>
        <p:spPr>
          <a:xfrm>
            <a:off x="7060564" y="8974697"/>
            <a:ext cx="2779504" cy="55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r>
              <a:rPr lang="en-US" sz="2800" kern="1200" dirty="0">
                <a:solidFill>
                  <a:prstClr val="black"/>
                </a:solidFill>
                <a:latin typeface="Abadi ExtraLight" panose="020B0204020104020204" pitchFamily="34" charset="77"/>
                <a:cs typeface="Calibri" pitchFamily="34" charset="-120"/>
              </a:rPr>
              <a:t>Data Accuracy</a:t>
            </a:r>
          </a:p>
        </p:txBody>
      </p:sp>
      <p:sp>
        <p:nvSpPr>
          <p:cNvPr id="142" name="Shape 122"/>
          <p:cNvSpPr/>
          <p:nvPr/>
        </p:nvSpPr>
        <p:spPr>
          <a:xfrm>
            <a:off x="5275369" y="10105000"/>
            <a:ext cx="1549894" cy="112686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endParaRPr lang="en-US" sz="3600" kern="12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43" name="Image 1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7911" y="10151135"/>
            <a:ext cx="1151570" cy="1151570"/>
          </a:xfrm>
          <a:prstGeom prst="rect">
            <a:avLst/>
          </a:prstGeom>
        </p:spPr>
      </p:pic>
      <p:sp>
        <p:nvSpPr>
          <p:cNvPr id="144" name="Text 123"/>
          <p:cNvSpPr/>
          <p:nvPr/>
        </p:nvSpPr>
        <p:spPr>
          <a:xfrm>
            <a:off x="5648392" y="10429920"/>
            <a:ext cx="8842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828800" hangingPunct="1">
              <a:lnSpc>
                <a:spcPct val="100000"/>
              </a:lnSpc>
              <a:spcBef>
                <a:spcPts val="0"/>
              </a:spcBef>
            </a:pPr>
            <a:r>
              <a:rPr lang="en-US" sz="2400" b="1" kern="1200" dirty="0">
                <a:solidFill>
                  <a:srgbClr val="EA580C"/>
                </a:solidFill>
                <a:latin typeface="Abadi" panose="020B0604020104020204" pitchFamily="34" charset="77"/>
                <a:ea typeface="Georgia" pitchFamily="34" charset="-122"/>
                <a:cs typeface="Georgia" pitchFamily="34" charset="-120"/>
              </a:rPr>
              <a:t>&lt;10d</a:t>
            </a:r>
            <a:endParaRPr lang="en-US" sz="2400" b="1" kern="1200" dirty="0">
              <a:solidFill>
                <a:prstClr val="black"/>
              </a:solidFill>
              <a:latin typeface="Abadi" panose="020B0604020104020204" pitchFamily="34" charset="77"/>
            </a:endParaRPr>
          </a:p>
        </p:txBody>
      </p:sp>
      <p:sp>
        <p:nvSpPr>
          <p:cNvPr id="145" name="Text 124"/>
          <p:cNvSpPr/>
          <p:nvPr/>
        </p:nvSpPr>
        <p:spPr>
          <a:xfrm>
            <a:off x="7077804" y="10515185"/>
            <a:ext cx="2469092" cy="54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r>
              <a:rPr lang="en-US" sz="2800" kern="1200" dirty="0">
                <a:solidFill>
                  <a:prstClr val="black"/>
                </a:solidFill>
                <a:latin typeface="Abadi ExtraLight" panose="020B0204020104020204" pitchFamily="34" charset="77"/>
                <a:cs typeface="Calibri" pitchFamily="34" charset="-120"/>
              </a:rPr>
              <a:t>Deploy Time</a:t>
            </a:r>
          </a:p>
        </p:txBody>
      </p:sp>
      <p:sp>
        <p:nvSpPr>
          <p:cNvPr id="148" name="Text 127"/>
          <p:cNvSpPr/>
          <p:nvPr/>
        </p:nvSpPr>
        <p:spPr>
          <a:xfrm>
            <a:off x="11047527" y="10711583"/>
            <a:ext cx="11995354" cy="2510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828800" hangingPunct="1">
              <a:lnSpc>
                <a:spcPct val="100000"/>
              </a:lnSpc>
              <a:spcBef>
                <a:spcPts val="0"/>
              </a:spcBef>
            </a:pPr>
            <a:r>
              <a:rPr lang="en-US" sz="3200" b="1" spc="400" dirty="0" err="1">
                <a:solidFill>
                  <a:srgbClr val="3B82F6"/>
                </a:solidFill>
                <a:latin typeface="Abadi" panose="020B0604020104020204" pitchFamily="34" charset="77"/>
                <a:cs typeface="Calibri" pitchFamily="34" charset="-120"/>
              </a:rPr>
              <a:t>AirViewX</a:t>
            </a:r>
            <a:r>
              <a:rPr lang="en-US" sz="3200" b="1" spc="400" dirty="0">
                <a:solidFill>
                  <a:srgbClr val="3B82F6"/>
                </a:solidFill>
                <a:latin typeface="Abadi" panose="020B0604020104020204" pitchFamily="34" charset="77"/>
                <a:cs typeface="Calibri" pitchFamily="34" charset="-120"/>
              </a:rPr>
              <a:t>  |</a:t>
            </a:r>
            <a:r>
              <a:rPr lang="en-US" sz="3200" kern="1200" dirty="0">
                <a:solidFill>
                  <a:srgbClr val="ED7D31"/>
                </a:solidFill>
                <a:latin typeface="Abadi" panose="020B0604020104020204" pitchFamily="34" charset="77"/>
                <a:ea typeface="Calibri" pitchFamily="34" charset="-122"/>
                <a:cs typeface="Calibri" pitchFamily="34" charset="-120"/>
              </a:rPr>
              <a:t>  Execution That Can't Fail</a:t>
            </a:r>
          </a:p>
          <a:p>
            <a:pPr algn="ctr" defTabSz="1828800" hangingPunct="1">
              <a:lnSpc>
                <a:spcPct val="100000"/>
              </a:lnSpc>
              <a:spcBef>
                <a:spcPts val="0"/>
              </a:spcBef>
            </a:pPr>
            <a:endParaRPr lang="en-US" sz="2400" kern="1200" dirty="0">
              <a:solidFill>
                <a:srgbClr val="ED7D31"/>
              </a:solidFill>
              <a:latin typeface="Abadi" panose="020B0604020104020204" pitchFamily="34" charset="77"/>
              <a:ea typeface="Calibri" pitchFamily="34" charset="-122"/>
              <a:cs typeface="Calibri" pitchFamily="34" charset="-120"/>
            </a:endParaRPr>
          </a:p>
          <a:p>
            <a:pPr marL="571500" indent="-571500" defTabSz="1828800" hangingPunct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800" kern="1200" dirty="0">
                <a:solidFill>
                  <a:prstClr val="black"/>
                </a:solidFill>
                <a:latin typeface="Abadi ExtraLight" panose="020B0204020104020204" pitchFamily="34" charset="77"/>
                <a:ea typeface="Calibri" pitchFamily="34" charset="-122"/>
                <a:cs typeface="Calibri" pitchFamily="34" charset="-120"/>
              </a:rPr>
              <a:t>The Agentic Framework with </a:t>
            </a:r>
            <a:r>
              <a:rPr lang="en-US" sz="2800" b="1" kern="1200" dirty="0">
                <a:solidFill>
                  <a:prstClr val="black"/>
                </a:solidFill>
                <a:latin typeface="Abadi ExtraLight" panose="020B0204020104020204" pitchFamily="34" charset="77"/>
                <a:ea typeface="Calibri" pitchFamily="34" charset="-122"/>
                <a:cs typeface="Calibri" pitchFamily="34" charset="-120"/>
              </a:rPr>
              <a:t>35+</a:t>
            </a:r>
            <a:r>
              <a:rPr lang="en-US" sz="2800" kern="1200" dirty="0">
                <a:solidFill>
                  <a:prstClr val="black"/>
                </a:solidFill>
                <a:latin typeface="Abadi ExtraLight" panose="020B0204020104020204" pitchFamily="34" charset="77"/>
                <a:ea typeface="Calibri" pitchFamily="34" charset="-122"/>
                <a:cs typeface="Calibri" pitchFamily="34" charset="-120"/>
              </a:rPr>
              <a:t> modules for Operations</a:t>
            </a:r>
          </a:p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endParaRPr lang="en-US" sz="1200" kern="1200" dirty="0">
              <a:solidFill>
                <a:prstClr val="black"/>
              </a:solidFill>
              <a:latin typeface="Abadi ExtraLight" panose="020B0204020104020204" pitchFamily="34" charset="77"/>
              <a:ea typeface="Calibri" pitchFamily="34" charset="-122"/>
              <a:cs typeface="Calibri" pitchFamily="34" charset="-120"/>
            </a:endParaRPr>
          </a:p>
          <a:p>
            <a:pPr marL="571500" indent="-571500" defTabSz="1828800" hangingPunct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800" kern="1200" dirty="0">
                <a:solidFill>
                  <a:prstClr val="black"/>
                </a:solidFill>
                <a:latin typeface="Abadi ExtraLight" panose="020B0204020104020204" pitchFamily="34" charset="77"/>
              </a:rPr>
              <a:t>Make strategic decisions that align with business objectives</a:t>
            </a:r>
          </a:p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endParaRPr lang="en-US" sz="1200" kern="1200" dirty="0">
              <a:solidFill>
                <a:prstClr val="black"/>
              </a:solidFill>
              <a:latin typeface="Abadi ExtraLight" panose="020B0204020104020204" pitchFamily="34" charset="77"/>
            </a:endParaRPr>
          </a:p>
          <a:p>
            <a:pPr marL="571500" indent="-571500" defTabSz="1828800" hangingPunct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800" kern="1200" dirty="0">
                <a:solidFill>
                  <a:prstClr val="black"/>
                </a:solidFill>
                <a:latin typeface="Abadi ExtraLight" panose="020B0204020104020204" pitchFamily="34" charset="77"/>
              </a:rPr>
              <a:t>Ensuring high-speed operations and zero errors</a:t>
            </a:r>
            <a:endParaRPr lang="en-US" sz="2800" kern="1200" dirty="0">
              <a:solidFill>
                <a:prstClr val="black"/>
              </a:solidFill>
              <a:latin typeface="Abadi" panose="020B0604020104020204" pitchFamily="34" charset="77"/>
            </a:endParaRPr>
          </a:p>
        </p:txBody>
      </p:sp>
      <p:sp>
        <p:nvSpPr>
          <p:cNvPr id="153" name="Shape 20">
            <a:extLst>
              <a:ext uri="{FF2B5EF4-FFF2-40B4-BE49-F238E27FC236}">
                <a16:creationId xmlns:a16="http://schemas.microsoft.com/office/drawing/2014/main" id="{9966C662-A9B2-C71E-89A3-BA1B34F97C9E}"/>
              </a:ext>
            </a:extLst>
          </p:cNvPr>
          <p:cNvSpPr/>
          <p:nvPr/>
        </p:nvSpPr>
        <p:spPr>
          <a:xfrm flipH="1">
            <a:off x="1027895" y="5917698"/>
            <a:ext cx="91438" cy="1527588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endParaRPr lang="en-US" sz="3600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4" name="Shape 13">
            <a:extLst>
              <a:ext uri="{FF2B5EF4-FFF2-40B4-BE49-F238E27FC236}">
                <a16:creationId xmlns:a16="http://schemas.microsoft.com/office/drawing/2014/main" id="{5D3D671C-767C-F461-456C-EFDE745AD323}"/>
              </a:ext>
            </a:extLst>
          </p:cNvPr>
          <p:cNvSpPr/>
          <p:nvPr/>
        </p:nvSpPr>
        <p:spPr>
          <a:xfrm>
            <a:off x="5760723" y="5907479"/>
            <a:ext cx="91438" cy="1577078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pPr defTabSz="1828800" hangingPunct="1">
              <a:lnSpc>
                <a:spcPct val="100000"/>
              </a:lnSpc>
              <a:spcBef>
                <a:spcPts val="0"/>
              </a:spcBef>
            </a:pPr>
            <a:endParaRPr lang="en-US" sz="3600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3418CBBD-5B1A-1CF5-BADC-A4C2E7155FB3}"/>
              </a:ext>
            </a:extLst>
          </p:cNvPr>
          <p:cNvSpPr/>
          <p:nvPr/>
        </p:nvSpPr>
        <p:spPr>
          <a:xfrm>
            <a:off x="975360" y="1706880"/>
            <a:ext cx="2194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Three engines power a single, composable runtime — the agentic execution plane between AI and your enterprise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Circle"/>
          <p:cNvSpPr/>
          <p:nvPr/>
        </p:nvSpPr>
        <p:spPr>
          <a:xfrm>
            <a:off x="13788248" y="7175100"/>
            <a:ext cx="2501858" cy="2501858"/>
          </a:xfrm>
          <a:prstGeom prst="ellipse">
            <a:avLst/>
          </a:prstGeom>
          <a:solidFill>
            <a:srgbClr val="3A7B7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734" name="Circle"/>
          <p:cNvSpPr/>
          <p:nvPr/>
        </p:nvSpPr>
        <p:spPr>
          <a:xfrm>
            <a:off x="13788248" y="10226521"/>
            <a:ext cx="2501858" cy="2501857"/>
          </a:xfrm>
          <a:prstGeom prst="ellipse">
            <a:avLst/>
          </a:prstGeom>
          <a:solidFill>
            <a:srgbClr val="37739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735" name="Circle"/>
          <p:cNvSpPr/>
          <p:nvPr/>
        </p:nvSpPr>
        <p:spPr>
          <a:xfrm>
            <a:off x="13788248" y="987622"/>
            <a:ext cx="2501858" cy="2501857"/>
          </a:xfrm>
          <a:prstGeom prst="ellipse">
            <a:avLst/>
          </a:prstGeom>
          <a:solidFill>
            <a:srgbClr val="3E3FF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736" name="Icon.png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71413" y="508000"/>
            <a:ext cx="804588" cy="8255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791" name="Group"/>
          <p:cNvGrpSpPr/>
          <p:nvPr/>
        </p:nvGrpSpPr>
        <p:grpSpPr>
          <a:xfrm>
            <a:off x="95379" y="1839549"/>
            <a:ext cx="11176673" cy="11230703"/>
            <a:chOff x="0" y="0"/>
            <a:chExt cx="11176672" cy="11230702"/>
          </a:xfrm>
        </p:grpSpPr>
        <p:grpSp>
          <p:nvGrpSpPr>
            <p:cNvPr id="777" name="Group"/>
            <p:cNvGrpSpPr/>
            <p:nvPr/>
          </p:nvGrpSpPr>
          <p:grpSpPr>
            <a:xfrm>
              <a:off x="-1" y="-1"/>
              <a:ext cx="11176673" cy="11230703"/>
              <a:chOff x="0" y="0"/>
              <a:chExt cx="11176671" cy="11230701"/>
            </a:xfrm>
          </p:grpSpPr>
          <p:pic>
            <p:nvPicPr>
              <p:cNvPr id="737" name="Group 2.png" descr="Group 2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8524" y="524315"/>
                <a:ext cx="10093287" cy="10096181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738" name="Circle"/>
              <p:cNvSpPr/>
              <p:nvPr/>
            </p:nvSpPr>
            <p:spPr>
              <a:xfrm>
                <a:off x="306163" y="3025620"/>
                <a:ext cx="1235350" cy="1235350"/>
              </a:xfrm>
              <a:prstGeom prst="ellipse">
                <a:avLst/>
              </a:prstGeom>
              <a:solidFill>
                <a:srgbClr val="3E3FF5"/>
              </a:solidFill>
              <a:ln w="12700" cap="flat">
                <a:noFill/>
                <a:miter lim="400000"/>
              </a:ln>
              <a:effectLst>
                <a:outerShdw blurRad="63500" dist="25400" dir="5400000" rotWithShape="0">
                  <a:srgbClr val="000000">
                    <a:alpha val="50000"/>
                  </a:srgbClr>
                </a:outerShdw>
              </a:effec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739" name="Circle"/>
              <p:cNvSpPr/>
              <p:nvPr/>
            </p:nvSpPr>
            <p:spPr>
              <a:xfrm>
                <a:off x="1656887" y="1152617"/>
                <a:ext cx="1235350" cy="1235350"/>
              </a:xfrm>
              <a:prstGeom prst="ellipse">
                <a:avLst/>
              </a:prstGeom>
              <a:solidFill>
                <a:srgbClr val="E07344"/>
              </a:solidFill>
              <a:ln w="12700" cap="flat">
                <a:noFill/>
                <a:miter lim="400000"/>
              </a:ln>
              <a:effectLst>
                <a:outerShdw blurRad="63500" dist="25400" dir="5400000" rotWithShape="0">
                  <a:srgbClr val="000000">
                    <a:alpha val="50000"/>
                  </a:srgbClr>
                </a:outerShdw>
              </a:effec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740" name="Circle"/>
              <p:cNvSpPr/>
              <p:nvPr/>
            </p:nvSpPr>
            <p:spPr>
              <a:xfrm>
                <a:off x="3872072" y="0"/>
                <a:ext cx="1235351" cy="1235350"/>
              </a:xfrm>
              <a:prstGeom prst="ellipse">
                <a:avLst/>
              </a:prstGeom>
              <a:solidFill>
                <a:srgbClr val="50AA5D"/>
              </a:solidFill>
              <a:ln w="12700" cap="flat">
                <a:noFill/>
                <a:miter lim="400000"/>
              </a:ln>
              <a:effectLst>
                <a:outerShdw blurRad="63500" dist="25400" dir="5400000" rotWithShape="0">
                  <a:srgbClr val="000000">
                    <a:alpha val="50000"/>
                  </a:srgbClr>
                </a:outerShdw>
              </a:effec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741" name="Circle"/>
              <p:cNvSpPr/>
              <p:nvPr/>
            </p:nvSpPr>
            <p:spPr>
              <a:xfrm>
                <a:off x="6303375" y="0"/>
                <a:ext cx="1235350" cy="1235350"/>
              </a:xfrm>
              <a:prstGeom prst="ellipse">
                <a:avLst/>
              </a:prstGeom>
              <a:solidFill>
                <a:srgbClr val="3E3FF5"/>
              </a:solidFill>
              <a:ln w="12700" cap="flat">
                <a:noFill/>
                <a:miter lim="400000"/>
              </a:ln>
              <a:effectLst>
                <a:outerShdw blurRad="63500" dist="25400" dir="5400000" rotWithShape="0">
                  <a:srgbClr val="000000">
                    <a:alpha val="50000"/>
                  </a:srgbClr>
                </a:outerShdw>
              </a:effec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742" name="Circle"/>
              <p:cNvSpPr/>
              <p:nvPr/>
            </p:nvSpPr>
            <p:spPr>
              <a:xfrm>
                <a:off x="8374484" y="1152617"/>
                <a:ext cx="1235351" cy="1235350"/>
              </a:xfrm>
              <a:prstGeom prst="ellipse">
                <a:avLst/>
              </a:prstGeom>
              <a:solidFill>
                <a:srgbClr val="3A7B7E"/>
              </a:solidFill>
              <a:ln w="12700" cap="flat">
                <a:noFill/>
                <a:miter lim="400000"/>
              </a:ln>
              <a:effectLst>
                <a:outerShdw blurRad="63500" dist="25400" dir="5400000" rotWithShape="0">
                  <a:srgbClr val="000000">
                    <a:alpha val="50000"/>
                  </a:srgbClr>
                </a:outerShdw>
              </a:effec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743" name="Circle"/>
              <p:cNvSpPr/>
              <p:nvPr/>
            </p:nvSpPr>
            <p:spPr>
              <a:xfrm>
                <a:off x="9653168" y="3241736"/>
                <a:ext cx="1235350" cy="1235350"/>
              </a:xfrm>
              <a:prstGeom prst="ellipse">
                <a:avLst/>
              </a:prstGeom>
              <a:solidFill>
                <a:srgbClr val="37739D"/>
              </a:solidFill>
              <a:ln w="12700" cap="flat">
                <a:noFill/>
                <a:miter lim="400000"/>
              </a:ln>
              <a:effectLst>
                <a:outerShdw blurRad="63500" dist="25400" dir="5400000" rotWithShape="0">
                  <a:srgbClr val="000000">
                    <a:alpha val="50000"/>
                  </a:srgbClr>
                </a:outerShdw>
              </a:effec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744" name="Circle"/>
              <p:cNvSpPr/>
              <p:nvPr/>
            </p:nvSpPr>
            <p:spPr>
              <a:xfrm>
                <a:off x="9941322" y="5655028"/>
                <a:ext cx="1235350" cy="1235350"/>
              </a:xfrm>
              <a:prstGeom prst="ellipse">
                <a:avLst/>
              </a:prstGeom>
              <a:solidFill>
                <a:srgbClr val="E07344"/>
              </a:solidFill>
              <a:ln w="12700" cap="flat">
                <a:noFill/>
                <a:miter lim="400000"/>
              </a:ln>
              <a:effectLst>
                <a:outerShdw blurRad="63500" dist="25400" dir="5400000" rotWithShape="0">
                  <a:srgbClr val="000000">
                    <a:alpha val="50000"/>
                  </a:srgbClr>
                </a:outerShdw>
              </a:effec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745" name="Circle"/>
              <p:cNvSpPr/>
              <p:nvPr/>
            </p:nvSpPr>
            <p:spPr>
              <a:xfrm>
                <a:off x="9058850" y="7834196"/>
                <a:ext cx="1235351" cy="1235350"/>
              </a:xfrm>
              <a:prstGeom prst="ellipse">
                <a:avLst/>
              </a:prstGeom>
              <a:solidFill>
                <a:srgbClr val="50AA5D"/>
              </a:solidFill>
              <a:ln w="12700" cap="flat">
                <a:noFill/>
                <a:miter lim="400000"/>
              </a:ln>
              <a:effectLst>
                <a:outerShdw blurRad="63500" dist="25400" dir="5400000" rotWithShape="0">
                  <a:srgbClr val="000000">
                    <a:alpha val="50000"/>
                  </a:srgbClr>
                </a:outerShdw>
              </a:effec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746" name="Circle"/>
              <p:cNvSpPr/>
              <p:nvPr/>
            </p:nvSpPr>
            <p:spPr>
              <a:xfrm>
                <a:off x="7347935" y="9365015"/>
                <a:ext cx="1235350" cy="1235351"/>
              </a:xfrm>
              <a:prstGeom prst="ellipse">
                <a:avLst/>
              </a:prstGeom>
              <a:solidFill>
                <a:srgbClr val="3E3FF5"/>
              </a:solidFill>
              <a:ln w="12700" cap="flat">
                <a:noFill/>
                <a:miter lim="400000"/>
              </a:ln>
              <a:effectLst>
                <a:outerShdw blurRad="63500" dist="25400" dir="5400000" rotWithShape="0">
                  <a:srgbClr val="000000">
                    <a:alpha val="50000"/>
                  </a:srgbClr>
                </a:outerShdw>
              </a:effec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747" name="Circle"/>
              <p:cNvSpPr/>
              <p:nvPr/>
            </p:nvSpPr>
            <p:spPr>
              <a:xfrm>
                <a:off x="4978070" y="9995352"/>
                <a:ext cx="1235350" cy="1235350"/>
              </a:xfrm>
              <a:prstGeom prst="ellipse">
                <a:avLst/>
              </a:prstGeom>
              <a:solidFill>
                <a:srgbClr val="3A7B7E"/>
              </a:solidFill>
              <a:ln w="12700" cap="flat">
                <a:noFill/>
                <a:miter lim="400000"/>
              </a:ln>
              <a:effectLst>
                <a:outerShdw blurRad="63500" dist="25400" dir="5400000" rotWithShape="0">
                  <a:srgbClr val="000000">
                    <a:alpha val="50000"/>
                  </a:srgbClr>
                </a:outerShdw>
              </a:effec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748" name="Circle"/>
              <p:cNvSpPr/>
              <p:nvPr/>
            </p:nvSpPr>
            <p:spPr>
              <a:xfrm>
                <a:off x="2608205" y="9365015"/>
                <a:ext cx="1235351" cy="1235351"/>
              </a:xfrm>
              <a:prstGeom prst="ellipse">
                <a:avLst/>
              </a:prstGeom>
              <a:solidFill>
                <a:srgbClr val="37739D"/>
              </a:solidFill>
              <a:ln w="12700" cap="flat">
                <a:noFill/>
                <a:miter lim="400000"/>
              </a:ln>
              <a:effectLst>
                <a:outerShdw blurRad="63500" dist="25400" dir="5400000" rotWithShape="0">
                  <a:srgbClr val="000000">
                    <a:alpha val="50000"/>
                  </a:srgbClr>
                </a:outerShdw>
              </a:effec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749" name="Circle"/>
              <p:cNvSpPr/>
              <p:nvPr/>
            </p:nvSpPr>
            <p:spPr>
              <a:xfrm>
                <a:off x="843260" y="7834196"/>
                <a:ext cx="1235351" cy="1235350"/>
              </a:xfrm>
              <a:prstGeom prst="ellipse">
                <a:avLst/>
              </a:prstGeom>
              <a:solidFill>
                <a:srgbClr val="E07344"/>
              </a:solidFill>
              <a:ln w="12700" cap="flat">
                <a:noFill/>
                <a:miter lim="400000"/>
              </a:ln>
              <a:effectLst>
                <a:outerShdw blurRad="63500" dist="25400" dir="5400000" rotWithShape="0">
                  <a:srgbClr val="000000">
                    <a:alpha val="50000"/>
                  </a:srgbClr>
                </a:outerShdw>
              </a:effec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750" name="Circle"/>
              <p:cNvSpPr/>
              <p:nvPr/>
            </p:nvSpPr>
            <p:spPr>
              <a:xfrm>
                <a:off x="0" y="5510951"/>
                <a:ext cx="1235350" cy="1235350"/>
              </a:xfrm>
              <a:prstGeom prst="ellipse">
                <a:avLst/>
              </a:prstGeom>
              <a:solidFill>
                <a:srgbClr val="50AA5D"/>
              </a:solidFill>
              <a:ln w="12700" cap="flat">
                <a:noFill/>
                <a:miter lim="400000"/>
              </a:ln>
              <a:effectLst>
                <a:outerShdw blurRad="63500" dist="25400" dir="5400000" rotWithShape="0">
                  <a:srgbClr val="000000">
                    <a:alpha val="50000"/>
                  </a:srgbClr>
                </a:outerShdw>
              </a:effec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grpSp>
            <p:nvGrpSpPr>
              <p:cNvPr id="763" name="Group"/>
              <p:cNvGrpSpPr/>
              <p:nvPr/>
            </p:nvGrpSpPr>
            <p:grpSpPr>
              <a:xfrm>
                <a:off x="2918225" y="2940464"/>
                <a:ext cx="5340221" cy="5349774"/>
                <a:chOff x="0" y="0"/>
                <a:chExt cx="5340220" cy="5349773"/>
              </a:xfrm>
            </p:grpSpPr>
            <p:sp>
              <p:nvSpPr>
                <p:cNvPr id="751" name="Shape"/>
                <p:cNvSpPr/>
                <p:nvPr/>
              </p:nvSpPr>
              <p:spPr>
                <a:xfrm>
                  <a:off x="2686826" y="2696379"/>
                  <a:ext cx="2653395" cy="265339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0"/>
                      </a:moveTo>
                      <a:cubicBezTo>
                        <a:pt x="21600" y="11929"/>
                        <a:pt x="11929" y="21600"/>
                        <a:pt x="0" y="2160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7739D"/>
                </a:solidFill>
                <a:ln w="12700" cap="flat">
                  <a:noFill/>
                  <a:miter lim="400000"/>
                </a:ln>
                <a:effectLst>
                  <a:outerShdw blurRad="76200" dist="25400" dir="5400000" rotWithShape="0">
                    <a:srgbClr val="000000">
                      <a:alpha val="20000"/>
                    </a:srgbClr>
                  </a:outerShdw>
                </a:effectLst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algn="ctr" defTabSz="1244600">
                    <a:spcBef>
                      <a:spcPts val="1500"/>
                    </a:spcBef>
                    <a:defRPr sz="3600">
                      <a:solidFill>
                        <a:srgbClr val="F0F0F0"/>
                      </a:solidFill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/>
                </a:p>
              </p:txBody>
            </p:sp>
            <p:sp>
              <p:nvSpPr>
                <p:cNvPr id="752" name="BI/Analytics"/>
                <p:cNvSpPr txBox="1"/>
                <p:nvPr/>
              </p:nvSpPr>
              <p:spPr>
                <a:xfrm>
                  <a:off x="2770663" y="3823554"/>
                  <a:ext cx="1958457" cy="77365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35559" tIns="35559" rIns="35559" bIns="35559" numCol="1" anchor="ctr">
                  <a:noAutofit/>
                </a:bodyPr>
                <a:lstStyle>
                  <a:lvl1pPr algn="ctr" defTabSz="1244600">
                    <a:spcBef>
                      <a:spcPts val="1100"/>
                    </a:spcBef>
                    <a:defRPr sz="2000" b="1">
                      <a:solidFill>
                        <a:srgbClr val="FFFFFF"/>
                      </a:solidFill>
                      <a:latin typeface="Open Sans"/>
                      <a:ea typeface="Open Sans"/>
                      <a:cs typeface="Open Sans"/>
                      <a:sym typeface="Open Sans"/>
                    </a:defRPr>
                  </a:lvl1pPr>
                </a:lstStyle>
                <a:p>
                  <a:r>
                    <a:rPr dirty="0"/>
                    <a:t>BI/Analytics</a:t>
                  </a:r>
                </a:p>
              </p:txBody>
            </p:sp>
            <p:sp>
              <p:nvSpPr>
                <p:cNvPr id="753" name="Shape"/>
                <p:cNvSpPr/>
                <p:nvPr/>
              </p:nvSpPr>
              <p:spPr>
                <a:xfrm>
                  <a:off x="0" y="2696379"/>
                  <a:ext cx="2653394" cy="265339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21600"/>
                      </a:moveTo>
                      <a:cubicBezTo>
                        <a:pt x="9671" y="21600"/>
                        <a:pt x="0" y="11929"/>
                        <a:pt x="0" y="0"/>
                      </a:cubicBez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3A7B7E"/>
                </a:solidFill>
                <a:ln w="12700" cap="flat">
                  <a:noFill/>
                  <a:miter lim="400000"/>
                </a:ln>
                <a:effectLst>
                  <a:outerShdw blurRad="76200" dist="25400" dir="5400000" rotWithShape="0">
                    <a:srgbClr val="000000">
                      <a:alpha val="20000"/>
                    </a:srgbClr>
                  </a:outerShdw>
                </a:effectLst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algn="ctr" defTabSz="1244600">
                    <a:spcBef>
                      <a:spcPts val="1500"/>
                    </a:spcBef>
                    <a:defRPr sz="3600">
                      <a:solidFill>
                        <a:srgbClr val="F0F0F0"/>
                      </a:solidFill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/>
                </a:p>
              </p:txBody>
            </p:sp>
            <p:sp>
              <p:nvSpPr>
                <p:cNvPr id="754" name="AI/ML"/>
                <p:cNvSpPr txBox="1"/>
                <p:nvPr/>
              </p:nvSpPr>
              <p:spPr>
                <a:xfrm>
                  <a:off x="600173" y="3823554"/>
                  <a:ext cx="1958457" cy="71049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35559" tIns="35559" rIns="35559" bIns="35559" numCol="1" anchor="ctr">
                  <a:noAutofit/>
                </a:bodyPr>
                <a:lstStyle>
                  <a:lvl1pPr algn="ctr" defTabSz="1244600">
                    <a:spcBef>
                      <a:spcPts val="1100"/>
                    </a:spcBef>
                    <a:defRPr sz="2000" b="1">
                      <a:solidFill>
                        <a:srgbClr val="FFFFFF"/>
                      </a:solidFill>
                      <a:latin typeface="Open Sans"/>
                      <a:ea typeface="Open Sans"/>
                      <a:cs typeface="Open Sans"/>
                      <a:sym typeface="Open Sans"/>
                    </a:defRPr>
                  </a:lvl1pPr>
                </a:lstStyle>
                <a:p>
                  <a:r>
                    <a:t>AI/ML</a:t>
                  </a:r>
                </a:p>
              </p:txBody>
            </p:sp>
            <p:sp>
              <p:nvSpPr>
                <p:cNvPr id="755" name="Shape"/>
                <p:cNvSpPr/>
                <p:nvPr/>
              </p:nvSpPr>
              <p:spPr>
                <a:xfrm>
                  <a:off x="0" y="0"/>
                  <a:ext cx="2653394" cy="265339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cubicBezTo>
                        <a:pt x="0" y="9671"/>
                        <a:pt x="9671" y="0"/>
                        <a:pt x="21600" y="0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3E3FF5"/>
                </a:solidFill>
                <a:ln w="12700" cap="flat">
                  <a:noFill/>
                  <a:miter lim="400000"/>
                </a:ln>
                <a:effectLst>
                  <a:outerShdw blurRad="76200" dist="25400" dir="5400000" rotWithShape="0">
                    <a:srgbClr val="000000">
                      <a:alpha val="20000"/>
                    </a:srgbClr>
                  </a:outerShdw>
                </a:effectLst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algn="ctr" defTabSz="1244600">
                    <a:spcBef>
                      <a:spcPts val="1500"/>
                    </a:spcBef>
                    <a:defRPr sz="3600">
                      <a:solidFill>
                        <a:srgbClr val="F0F0F0"/>
                      </a:solidFill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/>
                </a:p>
              </p:txBody>
            </p:sp>
            <p:sp>
              <p:nvSpPr>
                <p:cNvPr id="756" name="BPMN"/>
                <p:cNvSpPr txBox="1"/>
                <p:nvPr/>
              </p:nvSpPr>
              <p:spPr>
                <a:xfrm>
                  <a:off x="600173" y="1935384"/>
                  <a:ext cx="1958457" cy="39177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35559" tIns="35559" rIns="35559" bIns="35559" numCol="1" anchor="ctr">
                  <a:noAutofit/>
                </a:bodyPr>
                <a:lstStyle>
                  <a:lvl1pPr algn="ctr" defTabSz="1244600">
                    <a:spcBef>
                      <a:spcPts val="1100"/>
                    </a:spcBef>
                    <a:defRPr sz="2000" b="1">
                      <a:solidFill>
                        <a:srgbClr val="FFFFFF"/>
                      </a:solidFill>
                      <a:latin typeface="Open Sans"/>
                      <a:ea typeface="Open Sans"/>
                      <a:cs typeface="Open Sans"/>
                      <a:sym typeface="Open Sans"/>
                    </a:defRPr>
                  </a:lvl1pPr>
                </a:lstStyle>
                <a:p>
                  <a:r>
                    <a:t>BPMN</a:t>
                  </a:r>
                </a:p>
              </p:txBody>
            </p:sp>
            <p:sp>
              <p:nvSpPr>
                <p:cNvPr id="757" name="Shape"/>
                <p:cNvSpPr/>
                <p:nvPr/>
              </p:nvSpPr>
              <p:spPr>
                <a:xfrm flipH="1">
                  <a:off x="2686826" y="0"/>
                  <a:ext cx="2653395" cy="265339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cubicBezTo>
                        <a:pt x="0" y="9671"/>
                        <a:pt x="9671" y="0"/>
                        <a:pt x="21600" y="0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E07344"/>
                </a:solidFill>
                <a:ln w="12700" cap="flat">
                  <a:noFill/>
                  <a:miter lim="400000"/>
                </a:ln>
                <a:effectLst>
                  <a:outerShdw blurRad="76200" dist="25400" dir="5400000" rotWithShape="0">
                    <a:srgbClr val="000000">
                      <a:alpha val="20000"/>
                    </a:srgbClr>
                  </a:outerShdw>
                </a:effectLst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algn="ctr" defTabSz="1244600">
                    <a:spcBef>
                      <a:spcPts val="1500"/>
                    </a:spcBef>
                    <a:defRPr sz="3600">
                      <a:solidFill>
                        <a:srgbClr val="F0F0F0"/>
                      </a:solidFill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/>
                </a:p>
              </p:txBody>
            </p:sp>
            <p:sp>
              <p:nvSpPr>
                <p:cNvPr id="758" name="RPA"/>
                <p:cNvSpPr txBox="1"/>
                <p:nvPr/>
              </p:nvSpPr>
              <p:spPr>
                <a:xfrm>
                  <a:off x="2770663" y="1935384"/>
                  <a:ext cx="1958457" cy="40348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35559" tIns="35559" rIns="35559" bIns="35559" numCol="1" anchor="ctr">
                  <a:noAutofit/>
                </a:bodyPr>
                <a:lstStyle>
                  <a:lvl1pPr algn="ctr" defTabSz="1244600">
                    <a:spcBef>
                      <a:spcPts val="1100"/>
                    </a:spcBef>
                    <a:defRPr sz="2000" b="1">
                      <a:solidFill>
                        <a:srgbClr val="FFFFFF"/>
                      </a:solidFill>
                      <a:latin typeface="Open Sans"/>
                      <a:ea typeface="Open Sans"/>
                      <a:cs typeface="Open Sans"/>
                      <a:sym typeface="Open Sans"/>
                    </a:defRPr>
                  </a:lvl1pPr>
                </a:lstStyle>
                <a:p>
                  <a:r>
                    <a:t>RPA</a:t>
                  </a:r>
                </a:p>
              </p:txBody>
            </p:sp>
            <p:sp>
              <p:nvSpPr>
                <p:cNvPr id="759" name="Freeform 776"/>
                <p:cNvSpPr/>
                <p:nvPr/>
              </p:nvSpPr>
              <p:spPr>
                <a:xfrm>
                  <a:off x="3494972" y="855882"/>
                  <a:ext cx="509837" cy="71049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5772" y="16875"/>
                      </a:moveTo>
                      <a:cubicBezTo>
                        <a:pt x="4097" y="16875"/>
                        <a:pt x="4097" y="16875"/>
                        <a:pt x="4097" y="16875"/>
                      </a:cubicBezTo>
                      <a:cubicBezTo>
                        <a:pt x="3724" y="16200"/>
                        <a:pt x="2979" y="15795"/>
                        <a:pt x="2048" y="15795"/>
                      </a:cubicBezTo>
                      <a:cubicBezTo>
                        <a:pt x="931" y="15795"/>
                        <a:pt x="0" y="16335"/>
                        <a:pt x="0" y="17145"/>
                      </a:cubicBezTo>
                      <a:cubicBezTo>
                        <a:pt x="0" y="18090"/>
                        <a:pt x="931" y="18630"/>
                        <a:pt x="2048" y="18630"/>
                      </a:cubicBezTo>
                      <a:cubicBezTo>
                        <a:pt x="2979" y="18630"/>
                        <a:pt x="3724" y="18225"/>
                        <a:pt x="4097" y="17550"/>
                      </a:cubicBezTo>
                      <a:cubicBezTo>
                        <a:pt x="5772" y="17550"/>
                        <a:pt x="5772" y="17550"/>
                        <a:pt x="5772" y="17550"/>
                      </a:cubicBezTo>
                      <a:cubicBezTo>
                        <a:pt x="7076" y="17550"/>
                        <a:pt x="8007" y="16875"/>
                        <a:pt x="8007" y="16065"/>
                      </a:cubicBezTo>
                      <a:cubicBezTo>
                        <a:pt x="8007" y="13500"/>
                        <a:pt x="8007" y="13500"/>
                        <a:pt x="8007" y="13500"/>
                      </a:cubicBezTo>
                      <a:cubicBezTo>
                        <a:pt x="8007" y="13365"/>
                        <a:pt x="7821" y="13095"/>
                        <a:pt x="7448" y="13095"/>
                      </a:cubicBezTo>
                      <a:cubicBezTo>
                        <a:pt x="7262" y="13095"/>
                        <a:pt x="6890" y="13365"/>
                        <a:pt x="6890" y="13500"/>
                      </a:cubicBezTo>
                      <a:cubicBezTo>
                        <a:pt x="6890" y="16065"/>
                        <a:pt x="6890" y="16065"/>
                        <a:pt x="6890" y="16065"/>
                      </a:cubicBezTo>
                      <a:cubicBezTo>
                        <a:pt x="6890" y="16470"/>
                        <a:pt x="6517" y="16875"/>
                        <a:pt x="5772" y="16875"/>
                      </a:cubicBezTo>
                      <a:close/>
                      <a:moveTo>
                        <a:pt x="2048" y="17820"/>
                      </a:moveTo>
                      <a:cubicBezTo>
                        <a:pt x="1490" y="17820"/>
                        <a:pt x="1117" y="17550"/>
                        <a:pt x="1117" y="17280"/>
                      </a:cubicBezTo>
                      <a:cubicBezTo>
                        <a:pt x="1117" y="16875"/>
                        <a:pt x="1490" y="16605"/>
                        <a:pt x="2048" y="16605"/>
                      </a:cubicBezTo>
                      <a:cubicBezTo>
                        <a:pt x="2607" y="16605"/>
                        <a:pt x="2979" y="16875"/>
                        <a:pt x="2979" y="17280"/>
                      </a:cubicBezTo>
                      <a:cubicBezTo>
                        <a:pt x="2979" y="17550"/>
                        <a:pt x="2607" y="17820"/>
                        <a:pt x="2048" y="17820"/>
                      </a:cubicBezTo>
                      <a:close/>
                      <a:moveTo>
                        <a:pt x="14152" y="13095"/>
                      </a:moveTo>
                      <a:cubicBezTo>
                        <a:pt x="13779" y="13095"/>
                        <a:pt x="13593" y="13365"/>
                        <a:pt x="13593" y="13500"/>
                      </a:cubicBezTo>
                      <a:cubicBezTo>
                        <a:pt x="13593" y="16065"/>
                        <a:pt x="13593" y="16065"/>
                        <a:pt x="13593" y="16065"/>
                      </a:cubicBezTo>
                      <a:cubicBezTo>
                        <a:pt x="13593" y="16875"/>
                        <a:pt x="14524" y="17550"/>
                        <a:pt x="15641" y="17550"/>
                      </a:cubicBezTo>
                      <a:cubicBezTo>
                        <a:pt x="17503" y="17550"/>
                        <a:pt x="17503" y="17550"/>
                        <a:pt x="17503" y="17550"/>
                      </a:cubicBezTo>
                      <a:cubicBezTo>
                        <a:pt x="17876" y="18225"/>
                        <a:pt x="18621" y="18630"/>
                        <a:pt x="19552" y="18630"/>
                      </a:cubicBezTo>
                      <a:cubicBezTo>
                        <a:pt x="20669" y="18630"/>
                        <a:pt x="21600" y="18090"/>
                        <a:pt x="21600" y="17280"/>
                      </a:cubicBezTo>
                      <a:cubicBezTo>
                        <a:pt x="21600" y="16470"/>
                        <a:pt x="20669" y="15795"/>
                        <a:pt x="19552" y="15795"/>
                      </a:cubicBezTo>
                      <a:cubicBezTo>
                        <a:pt x="18621" y="15795"/>
                        <a:pt x="17876" y="16200"/>
                        <a:pt x="17503" y="16875"/>
                      </a:cubicBezTo>
                      <a:cubicBezTo>
                        <a:pt x="15641" y="16875"/>
                        <a:pt x="15641" y="16875"/>
                        <a:pt x="15641" y="16875"/>
                      </a:cubicBezTo>
                      <a:cubicBezTo>
                        <a:pt x="15083" y="16875"/>
                        <a:pt x="14710" y="16470"/>
                        <a:pt x="14710" y="16065"/>
                      </a:cubicBezTo>
                      <a:cubicBezTo>
                        <a:pt x="14710" y="13500"/>
                        <a:pt x="14710" y="13500"/>
                        <a:pt x="14710" y="13500"/>
                      </a:cubicBezTo>
                      <a:cubicBezTo>
                        <a:pt x="14710" y="13365"/>
                        <a:pt x="14338" y="13095"/>
                        <a:pt x="14152" y="13095"/>
                      </a:cubicBezTo>
                      <a:close/>
                      <a:moveTo>
                        <a:pt x="19552" y="16605"/>
                      </a:moveTo>
                      <a:cubicBezTo>
                        <a:pt x="19924" y="16605"/>
                        <a:pt x="20483" y="16875"/>
                        <a:pt x="20483" y="17145"/>
                      </a:cubicBezTo>
                      <a:cubicBezTo>
                        <a:pt x="20483" y="17550"/>
                        <a:pt x="19924" y="17820"/>
                        <a:pt x="19552" y="17820"/>
                      </a:cubicBezTo>
                      <a:cubicBezTo>
                        <a:pt x="18993" y="17820"/>
                        <a:pt x="18621" y="17550"/>
                        <a:pt x="18621" y="17145"/>
                      </a:cubicBezTo>
                      <a:cubicBezTo>
                        <a:pt x="18621" y="16875"/>
                        <a:pt x="18993" y="16605"/>
                        <a:pt x="19552" y="16605"/>
                      </a:cubicBezTo>
                      <a:close/>
                      <a:moveTo>
                        <a:pt x="11359" y="0"/>
                      </a:moveTo>
                      <a:cubicBezTo>
                        <a:pt x="9124" y="0"/>
                        <a:pt x="7076" y="945"/>
                        <a:pt x="5959" y="2295"/>
                      </a:cubicBezTo>
                      <a:cubicBezTo>
                        <a:pt x="5772" y="2295"/>
                        <a:pt x="5586" y="2295"/>
                        <a:pt x="5214" y="2295"/>
                      </a:cubicBezTo>
                      <a:cubicBezTo>
                        <a:pt x="3352" y="2295"/>
                        <a:pt x="1862" y="3375"/>
                        <a:pt x="1862" y="4725"/>
                      </a:cubicBezTo>
                      <a:cubicBezTo>
                        <a:pt x="1862" y="4860"/>
                        <a:pt x="1862" y="4995"/>
                        <a:pt x="2048" y="5265"/>
                      </a:cubicBezTo>
                      <a:cubicBezTo>
                        <a:pt x="745" y="5805"/>
                        <a:pt x="0" y="6885"/>
                        <a:pt x="0" y="7965"/>
                      </a:cubicBezTo>
                      <a:cubicBezTo>
                        <a:pt x="0" y="9855"/>
                        <a:pt x="2048" y="11475"/>
                        <a:pt x="4469" y="11610"/>
                      </a:cubicBezTo>
                      <a:cubicBezTo>
                        <a:pt x="4469" y="11610"/>
                        <a:pt x="4469" y="11610"/>
                        <a:pt x="4469" y="11610"/>
                      </a:cubicBezTo>
                      <a:cubicBezTo>
                        <a:pt x="16572" y="11610"/>
                        <a:pt x="16572" y="11610"/>
                        <a:pt x="16572" y="11610"/>
                      </a:cubicBezTo>
                      <a:cubicBezTo>
                        <a:pt x="16572" y="11610"/>
                        <a:pt x="16572" y="11610"/>
                        <a:pt x="16572" y="11610"/>
                      </a:cubicBezTo>
                      <a:cubicBezTo>
                        <a:pt x="19366" y="11475"/>
                        <a:pt x="21600" y="9720"/>
                        <a:pt x="21600" y="7695"/>
                      </a:cubicBezTo>
                      <a:cubicBezTo>
                        <a:pt x="21600" y="5805"/>
                        <a:pt x="19924" y="4185"/>
                        <a:pt x="17503" y="3780"/>
                      </a:cubicBezTo>
                      <a:cubicBezTo>
                        <a:pt x="17131" y="1620"/>
                        <a:pt x="14524" y="0"/>
                        <a:pt x="11359" y="0"/>
                      </a:cubicBezTo>
                      <a:close/>
                      <a:moveTo>
                        <a:pt x="20483" y="7695"/>
                      </a:moveTo>
                      <a:cubicBezTo>
                        <a:pt x="20483" y="9315"/>
                        <a:pt x="18807" y="10665"/>
                        <a:pt x="16572" y="10800"/>
                      </a:cubicBezTo>
                      <a:cubicBezTo>
                        <a:pt x="4469" y="10800"/>
                        <a:pt x="4469" y="10800"/>
                        <a:pt x="4469" y="10800"/>
                      </a:cubicBezTo>
                      <a:cubicBezTo>
                        <a:pt x="2607" y="10665"/>
                        <a:pt x="1117" y="9450"/>
                        <a:pt x="1117" y="7965"/>
                      </a:cubicBezTo>
                      <a:cubicBezTo>
                        <a:pt x="1117" y="7020"/>
                        <a:pt x="1862" y="6210"/>
                        <a:pt x="2979" y="5805"/>
                      </a:cubicBezTo>
                      <a:cubicBezTo>
                        <a:pt x="3166" y="5670"/>
                        <a:pt x="3166" y="5400"/>
                        <a:pt x="3166" y="5265"/>
                      </a:cubicBezTo>
                      <a:cubicBezTo>
                        <a:pt x="2979" y="5130"/>
                        <a:pt x="2979" y="4860"/>
                        <a:pt x="2979" y="4725"/>
                      </a:cubicBezTo>
                      <a:cubicBezTo>
                        <a:pt x="2979" y="3780"/>
                        <a:pt x="4097" y="2970"/>
                        <a:pt x="5214" y="2970"/>
                      </a:cubicBezTo>
                      <a:cubicBezTo>
                        <a:pt x="5586" y="2970"/>
                        <a:pt x="5772" y="3105"/>
                        <a:pt x="6145" y="3105"/>
                      </a:cubicBezTo>
                      <a:cubicBezTo>
                        <a:pt x="6331" y="3240"/>
                        <a:pt x="6703" y="3105"/>
                        <a:pt x="6703" y="2970"/>
                      </a:cubicBezTo>
                      <a:cubicBezTo>
                        <a:pt x="7634" y="1620"/>
                        <a:pt x="9497" y="810"/>
                        <a:pt x="11359" y="810"/>
                      </a:cubicBezTo>
                      <a:cubicBezTo>
                        <a:pt x="14152" y="810"/>
                        <a:pt x="16200" y="2295"/>
                        <a:pt x="16572" y="4185"/>
                      </a:cubicBezTo>
                      <a:cubicBezTo>
                        <a:pt x="16572" y="4320"/>
                        <a:pt x="16759" y="4455"/>
                        <a:pt x="16945" y="4455"/>
                      </a:cubicBezTo>
                      <a:cubicBezTo>
                        <a:pt x="18993" y="4725"/>
                        <a:pt x="20483" y="6075"/>
                        <a:pt x="20483" y="7695"/>
                      </a:cubicBezTo>
                      <a:close/>
                      <a:moveTo>
                        <a:pt x="10800" y="13095"/>
                      </a:moveTo>
                      <a:cubicBezTo>
                        <a:pt x="10428" y="13095"/>
                        <a:pt x="10241" y="13365"/>
                        <a:pt x="10241" y="13500"/>
                      </a:cubicBezTo>
                      <a:cubicBezTo>
                        <a:pt x="10241" y="18765"/>
                        <a:pt x="10241" y="18765"/>
                        <a:pt x="10241" y="18765"/>
                      </a:cubicBezTo>
                      <a:cubicBezTo>
                        <a:pt x="9310" y="18900"/>
                        <a:pt x="8752" y="19440"/>
                        <a:pt x="8752" y="20115"/>
                      </a:cubicBezTo>
                      <a:cubicBezTo>
                        <a:pt x="8752" y="20520"/>
                        <a:pt x="8938" y="20925"/>
                        <a:pt x="9310" y="21195"/>
                      </a:cubicBezTo>
                      <a:cubicBezTo>
                        <a:pt x="9683" y="21465"/>
                        <a:pt x="10241" y="21600"/>
                        <a:pt x="10800" y="21600"/>
                      </a:cubicBezTo>
                      <a:cubicBezTo>
                        <a:pt x="10800" y="21600"/>
                        <a:pt x="10800" y="21600"/>
                        <a:pt x="10800" y="21600"/>
                      </a:cubicBezTo>
                      <a:cubicBezTo>
                        <a:pt x="10800" y="21600"/>
                        <a:pt x="10800" y="21600"/>
                        <a:pt x="10800" y="21600"/>
                      </a:cubicBezTo>
                      <a:cubicBezTo>
                        <a:pt x="11917" y="21600"/>
                        <a:pt x="12848" y="20925"/>
                        <a:pt x="12848" y="20115"/>
                      </a:cubicBezTo>
                      <a:cubicBezTo>
                        <a:pt x="12848" y="19710"/>
                        <a:pt x="12662" y="19440"/>
                        <a:pt x="12290" y="19170"/>
                      </a:cubicBezTo>
                      <a:cubicBezTo>
                        <a:pt x="11917" y="18900"/>
                        <a:pt x="11731" y="18765"/>
                        <a:pt x="11359" y="18765"/>
                      </a:cubicBezTo>
                      <a:cubicBezTo>
                        <a:pt x="11359" y="13500"/>
                        <a:pt x="11359" y="13500"/>
                        <a:pt x="11359" y="13500"/>
                      </a:cubicBezTo>
                      <a:cubicBezTo>
                        <a:pt x="11359" y="13365"/>
                        <a:pt x="11172" y="13095"/>
                        <a:pt x="10800" y="13095"/>
                      </a:cubicBezTo>
                      <a:close/>
                      <a:moveTo>
                        <a:pt x="11731" y="20115"/>
                      </a:moveTo>
                      <a:cubicBezTo>
                        <a:pt x="11731" y="20520"/>
                        <a:pt x="11359" y="20790"/>
                        <a:pt x="10800" y="20790"/>
                      </a:cubicBezTo>
                      <a:cubicBezTo>
                        <a:pt x="10800" y="20790"/>
                        <a:pt x="10800" y="20790"/>
                        <a:pt x="10800" y="20790"/>
                      </a:cubicBezTo>
                      <a:cubicBezTo>
                        <a:pt x="10428" y="20790"/>
                        <a:pt x="10241" y="20655"/>
                        <a:pt x="10055" y="20655"/>
                      </a:cubicBezTo>
                      <a:cubicBezTo>
                        <a:pt x="9869" y="20520"/>
                        <a:pt x="9869" y="20250"/>
                        <a:pt x="9869" y="20115"/>
                      </a:cubicBezTo>
                      <a:cubicBezTo>
                        <a:pt x="9869" y="19710"/>
                        <a:pt x="10241" y="19440"/>
                        <a:pt x="10800" y="19440"/>
                      </a:cubicBezTo>
                      <a:cubicBezTo>
                        <a:pt x="10800" y="19440"/>
                        <a:pt x="10800" y="19440"/>
                        <a:pt x="10800" y="19440"/>
                      </a:cubicBezTo>
                      <a:cubicBezTo>
                        <a:pt x="10986" y="19440"/>
                        <a:pt x="11359" y="19575"/>
                        <a:pt x="11545" y="19710"/>
                      </a:cubicBezTo>
                      <a:cubicBezTo>
                        <a:pt x="11545" y="19845"/>
                        <a:pt x="11731" y="19980"/>
                        <a:pt x="11731" y="2011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spcBef>
                      <a:spcPts val="0"/>
                    </a:spcBef>
                    <a:defRPr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760" name="Freeform 825"/>
                <p:cNvSpPr/>
                <p:nvPr/>
              </p:nvSpPr>
              <p:spPr>
                <a:xfrm>
                  <a:off x="3435006" y="3079660"/>
                  <a:ext cx="629769" cy="62976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8830"/>
                      </a:moveTo>
                      <a:cubicBezTo>
                        <a:pt x="21600" y="6657"/>
                        <a:pt x="20790" y="4619"/>
                        <a:pt x="19440" y="2989"/>
                      </a:cubicBezTo>
                      <a:cubicBezTo>
                        <a:pt x="17820" y="1087"/>
                        <a:pt x="15390" y="0"/>
                        <a:pt x="12825" y="0"/>
                      </a:cubicBezTo>
                      <a:cubicBezTo>
                        <a:pt x="12690" y="0"/>
                        <a:pt x="12420" y="136"/>
                        <a:pt x="12420" y="408"/>
                      </a:cubicBezTo>
                      <a:cubicBezTo>
                        <a:pt x="12420" y="8830"/>
                        <a:pt x="12420" y="8830"/>
                        <a:pt x="12420" y="8830"/>
                      </a:cubicBezTo>
                      <a:cubicBezTo>
                        <a:pt x="12420" y="8966"/>
                        <a:pt x="12690" y="9238"/>
                        <a:pt x="12825" y="9238"/>
                      </a:cubicBezTo>
                      <a:cubicBezTo>
                        <a:pt x="21195" y="9238"/>
                        <a:pt x="21195" y="9238"/>
                        <a:pt x="21195" y="9238"/>
                      </a:cubicBezTo>
                      <a:cubicBezTo>
                        <a:pt x="21465" y="9238"/>
                        <a:pt x="21600" y="8966"/>
                        <a:pt x="21600" y="8830"/>
                      </a:cubicBezTo>
                      <a:close/>
                      <a:moveTo>
                        <a:pt x="13230" y="8423"/>
                      </a:moveTo>
                      <a:cubicBezTo>
                        <a:pt x="13230" y="815"/>
                        <a:pt x="13230" y="815"/>
                        <a:pt x="13230" y="815"/>
                      </a:cubicBezTo>
                      <a:cubicBezTo>
                        <a:pt x="15390" y="951"/>
                        <a:pt x="17415" y="1902"/>
                        <a:pt x="18765" y="3532"/>
                      </a:cubicBezTo>
                      <a:cubicBezTo>
                        <a:pt x="19980" y="4891"/>
                        <a:pt x="20655" y="6657"/>
                        <a:pt x="20790" y="8423"/>
                      </a:cubicBezTo>
                      <a:lnTo>
                        <a:pt x="13230" y="8423"/>
                      </a:lnTo>
                      <a:close/>
                      <a:moveTo>
                        <a:pt x="19170" y="11955"/>
                      </a:moveTo>
                      <a:cubicBezTo>
                        <a:pt x="19170" y="11683"/>
                        <a:pt x="19035" y="11547"/>
                        <a:pt x="18765" y="11547"/>
                      </a:cubicBezTo>
                      <a:cubicBezTo>
                        <a:pt x="18495" y="11547"/>
                        <a:pt x="18360" y="11683"/>
                        <a:pt x="18360" y="11955"/>
                      </a:cubicBezTo>
                      <a:cubicBezTo>
                        <a:pt x="18360" y="16845"/>
                        <a:pt x="14445" y="20785"/>
                        <a:pt x="9585" y="20785"/>
                      </a:cubicBezTo>
                      <a:cubicBezTo>
                        <a:pt x="4725" y="20785"/>
                        <a:pt x="810" y="16845"/>
                        <a:pt x="810" y="11955"/>
                      </a:cubicBezTo>
                      <a:cubicBezTo>
                        <a:pt x="810" y="7064"/>
                        <a:pt x="4725" y="3125"/>
                        <a:pt x="9585" y="3125"/>
                      </a:cubicBezTo>
                      <a:cubicBezTo>
                        <a:pt x="9855" y="3125"/>
                        <a:pt x="9990" y="2989"/>
                        <a:pt x="9990" y="2717"/>
                      </a:cubicBezTo>
                      <a:cubicBezTo>
                        <a:pt x="9990" y="2445"/>
                        <a:pt x="9855" y="2309"/>
                        <a:pt x="9585" y="2309"/>
                      </a:cubicBezTo>
                      <a:cubicBezTo>
                        <a:pt x="4320" y="2309"/>
                        <a:pt x="0" y="6657"/>
                        <a:pt x="0" y="11955"/>
                      </a:cubicBezTo>
                      <a:cubicBezTo>
                        <a:pt x="0" y="17253"/>
                        <a:pt x="4320" y="21600"/>
                        <a:pt x="9585" y="21600"/>
                      </a:cubicBezTo>
                      <a:cubicBezTo>
                        <a:pt x="14850" y="21600"/>
                        <a:pt x="19170" y="17253"/>
                        <a:pt x="19170" y="11955"/>
                      </a:cubicBezTo>
                      <a:close/>
                      <a:moveTo>
                        <a:pt x="9585" y="6249"/>
                      </a:moveTo>
                      <a:cubicBezTo>
                        <a:pt x="9315" y="6249"/>
                        <a:pt x="9180" y="6385"/>
                        <a:pt x="9180" y="6657"/>
                      </a:cubicBezTo>
                      <a:cubicBezTo>
                        <a:pt x="9180" y="6928"/>
                        <a:pt x="9315" y="7064"/>
                        <a:pt x="9585" y="7064"/>
                      </a:cubicBezTo>
                      <a:cubicBezTo>
                        <a:pt x="9855" y="7064"/>
                        <a:pt x="9990" y="6928"/>
                        <a:pt x="9990" y="6657"/>
                      </a:cubicBezTo>
                      <a:cubicBezTo>
                        <a:pt x="9990" y="6385"/>
                        <a:pt x="9855" y="6249"/>
                        <a:pt x="9585" y="6249"/>
                      </a:cubicBezTo>
                      <a:close/>
                      <a:moveTo>
                        <a:pt x="9585" y="3668"/>
                      </a:moveTo>
                      <a:cubicBezTo>
                        <a:pt x="9315" y="3668"/>
                        <a:pt x="9180" y="3804"/>
                        <a:pt x="9180" y="4075"/>
                      </a:cubicBezTo>
                      <a:cubicBezTo>
                        <a:pt x="9180" y="4211"/>
                        <a:pt x="9315" y="4483"/>
                        <a:pt x="9585" y="4483"/>
                      </a:cubicBezTo>
                      <a:cubicBezTo>
                        <a:pt x="9855" y="4483"/>
                        <a:pt x="9990" y="4211"/>
                        <a:pt x="9990" y="4075"/>
                      </a:cubicBezTo>
                      <a:cubicBezTo>
                        <a:pt x="9990" y="3804"/>
                        <a:pt x="9855" y="3668"/>
                        <a:pt x="9585" y="3668"/>
                      </a:cubicBezTo>
                      <a:close/>
                      <a:moveTo>
                        <a:pt x="9585" y="7608"/>
                      </a:moveTo>
                      <a:cubicBezTo>
                        <a:pt x="9315" y="7608"/>
                        <a:pt x="9180" y="7743"/>
                        <a:pt x="9180" y="8015"/>
                      </a:cubicBezTo>
                      <a:cubicBezTo>
                        <a:pt x="9180" y="8151"/>
                        <a:pt x="9315" y="8423"/>
                        <a:pt x="9585" y="8423"/>
                      </a:cubicBezTo>
                      <a:cubicBezTo>
                        <a:pt x="9855" y="8423"/>
                        <a:pt x="9990" y="8287"/>
                        <a:pt x="9990" y="8015"/>
                      </a:cubicBezTo>
                      <a:cubicBezTo>
                        <a:pt x="9990" y="7743"/>
                        <a:pt x="9855" y="7608"/>
                        <a:pt x="9585" y="7608"/>
                      </a:cubicBezTo>
                      <a:close/>
                      <a:moveTo>
                        <a:pt x="9585" y="4891"/>
                      </a:moveTo>
                      <a:cubicBezTo>
                        <a:pt x="9315" y="4891"/>
                        <a:pt x="9180" y="5162"/>
                        <a:pt x="9180" y="5298"/>
                      </a:cubicBezTo>
                      <a:cubicBezTo>
                        <a:pt x="9180" y="5570"/>
                        <a:pt x="9315" y="5706"/>
                        <a:pt x="9585" y="5706"/>
                      </a:cubicBezTo>
                      <a:cubicBezTo>
                        <a:pt x="9855" y="5706"/>
                        <a:pt x="9990" y="5570"/>
                        <a:pt x="9990" y="5298"/>
                      </a:cubicBezTo>
                      <a:cubicBezTo>
                        <a:pt x="9990" y="5162"/>
                        <a:pt x="9855" y="4891"/>
                        <a:pt x="9585" y="4891"/>
                      </a:cubicBezTo>
                      <a:close/>
                      <a:moveTo>
                        <a:pt x="9585" y="10189"/>
                      </a:moveTo>
                      <a:cubicBezTo>
                        <a:pt x="9315" y="10189"/>
                        <a:pt x="9180" y="10460"/>
                        <a:pt x="9180" y="10596"/>
                      </a:cubicBezTo>
                      <a:cubicBezTo>
                        <a:pt x="9180" y="10868"/>
                        <a:pt x="9315" y="11004"/>
                        <a:pt x="9585" y="11004"/>
                      </a:cubicBezTo>
                      <a:cubicBezTo>
                        <a:pt x="9855" y="11004"/>
                        <a:pt x="9990" y="10868"/>
                        <a:pt x="9990" y="10596"/>
                      </a:cubicBezTo>
                      <a:cubicBezTo>
                        <a:pt x="9990" y="10460"/>
                        <a:pt x="9855" y="10189"/>
                        <a:pt x="9585" y="10189"/>
                      </a:cubicBezTo>
                      <a:close/>
                      <a:moveTo>
                        <a:pt x="9585" y="8966"/>
                      </a:moveTo>
                      <a:cubicBezTo>
                        <a:pt x="9315" y="8966"/>
                        <a:pt x="9180" y="9102"/>
                        <a:pt x="9180" y="9374"/>
                      </a:cubicBezTo>
                      <a:cubicBezTo>
                        <a:pt x="9180" y="9509"/>
                        <a:pt x="9315" y="9781"/>
                        <a:pt x="9585" y="9781"/>
                      </a:cubicBezTo>
                      <a:cubicBezTo>
                        <a:pt x="9855" y="9781"/>
                        <a:pt x="9990" y="9509"/>
                        <a:pt x="9990" y="9374"/>
                      </a:cubicBezTo>
                      <a:cubicBezTo>
                        <a:pt x="9990" y="9102"/>
                        <a:pt x="9855" y="8966"/>
                        <a:pt x="9585" y="8966"/>
                      </a:cubicBezTo>
                      <a:close/>
                      <a:moveTo>
                        <a:pt x="9585" y="11547"/>
                      </a:moveTo>
                      <a:cubicBezTo>
                        <a:pt x="9450" y="11547"/>
                        <a:pt x="9315" y="11547"/>
                        <a:pt x="9315" y="11683"/>
                      </a:cubicBezTo>
                      <a:cubicBezTo>
                        <a:pt x="9180" y="11819"/>
                        <a:pt x="9180" y="11819"/>
                        <a:pt x="9180" y="11955"/>
                      </a:cubicBezTo>
                      <a:cubicBezTo>
                        <a:pt x="9180" y="12091"/>
                        <a:pt x="9180" y="12226"/>
                        <a:pt x="9315" y="12226"/>
                      </a:cubicBezTo>
                      <a:cubicBezTo>
                        <a:pt x="9315" y="12362"/>
                        <a:pt x="9450" y="12362"/>
                        <a:pt x="9585" y="12362"/>
                      </a:cubicBezTo>
                      <a:cubicBezTo>
                        <a:pt x="9720" y="12362"/>
                        <a:pt x="9855" y="12362"/>
                        <a:pt x="9855" y="12226"/>
                      </a:cubicBezTo>
                      <a:cubicBezTo>
                        <a:pt x="9990" y="12226"/>
                        <a:pt x="9990" y="12091"/>
                        <a:pt x="9990" y="11955"/>
                      </a:cubicBezTo>
                      <a:cubicBezTo>
                        <a:pt x="9990" y="11819"/>
                        <a:pt x="9990" y="11819"/>
                        <a:pt x="9855" y="11683"/>
                      </a:cubicBezTo>
                      <a:cubicBezTo>
                        <a:pt x="9855" y="11547"/>
                        <a:pt x="9720" y="11547"/>
                        <a:pt x="9585" y="11547"/>
                      </a:cubicBezTo>
                      <a:close/>
                      <a:moveTo>
                        <a:pt x="17820" y="11955"/>
                      </a:moveTo>
                      <a:cubicBezTo>
                        <a:pt x="17820" y="11683"/>
                        <a:pt x="17685" y="11547"/>
                        <a:pt x="17415" y="11547"/>
                      </a:cubicBezTo>
                      <a:cubicBezTo>
                        <a:pt x="17280" y="11547"/>
                        <a:pt x="17010" y="11683"/>
                        <a:pt x="17010" y="11955"/>
                      </a:cubicBezTo>
                      <a:cubicBezTo>
                        <a:pt x="17010" y="12226"/>
                        <a:pt x="17280" y="12362"/>
                        <a:pt x="17415" y="12362"/>
                      </a:cubicBezTo>
                      <a:cubicBezTo>
                        <a:pt x="17685" y="12362"/>
                        <a:pt x="17820" y="12226"/>
                        <a:pt x="17820" y="11955"/>
                      </a:cubicBezTo>
                      <a:close/>
                      <a:moveTo>
                        <a:pt x="12555" y="11955"/>
                      </a:moveTo>
                      <a:cubicBezTo>
                        <a:pt x="12555" y="11683"/>
                        <a:pt x="12420" y="11547"/>
                        <a:pt x="12150" y="11547"/>
                      </a:cubicBezTo>
                      <a:cubicBezTo>
                        <a:pt x="12015" y="11547"/>
                        <a:pt x="11880" y="11683"/>
                        <a:pt x="11880" y="11955"/>
                      </a:cubicBezTo>
                      <a:cubicBezTo>
                        <a:pt x="11880" y="12226"/>
                        <a:pt x="12015" y="12362"/>
                        <a:pt x="12150" y="12362"/>
                      </a:cubicBezTo>
                      <a:cubicBezTo>
                        <a:pt x="12420" y="12362"/>
                        <a:pt x="12555" y="12226"/>
                        <a:pt x="12555" y="11955"/>
                      </a:cubicBezTo>
                      <a:close/>
                      <a:moveTo>
                        <a:pt x="13905" y="11955"/>
                      </a:moveTo>
                      <a:cubicBezTo>
                        <a:pt x="13905" y="11683"/>
                        <a:pt x="13770" y="11547"/>
                        <a:pt x="13500" y="11547"/>
                      </a:cubicBezTo>
                      <a:cubicBezTo>
                        <a:pt x="13365" y="11547"/>
                        <a:pt x="13095" y="11683"/>
                        <a:pt x="13095" y="11955"/>
                      </a:cubicBezTo>
                      <a:cubicBezTo>
                        <a:pt x="13095" y="12226"/>
                        <a:pt x="13365" y="12362"/>
                        <a:pt x="13500" y="12362"/>
                      </a:cubicBezTo>
                      <a:cubicBezTo>
                        <a:pt x="13770" y="12362"/>
                        <a:pt x="13905" y="12226"/>
                        <a:pt x="13905" y="11955"/>
                      </a:cubicBezTo>
                      <a:close/>
                      <a:moveTo>
                        <a:pt x="15255" y="11955"/>
                      </a:moveTo>
                      <a:cubicBezTo>
                        <a:pt x="15255" y="11683"/>
                        <a:pt x="15120" y="11547"/>
                        <a:pt x="14850" y="11547"/>
                      </a:cubicBezTo>
                      <a:cubicBezTo>
                        <a:pt x="14580" y="11547"/>
                        <a:pt x="14445" y="11683"/>
                        <a:pt x="14445" y="11955"/>
                      </a:cubicBezTo>
                      <a:cubicBezTo>
                        <a:pt x="14445" y="12226"/>
                        <a:pt x="14580" y="12362"/>
                        <a:pt x="14850" y="12362"/>
                      </a:cubicBezTo>
                      <a:cubicBezTo>
                        <a:pt x="15120" y="12362"/>
                        <a:pt x="15255" y="12226"/>
                        <a:pt x="15255" y="11955"/>
                      </a:cubicBezTo>
                      <a:close/>
                      <a:moveTo>
                        <a:pt x="16200" y="12362"/>
                      </a:moveTo>
                      <a:cubicBezTo>
                        <a:pt x="16335" y="12362"/>
                        <a:pt x="16605" y="12226"/>
                        <a:pt x="16605" y="11955"/>
                      </a:cubicBezTo>
                      <a:cubicBezTo>
                        <a:pt x="16605" y="11683"/>
                        <a:pt x="16335" y="11547"/>
                        <a:pt x="16200" y="11547"/>
                      </a:cubicBezTo>
                      <a:cubicBezTo>
                        <a:pt x="15930" y="11547"/>
                        <a:pt x="15795" y="11683"/>
                        <a:pt x="15795" y="11955"/>
                      </a:cubicBezTo>
                      <a:cubicBezTo>
                        <a:pt x="15795" y="12226"/>
                        <a:pt x="15930" y="12362"/>
                        <a:pt x="16200" y="12362"/>
                      </a:cubicBezTo>
                      <a:close/>
                      <a:moveTo>
                        <a:pt x="11340" y="11955"/>
                      </a:moveTo>
                      <a:cubicBezTo>
                        <a:pt x="11340" y="11683"/>
                        <a:pt x="11070" y="11547"/>
                        <a:pt x="10935" y="11547"/>
                      </a:cubicBezTo>
                      <a:cubicBezTo>
                        <a:pt x="10665" y="11547"/>
                        <a:pt x="10530" y="11683"/>
                        <a:pt x="10530" y="11955"/>
                      </a:cubicBezTo>
                      <a:cubicBezTo>
                        <a:pt x="10530" y="12226"/>
                        <a:pt x="10665" y="12362"/>
                        <a:pt x="10935" y="12362"/>
                      </a:cubicBezTo>
                      <a:cubicBezTo>
                        <a:pt x="11070" y="12362"/>
                        <a:pt x="11340" y="12226"/>
                        <a:pt x="11340" y="1195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spcBef>
                      <a:spcPts val="0"/>
                    </a:spcBef>
                    <a:defRPr sz="1800"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761" name="Freeform 818"/>
                <p:cNvSpPr/>
                <p:nvPr/>
              </p:nvSpPr>
              <p:spPr>
                <a:xfrm>
                  <a:off x="1190190" y="931666"/>
                  <a:ext cx="778424" cy="55892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620" y="21600"/>
                      </a:moveTo>
                      <a:cubicBezTo>
                        <a:pt x="2565" y="21600"/>
                        <a:pt x="3240" y="20653"/>
                        <a:pt x="3240" y="19326"/>
                      </a:cubicBezTo>
                      <a:cubicBezTo>
                        <a:pt x="3240" y="18379"/>
                        <a:pt x="2700" y="17432"/>
                        <a:pt x="2025" y="17242"/>
                      </a:cubicBezTo>
                      <a:cubicBezTo>
                        <a:pt x="2025" y="15347"/>
                        <a:pt x="2025" y="15347"/>
                        <a:pt x="2025" y="15347"/>
                      </a:cubicBezTo>
                      <a:cubicBezTo>
                        <a:pt x="5805" y="15347"/>
                        <a:pt x="5805" y="15347"/>
                        <a:pt x="5805" y="15347"/>
                      </a:cubicBezTo>
                      <a:cubicBezTo>
                        <a:pt x="5805" y="17053"/>
                        <a:pt x="5805" y="17053"/>
                        <a:pt x="5805" y="17053"/>
                      </a:cubicBezTo>
                      <a:cubicBezTo>
                        <a:pt x="5130" y="17432"/>
                        <a:pt x="4590" y="18189"/>
                        <a:pt x="4590" y="19326"/>
                      </a:cubicBezTo>
                      <a:cubicBezTo>
                        <a:pt x="4590" y="20653"/>
                        <a:pt x="5265" y="21600"/>
                        <a:pt x="6210" y="21600"/>
                      </a:cubicBezTo>
                      <a:cubicBezTo>
                        <a:pt x="7155" y="21600"/>
                        <a:pt x="7830" y="20653"/>
                        <a:pt x="7830" y="19326"/>
                      </a:cubicBezTo>
                      <a:cubicBezTo>
                        <a:pt x="7830" y="18379"/>
                        <a:pt x="7290" y="17432"/>
                        <a:pt x="6615" y="17242"/>
                      </a:cubicBezTo>
                      <a:cubicBezTo>
                        <a:pt x="6615" y="12884"/>
                        <a:pt x="6615" y="12884"/>
                        <a:pt x="6615" y="12884"/>
                      </a:cubicBezTo>
                      <a:cubicBezTo>
                        <a:pt x="7290" y="12695"/>
                        <a:pt x="7830" y="11747"/>
                        <a:pt x="7830" y="10611"/>
                      </a:cubicBezTo>
                      <a:cubicBezTo>
                        <a:pt x="7830" y="9663"/>
                        <a:pt x="7290" y="8716"/>
                        <a:pt x="6615" y="8526"/>
                      </a:cubicBezTo>
                      <a:cubicBezTo>
                        <a:pt x="6615" y="7011"/>
                        <a:pt x="6615" y="7011"/>
                        <a:pt x="6615" y="7011"/>
                      </a:cubicBezTo>
                      <a:cubicBezTo>
                        <a:pt x="10395" y="7011"/>
                        <a:pt x="10395" y="7011"/>
                        <a:pt x="10395" y="7011"/>
                      </a:cubicBezTo>
                      <a:cubicBezTo>
                        <a:pt x="10395" y="8526"/>
                        <a:pt x="10395" y="8526"/>
                        <a:pt x="10395" y="8526"/>
                      </a:cubicBezTo>
                      <a:cubicBezTo>
                        <a:pt x="9720" y="8716"/>
                        <a:pt x="9180" y="9663"/>
                        <a:pt x="9180" y="10611"/>
                      </a:cubicBezTo>
                      <a:cubicBezTo>
                        <a:pt x="9180" y="11937"/>
                        <a:pt x="9855" y="12884"/>
                        <a:pt x="10800" y="12884"/>
                      </a:cubicBezTo>
                      <a:cubicBezTo>
                        <a:pt x="11745" y="12884"/>
                        <a:pt x="12420" y="11937"/>
                        <a:pt x="12420" y="10611"/>
                      </a:cubicBezTo>
                      <a:cubicBezTo>
                        <a:pt x="12420" y="9663"/>
                        <a:pt x="11880" y="8716"/>
                        <a:pt x="11205" y="8526"/>
                      </a:cubicBezTo>
                      <a:cubicBezTo>
                        <a:pt x="11205" y="7011"/>
                        <a:pt x="11205" y="7011"/>
                        <a:pt x="11205" y="7011"/>
                      </a:cubicBezTo>
                      <a:cubicBezTo>
                        <a:pt x="14985" y="7011"/>
                        <a:pt x="14985" y="7011"/>
                        <a:pt x="14985" y="7011"/>
                      </a:cubicBezTo>
                      <a:cubicBezTo>
                        <a:pt x="14985" y="8526"/>
                        <a:pt x="14985" y="8526"/>
                        <a:pt x="14985" y="8526"/>
                      </a:cubicBezTo>
                      <a:cubicBezTo>
                        <a:pt x="14310" y="8716"/>
                        <a:pt x="13770" y="9663"/>
                        <a:pt x="13770" y="10611"/>
                      </a:cubicBezTo>
                      <a:cubicBezTo>
                        <a:pt x="13770" y="11747"/>
                        <a:pt x="14310" y="12695"/>
                        <a:pt x="14985" y="12884"/>
                      </a:cubicBezTo>
                      <a:cubicBezTo>
                        <a:pt x="14985" y="14211"/>
                        <a:pt x="14985" y="14211"/>
                        <a:pt x="14985" y="14211"/>
                      </a:cubicBezTo>
                      <a:cubicBezTo>
                        <a:pt x="10800" y="14211"/>
                        <a:pt x="10800" y="14211"/>
                        <a:pt x="10800" y="14211"/>
                      </a:cubicBezTo>
                      <a:cubicBezTo>
                        <a:pt x="10530" y="14211"/>
                        <a:pt x="10395" y="14589"/>
                        <a:pt x="10395" y="14779"/>
                      </a:cubicBezTo>
                      <a:cubicBezTo>
                        <a:pt x="10395" y="17053"/>
                        <a:pt x="10395" y="17053"/>
                        <a:pt x="10395" y="17053"/>
                      </a:cubicBezTo>
                      <a:cubicBezTo>
                        <a:pt x="9720" y="17432"/>
                        <a:pt x="9180" y="18379"/>
                        <a:pt x="9180" y="19326"/>
                      </a:cubicBezTo>
                      <a:cubicBezTo>
                        <a:pt x="9180" y="20653"/>
                        <a:pt x="9855" y="21600"/>
                        <a:pt x="10800" y="21600"/>
                      </a:cubicBezTo>
                      <a:cubicBezTo>
                        <a:pt x="11745" y="21600"/>
                        <a:pt x="12420" y="20653"/>
                        <a:pt x="12420" y="19326"/>
                      </a:cubicBezTo>
                      <a:cubicBezTo>
                        <a:pt x="12420" y="18189"/>
                        <a:pt x="11880" y="17432"/>
                        <a:pt x="11205" y="17053"/>
                      </a:cubicBezTo>
                      <a:cubicBezTo>
                        <a:pt x="11205" y="15347"/>
                        <a:pt x="11205" y="15347"/>
                        <a:pt x="11205" y="15347"/>
                      </a:cubicBezTo>
                      <a:cubicBezTo>
                        <a:pt x="14985" y="15347"/>
                        <a:pt x="14985" y="15347"/>
                        <a:pt x="14985" y="15347"/>
                      </a:cubicBezTo>
                      <a:cubicBezTo>
                        <a:pt x="14985" y="17053"/>
                        <a:pt x="14985" y="17053"/>
                        <a:pt x="14985" y="17053"/>
                      </a:cubicBezTo>
                      <a:cubicBezTo>
                        <a:pt x="14310" y="17432"/>
                        <a:pt x="13770" y="18379"/>
                        <a:pt x="13770" y="19326"/>
                      </a:cubicBezTo>
                      <a:cubicBezTo>
                        <a:pt x="13770" y="20653"/>
                        <a:pt x="14445" y="21600"/>
                        <a:pt x="15390" y="21600"/>
                      </a:cubicBezTo>
                      <a:cubicBezTo>
                        <a:pt x="16335" y="21600"/>
                        <a:pt x="17010" y="20653"/>
                        <a:pt x="17010" y="19326"/>
                      </a:cubicBezTo>
                      <a:cubicBezTo>
                        <a:pt x="17010" y="18189"/>
                        <a:pt x="16470" y="17432"/>
                        <a:pt x="15795" y="17053"/>
                      </a:cubicBezTo>
                      <a:cubicBezTo>
                        <a:pt x="15795" y="15347"/>
                        <a:pt x="15795" y="15347"/>
                        <a:pt x="15795" y="15347"/>
                      </a:cubicBezTo>
                      <a:cubicBezTo>
                        <a:pt x="19575" y="15347"/>
                        <a:pt x="19575" y="15347"/>
                        <a:pt x="19575" y="15347"/>
                      </a:cubicBezTo>
                      <a:cubicBezTo>
                        <a:pt x="19575" y="17242"/>
                        <a:pt x="19575" y="17242"/>
                        <a:pt x="19575" y="17242"/>
                      </a:cubicBezTo>
                      <a:cubicBezTo>
                        <a:pt x="18900" y="17432"/>
                        <a:pt x="18360" y="18379"/>
                        <a:pt x="18360" y="19326"/>
                      </a:cubicBezTo>
                      <a:cubicBezTo>
                        <a:pt x="18360" y="20653"/>
                        <a:pt x="19035" y="21600"/>
                        <a:pt x="19980" y="21600"/>
                      </a:cubicBezTo>
                      <a:cubicBezTo>
                        <a:pt x="20925" y="21600"/>
                        <a:pt x="21600" y="20653"/>
                        <a:pt x="21600" y="19326"/>
                      </a:cubicBezTo>
                      <a:cubicBezTo>
                        <a:pt x="21600" y="18189"/>
                        <a:pt x="21060" y="17432"/>
                        <a:pt x="20385" y="17053"/>
                      </a:cubicBezTo>
                      <a:cubicBezTo>
                        <a:pt x="20385" y="14779"/>
                        <a:pt x="20385" y="14779"/>
                        <a:pt x="20385" y="14779"/>
                      </a:cubicBezTo>
                      <a:cubicBezTo>
                        <a:pt x="20385" y="14589"/>
                        <a:pt x="20115" y="14211"/>
                        <a:pt x="19980" y="14211"/>
                      </a:cubicBezTo>
                      <a:cubicBezTo>
                        <a:pt x="15795" y="14211"/>
                        <a:pt x="15795" y="14211"/>
                        <a:pt x="15795" y="14211"/>
                      </a:cubicBezTo>
                      <a:cubicBezTo>
                        <a:pt x="15795" y="12884"/>
                        <a:pt x="15795" y="12884"/>
                        <a:pt x="15795" y="12884"/>
                      </a:cubicBezTo>
                      <a:cubicBezTo>
                        <a:pt x="16470" y="12695"/>
                        <a:pt x="17010" y="11747"/>
                        <a:pt x="17010" y="10611"/>
                      </a:cubicBezTo>
                      <a:cubicBezTo>
                        <a:pt x="17010" y="9663"/>
                        <a:pt x="16470" y="8716"/>
                        <a:pt x="15795" y="8526"/>
                      </a:cubicBezTo>
                      <a:cubicBezTo>
                        <a:pt x="15795" y="6442"/>
                        <a:pt x="15795" y="6442"/>
                        <a:pt x="15795" y="6442"/>
                      </a:cubicBezTo>
                      <a:cubicBezTo>
                        <a:pt x="15795" y="6063"/>
                        <a:pt x="15660" y="5874"/>
                        <a:pt x="15390" y="5874"/>
                      </a:cubicBezTo>
                      <a:cubicBezTo>
                        <a:pt x="11205" y="5874"/>
                        <a:pt x="11205" y="5874"/>
                        <a:pt x="11205" y="5874"/>
                      </a:cubicBezTo>
                      <a:cubicBezTo>
                        <a:pt x="11205" y="4547"/>
                        <a:pt x="11205" y="4547"/>
                        <a:pt x="11205" y="4547"/>
                      </a:cubicBezTo>
                      <a:cubicBezTo>
                        <a:pt x="11880" y="4168"/>
                        <a:pt x="12420" y="3411"/>
                        <a:pt x="12420" y="2274"/>
                      </a:cubicBezTo>
                      <a:cubicBezTo>
                        <a:pt x="12420" y="947"/>
                        <a:pt x="11745" y="0"/>
                        <a:pt x="10800" y="0"/>
                      </a:cubicBezTo>
                      <a:cubicBezTo>
                        <a:pt x="9855" y="0"/>
                        <a:pt x="9180" y="947"/>
                        <a:pt x="9180" y="2274"/>
                      </a:cubicBezTo>
                      <a:cubicBezTo>
                        <a:pt x="9180" y="3411"/>
                        <a:pt x="9720" y="4168"/>
                        <a:pt x="10395" y="4547"/>
                      </a:cubicBezTo>
                      <a:cubicBezTo>
                        <a:pt x="10395" y="5874"/>
                        <a:pt x="10395" y="5874"/>
                        <a:pt x="10395" y="5874"/>
                      </a:cubicBezTo>
                      <a:cubicBezTo>
                        <a:pt x="6210" y="5874"/>
                        <a:pt x="6210" y="5874"/>
                        <a:pt x="6210" y="5874"/>
                      </a:cubicBezTo>
                      <a:cubicBezTo>
                        <a:pt x="5940" y="5874"/>
                        <a:pt x="5805" y="6063"/>
                        <a:pt x="5805" y="6442"/>
                      </a:cubicBezTo>
                      <a:cubicBezTo>
                        <a:pt x="5805" y="8526"/>
                        <a:pt x="5805" y="8526"/>
                        <a:pt x="5805" y="8526"/>
                      </a:cubicBezTo>
                      <a:cubicBezTo>
                        <a:pt x="5130" y="8716"/>
                        <a:pt x="4590" y="9663"/>
                        <a:pt x="4590" y="10611"/>
                      </a:cubicBezTo>
                      <a:cubicBezTo>
                        <a:pt x="4590" y="11747"/>
                        <a:pt x="5130" y="12695"/>
                        <a:pt x="5805" y="12884"/>
                      </a:cubicBezTo>
                      <a:cubicBezTo>
                        <a:pt x="5805" y="14400"/>
                        <a:pt x="5805" y="14400"/>
                        <a:pt x="5805" y="14400"/>
                      </a:cubicBezTo>
                      <a:cubicBezTo>
                        <a:pt x="1620" y="14400"/>
                        <a:pt x="1620" y="14400"/>
                        <a:pt x="1620" y="14400"/>
                      </a:cubicBezTo>
                      <a:cubicBezTo>
                        <a:pt x="1485" y="14400"/>
                        <a:pt x="1215" y="14589"/>
                        <a:pt x="1215" y="14779"/>
                      </a:cubicBezTo>
                      <a:cubicBezTo>
                        <a:pt x="1215" y="17053"/>
                        <a:pt x="1215" y="17053"/>
                        <a:pt x="1215" y="17053"/>
                      </a:cubicBezTo>
                      <a:cubicBezTo>
                        <a:pt x="540" y="17432"/>
                        <a:pt x="0" y="18189"/>
                        <a:pt x="0" y="19326"/>
                      </a:cubicBezTo>
                      <a:cubicBezTo>
                        <a:pt x="0" y="20653"/>
                        <a:pt x="675" y="21600"/>
                        <a:pt x="1620" y="21600"/>
                      </a:cubicBezTo>
                      <a:close/>
                      <a:moveTo>
                        <a:pt x="11610" y="10611"/>
                      </a:moveTo>
                      <a:cubicBezTo>
                        <a:pt x="11610" y="11368"/>
                        <a:pt x="11205" y="11747"/>
                        <a:pt x="10800" y="11747"/>
                      </a:cubicBezTo>
                      <a:cubicBezTo>
                        <a:pt x="10395" y="11747"/>
                        <a:pt x="9990" y="11368"/>
                        <a:pt x="9990" y="10611"/>
                      </a:cubicBezTo>
                      <a:cubicBezTo>
                        <a:pt x="9990" y="10042"/>
                        <a:pt x="10395" y="9474"/>
                        <a:pt x="10800" y="9474"/>
                      </a:cubicBezTo>
                      <a:cubicBezTo>
                        <a:pt x="11205" y="9474"/>
                        <a:pt x="11610" y="10042"/>
                        <a:pt x="11610" y="10611"/>
                      </a:cubicBezTo>
                      <a:close/>
                      <a:moveTo>
                        <a:pt x="11610" y="19326"/>
                      </a:moveTo>
                      <a:cubicBezTo>
                        <a:pt x="11610" y="19895"/>
                        <a:pt x="11205" y="20463"/>
                        <a:pt x="10800" y="20463"/>
                      </a:cubicBezTo>
                      <a:cubicBezTo>
                        <a:pt x="10395" y="20463"/>
                        <a:pt x="9990" y="19895"/>
                        <a:pt x="9990" y="19326"/>
                      </a:cubicBezTo>
                      <a:cubicBezTo>
                        <a:pt x="9990" y="18758"/>
                        <a:pt x="10395" y="18189"/>
                        <a:pt x="10800" y="18189"/>
                      </a:cubicBezTo>
                      <a:cubicBezTo>
                        <a:pt x="11205" y="18189"/>
                        <a:pt x="11610" y="18758"/>
                        <a:pt x="11610" y="19326"/>
                      </a:cubicBezTo>
                      <a:close/>
                      <a:moveTo>
                        <a:pt x="20790" y="19326"/>
                      </a:moveTo>
                      <a:cubicBezTo>
                        <a:pt x="20790" y="19895"/>
                        <a:pt x="20385" y="20463"/>
                        <a:pt x="19980" y="20463"/>
                      </a:cubicBezTo>
                      <a:cubicBezTo>
                        <a:pt x="19575" y="20463"/>
                        <a:pt x="19170" y="19895"/>
                        <a:pt x="19170" y="19326"/>
                      </a:cubicBezTo>
                      <a:cubicBezTo>
                        <a:pt x="19170" y="18758"/>
                        <a:pt x="19575" y="18189"/>
                        <a:pt x="19980" y="18189"/>
                      </a:cubicBezTo>
                      <a:cubicBezTo>
                        <a:pt x="20385" y="18189"/>
                        <a:pt x="20790" y="18758"/>
                        <a:pt x="20790" y="19326"/>
                      </a:cubicBezTo>
                      <a:close/>
                      <a:moveTo>
                        <a:pt x="16200" y="19326"/>
                      </a:moveTo>
                      <a:cubicBezTo>
                        <a:pt x="16200" y="19895"/>
                        <a:pt x="15795" y="20463"/>
                        <a:pt x="15390" y="20463"/>
                      </a:cubicBezTo>
                      <a:cubicBezTo>
                        <a:pt x="14985" y="20463"/>
                        <a:pt x="14580" y="19895"/>
                        <a:pt x="14580" y="19326"/>
                      </a:cubicBezTo>
                      <a:cubicBezTo>
                        <a:pt x="14580" y="18758"/>
                        <a:pt x="14985" y="18189"/>
                        <a:pt x="15390" y="18189"/>
                      </a:cubicBezTo>
                      <a:cubicBezTo>
                        <a:pt x="15795" y="18189"/>
                        <a:pt x="16200" y="18758"/>
                        <a:pt x="16200" y="19326"/>
                      </a:cubicBezTo>
                      <a:close/>
                      <a:moveTo>
                        <a:pt x="16200" y="10611"/>
                      </a:moveTo>
                      <a:cubicBezTo>
                        <a:pt x="16200" y="11368"/>
                        <a:pt x="15795" y="11747"/>
                        <a:pt x="15390" y="11747"/>
                      </a:cubicBezTo>
                      <a:cubicBezTo>
                        <a:pt x="14985" y="11747"/>
                        <a:pt x="14580" y="11368"/>
                        <a:pt x="14580" y="10611"/>
                      </a:cubicBezTo>
                      <a:cubicBezTo>
                        <a:pt x="14580" y="10042"/>
                        <a:pt x="14985" y="9474"/>
                        <a:pt x="15390" y="9474"/>
                      </a:cubicBezTo>
                      <a:cubicBezTo>
                        <a:pt x="15795" y="9474"/>
                        <a:pt x="16200" y="10042"/>
                        <a:pt x="16200" y="10611"/>
                      </a:cubicBezTo>
                      <a:close/>
                      <a:moveTo>
                        <a:pt x="9990" y="2274"/>
                      </a:moveTo>
                      <a:cubicBezTo>
                        <a:pt x="9990" y="1705"/>
                        <a:pt x="10395" y="1137"/>
                        <a:pt x="10800" y="1137"/>
                      </a:cubicBezTo>
                      <a:cubicBezTo>
                        <a:pt x="11205" y="1137"/>
                        <a:pt x="11610" y="1705"/>
                        <a:pt x="11610" y="2274"/>
                      </a:cubicBezTo>
                      <a:cubicBezTo>
                        <a:pt x="11610" y="2842"/>
                        <a:pt x="11205" y="3411"/>
                        <a:pt x="10800" y="3411"/>
                      </a:cubicBezTo>
                      <a:cubicBezTo>
                        <a:pt x="10395" y="3411"/>
                        <a:pt x="9990" y="2842"/>
                        <a:pt x="9990" y="2274"/>
                      </a:cubicBezTo>
                      <a:close/>
                      <a:moveTo>
                        <a:pt x="7020" y="19326"/>
                      </a:moveTo>
                      <a:cubicBezTo>
                        <a:pt x="7020" y="19895"/>
                        <a:pt x="6615" y="20463"/>
                        <a:pt x="6210" y="20463"/>
                      </a:cubicBezTo>
                      <a:cubicBezTo>
                        <a:pt x="5805" y="20463"/>
                        <a:pt x="5400" y="19895"/>
                        <a:pt x="5400" y="19326"/>
                      </a:cubicBezTo>
                      <a:cubicBezTo>
                        <a:pt x="5400" y="18758"/>
                        <a:pt x="5805" y="18189"/>
                        <a:pt x="6210" y="18189"/>
                      </a:cubicBezTo>
                      <a:cubicBezTo>
                        <a:pt x="6615" y="18189"/>
                        <a:pt x="7020" y="18758"/>
                        <a:pt x="7020" y="19326"/>
                      </a:cubicBezTo>
                      <a:close/>
                      <a:moveTo>
                        <a:pt x="5400" y="10611"/>
                      </a:moveTo>
                      <a:cubicBezTo>
                        <a:pt x="5400" y="10042"/>
                        <a:pt x="5805" y="9474"/>
                        <a:pt x="6210" y="9474"/>
                      </a:cubicBezTo>
                      <a:cubicBezTo>
                        <a:pt x="6615" y="9474"/>
                        <a:pt x="7020" y="10042"/>
                        <a:pt x="7020" y="10611"/>
                      </a:cubicBezTo>
                      <a:cubicBezTo>
                        <a:pt x="7020" y="11368"/>
                        <a:pt x="6615" y="11747"/>
                        <a:pt x="6210" y="11747"/>
                      </a:cubicBezTo>
                      <a:cubicBezTo>
                        <a:pt x="5805" y="11747"/>
                        <a:pt x="5400" y="11368"/>
                        <a:pt x="5400" y="10611"/>
                      </a:cubicBezTo>
                      <a:close/>
                      <a:moveTo>
                        <a:pt x="1620" y="18189"/>
                      </a:moveTo>
                      <a:cubicBezTo>
                        <a:pt x="2025" y="18189"/>
                        <a:pt x="2430" y="18758"/>
                        <a:pt x="2430" y="19326"/>
                      </a:cubicBezTo>
                      <a:cubicBezTo>
                        <a:pt x="2430" y="19895"/>
                        <a:pt x="2025" y="20463"/>
                        <a:pt x="1620" y="20463"/>
                      </a:cubicBezTo>
                      <a:cubicBezTo>
                        <a:pt x="1215" y="20463"/>
                        <a:pt x="810" y="19895"/>
                        <a:pt x="810" y="19326"/>
                      </a:cubicBezTo>
                      <a:cubicBezTo>
                        <a:pt x="810" y="18758"/>
                        <a:pt x="1215" y="18189"/>
                        <a:pt x="1620" y="1818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spcBef>
                      <a:spcPts val="0"/>
                    </a:spcBef>
                    <a:defRPr sz="1800"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762" name="Freeform 82"/>
                <p:cNvSpPr/>
                <p:nvPr/>
              </p:nvSpPr>
              <p:spPr>
                <a:xfrm>
                  <a:off x="1264516" y="3039296"/>
                  <a:ext cx="629769" cy="71049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62" h="21600" extrusionOk="0">
                      <a:moveTo>
                        <a:pt x="20505" y="7830"/>
                      </a:moveTo>
                      <a:cubicBezTo>
                        <a:pt x="21109" y="7830"/>
                        <a:pt x="21562" y="7425"/>
                        <a:pt x="21562" y="6885"/>
                      </a:cubicBezTo>
                      <a:cubicBezTo>
                        <a:pt x="21562" y="6075"/>
                        <a:pt x="21562" y="6075"/>
                        <a:pt x="21562" y="6075"/>
                      </a:cubicBezTo>
                      <a:cubicBezTo>
                        <a:pt x="21562" y="5535"/>
                        <a:pt x="21109" y="5130"/>
                        <a:pt x="20505" y="5130"/>
                      </a:cubicBezTo>
                      <a:cubicBezTo>
                        <a:pt x="19900" y="5130"/>
                        <a:pt x="19900" y="5130"/>
                        <a:pt x="19900" y="5130"/>
                      </a:cubicBezTo>
                      <a:cubicBezTo>
                        <a:pt x="19900" y="4590"/>
                        <a:pt x="19598" y="4185"/>
                        <a:pt x="19447" y="3915"/>
                      </a:cubicBezTo>
                      <a:cubicBezTo>
                        <a:pt x="19749" y="3510"/>
                        <a:pt x="19749" y="3510"/>
                        <a:pt x="19749" y="3510"/>
                      </a:cubicBezTo>
                      <a:cubicBezTo>
                        <a:pt x="20203" y="3105"/>
                        <a:pt x="20203" y="2565"/>
                        <a:pt x="19749" y="2160"/>
                      </a:cubicBezTo>
                      <a:cubicBezTo>
                        <a:pt x="18994" y="1620"/>
                        <a:pt x="18994" y="1620"/>
                        <a:pt x="18994" y="1620"/>
                      </a:cubicBezTo>
                      <a:cubicBezTo>
                        <a:pt x="18843" y="1350"/>
                        <a:pt x="18541" y="1350"/>
                        <a:pt x="18239" y="1350"/>
                      </a:cubicBezTo>
                      <a:cubicBezTo>
                        <a:pt x="18088" y="1350"/>
                        <a:pt x="17786" y="1350"/>
                        <a:pt x="17484" y="1620"/>
                      </a:cubicBezTo>
                      <a:cubicBezTo>
                        <a:pt x="17182" y="1890"/>
                        <a:pt x="17182" y="1890"/>
                        <a:pt x="17182" y="1890"/>
                      </a:cubicBezTo>
                      <a:cubicBezTo>
                        <a:pt x="16728" y="1620"/>
                        <a:pt x="16275" y="1485"/>
                        <a:pt x="15822" y="1350"/>
                      </a:cubicBezTo>
                      <a:cubicBezTo>
                        <a:pt x="15822" y="945"/>
                        <a:pt x="15822" y="945"/>
                        <a:pt x="15822" y="945"/>
                      </a:cubicBezTo>
                      <a:cubicBezTo>
                        <a:pt x="15822" y="405"/>
                        <a:pt x="15369" y="0"/>
                        <a:pt x="14765" y="0"/>
                      </a:cubicBezTo>
                      <a:cubicBezTo>
                        <a:pt x="13859" y="0"/>
                        <a:pt x="13859" y="0"/>
                        <a:pt x="13859" y="0"/>
                      </a:cubicBezTo>
                      <a:cubicBezTo>
                        <a:pt x="13254" y="0"/>
                        <a:pt x="12801" y="405"/>
                        <a:pt x="12801" y="945"/>
                      </a:cubicBezTo>
                      <a:cubicBezTo>
                        <a:pt x="12801" y="1350"/>
                        <a:pt x="12801" y="1350"/>
                        <a:pt x="12801" y="1350"/>
                      </a:cubicBezTo>
                      <a:cubicBezTo>
                        <a:pt x="12197" y="1485"/>
                        <a:pt x="11744" y="1620"/>
                        <a:pt x="11442" y="1890"/>
                      </a:cubicBezTo>
                      <a:cubicBezTo>
                        <a:pt x="10989" y="1620"/>
                        <a:pt x="10989" y="1620"/>
                        <a:pt x="10989" y="1620"/>
                      </a:cubicBezTo>
                      <a:cubicBezTo>
                        <a:pt x="10838" y="1350"/>
                        <a:pt x="10535" y="1350"/>
                        <a:pt x="10233" y="1350"/>
                      </a:cubicBezTo>
                      <a:cubicBezTo>
                        <a:pt x="9931" y="1350"/>
                        <a:pt x="9780" y="1350"/>
                        <a:pt x="9478" y="1620"/>
                      </a:cubicBezTo>
                      <a:cubicBezTo>
                        <a:pt x="8874" y="2160"/>
                        <a:pt x="8874" y="2160"/>
                        <a:pt x="8874" y="2160"/>
                      </a:cubicBezTo>
                      <a:cubicBezTo>
                        <a:pt x="8421" y="2565"/>
                        <a:pt x="8421" y="3105"/>
                        <a:pt x="8874" y="3510"/>
                      </a:cubicBezTo>
                      <a:cubicBezTo>
                        <a:pt x="9176" y="3915"/>
                        <a:pt x="9176" y="3915"/>
                        <a:pt x="9176" y="3915"/>
                      </a:cubicBezTo>
                      <a:cubicBezTo>
                        <a:pt x="8874" y="4185"/>
                        <a:pt x="8723" y="4590"/>
                        <a:pt x="8572" y="5130"/>
                      </a:cubicBezTo>
                      <a:cubicBezTo>
                        <a:pt x="8119" y="5130"/>
                        <a:pt x="8119" y="5130"/>
                        <a:pt x="8119" y="5130"/>
                      </a:cubicBezTo>
                      <a:cubicBezTo>
                        <a:pt x="7514" y="5130"/>
                        <a:pt x="7061" y="5535"/>
                        <a:pt x="7061" y="6075"/>
                      </a:cubicBezTo>
                      <a:cubicBezTo>
                        <a:pt x="7061" y="6885"/>
                        <a:pt x="7061" y="6885"/>
                        <a:pt x="7061" y="6885"/>
                      </a:cubicBezTo>
                      <a:cubicBezTo>
                        <a:pt x="7061" y="7425"/>
                        <a:pt x="7514" y="7830"/>
                        <a:pt x="8119" y="7830"/>
                      </a:cubicBezTo>
                      <a:cubicBezTo>
                        <a:pt x="8572" y="7830"/>
                        <a:pt x="8572" y="7830"/>
                        <a:pt x="8572" y="7830"/>
                      </a:cubicBezTo>
                      <a:cubicBezTo>
                        <a:pt x="8723" y="8235"/>
                        <a:pt x="8874" y="8640"/>
                        <a:pt x="9176" y="9045"/>
                      </a:cubicBezTo>
                      <a:cubicBezTo>
                        <a:pt x="8874" y="9450"/>
                        <a:pt x="8874" y="9450"/>
                        <a:pt x="8874" y="9450"/>
                      </a:cubicBezTo>
                      <a:cubicBezTo>
                        <a:pt x="8421" y="9720"/>
                        <a:pt x="8421" y="10395"/>
                        <a:pt x="8874" y="10665"/>
                      </a:cubicBezTo>
                      <a:cubicBezTo>
                        <a:pt x="9478" y="11340"/>
                        <a:pt x="9478" y="11340"/>
                        <a:pt x="9478" y="11340"/>
                      </a:cubicBezTo>
                      <a:cubicBezTo>
                        <a:pt x="9780" y="11475"/>
                        <a:pt x="9931" y="11610"/>
                        <a:pt x="10233" y="11610"/>
                      </a:cubicBezTo>
                      <a:cubicBezTo>
                        <a:pt x="10535" y="11610"/>
                        <a:pt x="10838" y="11475"/>
                        <a:pt x="10989" y="11340"/>
                      </a:cubicBezTo>
                      <a:cubicBezTo>
                        <a:pt x="11442" y="11070"/>
                        <a:pt x="11442" y="11070"/>
                        <a:pt x="11442" y="11070"/>
                      </a:cubicBezTo>
                      <a:cubicBezTo>
                        <a:pt x="11744" y="11205"/>
                        <a:pt x="12197" y="11475"/>
                        <a:pt x="12801" y="11475"/>
                      </a:cubicBezTo>
                      <a:cubicBezTo>
                        <a:pt x="12801" y="12015"/>
                        <a:pt x="12801" y="12015"/>
                        <a:pt x="12801" y="12015"/>
                      </a:cubicBezTo>
                      <a:cubicBezTo>
                        <a:pt x="12801" y="12555"/>
                        <a:pt x="13254" y="12960"/>
                        <a:pt x="13859" y="12960"/>
                      </a:cubicBezTo>
                      <a:cubicBezTo>
                        <a:pt x="14765" y="12960"/>
                        <a:pt x="14765" y="12960"/>
                        <a:pt x="14765" y="12960"/>
                      </a:cubicBezTo>
                      <a:cubicBezTo>
                        <a:pt x="15369" y="12960"/>
                        <a:pt x="15822" y="12555"/>
                        <a:pt x="15822" y="12015"/>
                      </a:cubicBezTo>
                      <a:cubicBezTo>
                        <a:pt x="15822" y="11475"/>
                        <a:pt x="15822" y="11475"/>
                        <a:pt x="15822" y="11475"/>
                      </a:cubicBezTo>
                      <a:cubicBezTo>
                        <a:pt x="16275" y="11475"/>
                        <a:pt x="16728" y="11205"/>
                        <a:pt x="17182" y="11070"/>
                      </a:cubicBezTo>
                      <a:cubicBezTo>
                        <a:pt x="17484" y="11340"/>
                        <a:pt x="17484" y="11340"/>
                        <a:pt x="17484" y="11340"/>
                      </a:cubicBezTo>
                      <a:cubicBezTo>
                        <a:pt x="17786" y="11475"/>
                        <a:pt x="18088" y="11610"/>
                        <a:pt x="18239" y="11610"/>
                      </a:cubicBezTo>
                      <a:cubicBezTo>
                        <a:pt x="18541" y="11610"/>
                        <a:pt x="18843" y="11475"/>
                        <a:pt x="18994" y="11340"/>
                      </a:cubicBezTo>
                      <a:cubicBezTo>
                        <a:pt x="19749" y="10665"/>
                        <a:pt x="19749" y="10665"/>
                        <a:pt x="19749" y="10665"/>
                      </a:cubicBezTo>
                      <a:cubicBezTo>
                        <a:pt x="20203" y="10395"/>
                        <a:pt x="20203" y="9720"/>
                        <a:pt x="19749" y="9450"/>
                      </a:cubicBezTo>
                      <a:cubicBezTo>
                        <a:pt x="19447" y="9045"/>
                        <a:pt x="19447" y="9045"/>
                        <a:pt x="19447" y="9045"/>
                      </a:cubicBezTo>
                      <a:cubicBezTo>
                        <a:pt x="19598" y="8640"/>
                        <a:pt x="19749" y="8235"/>
                        <a:pt x="19900" y="7830"/>
                      </a:cubicBezTo>
                      <a:cubicBezTo>
                        <a:pt x="20505" y="7830"/>
                        <a:pt x="20505" y="7830"/>
                        <a:pt x="20505" y="7830"/>
                      </a:cubicBezTo>
                      <a:close/>
                      <a:moveTo>
                        <a:pt x="19145" y="7290"/>
                      </a:moveTo>
                      <a:cubicBezTo>
                        <a:pt x="18994" y="7830"/>
                        <a:pt x="18692" y="8370"/>
                        <a:pt x="18390" y="8910"/>
                      </a:cubicBezTo>
                      <a:cubicBezTo>
                        <a:pt x="18239" y="9045"/>
                        <a:pt x="18239" y="9315"/>
                        <a:pt x="18390" y="9450"/>
                      </a:cubicBezTo>
                      <a:cubicBezTo>
                        <a:pt x="18994" y="9990"/>
                        <a:pt x="18994" y="9990"/>
                        <a:pt x="18994" y="9990"/>
                      </a:cubicBezTo>
                      <a:cubicBezTo>
                        <a:pt x="19145" y="9990"/>
                        <a:pt x="19145" y="10125"/>
                        <a:pt x="18994" y="10125"/>
                      </a:cubicBezTo>
                      <a:cubicBezTo>
                        <a:pt x="18390" y="10665"/>
                        <a:pt x="18390" y="10665"/>
                        <a:pt x="18390" y="10665"/>
                      </a:cubicBezTo>
                      <a:cubicBezTo>
                        <a:pt x="18390" y="10665"/>
                        <a:pt x="18390" y="10665"/>
                        <a:pt x="18239" y="10665"/>
                      </a:cubicBezTo>
                      <a:cubicBezTo>
                        <a:pt x="18239" y="10665"/>
                        <a:pt x="18239" y="10665"/>
                        <a:pt x="18239" y="10665"/>
                      </a:cubicBezTo>
                      <a:cubicBezTo>
                        <a:pt x="17635" y="10125"/>
                        <a:pt x="17635" y="10125"/>
                        <a:pt x="17635" y="10125"/>
                      </a:cubicBezTo>
                      <a:cubicBezTo>
                        <a:pt x="17484" y="9990"/>
                        <a:pt x="17182" y="9990"/>
                        <a:pt x="17031" y="10125"/>
                      </a:cubicBezTo>
                      <a:cubicBezTo>
                        <a:pt x="16426" y="10395"/>
                        <a:pt x="15822" y="10665"/>
                        <a:pt x="15218" y="10800"/>
                      </a:cubicBezTo>
                      <a:cubicBezTo>
                        <a:pt x="15067" y="10800"/>
                        <a:pt x="14916" y="10935"/>
                        <a:pt x="14916" y="11205"/>
                      </a:cubicBezTo>
                      <a:cubicBezTo>
                        <a:pt x="14916" y="12015"/>
                        <a:pt x="14916" y="12015"/>
                        <a:pt x="14916" y="12015"/>
                      </a:cubicBezTo>
                      <a:cubicBezTo>
                        <a:pt x="14916" y="12015"/>
                        <a:pt x="14765" y="12015"/>
                        <a:pt x="14765" y="12015"/>
                      </a:cubicBezTo>
                      <a:cubicBezTo>
                        <a:pt x="13859" y="12015"/>
                        <a:pt x="13859" y="12015"/>
                        <a:pt x="13859" y="12015"/>
                      </a:cubicBezTo>
                      <a:cubicBezTo>
                        <a:pt x="13707" y="12015"/>
                        <a:pt x="13707" y="12015"/>
                        <a:pt x="13707" y="12015"/>
                      </a:cubicBezTo>
                      <a:cubicBezTo>
                        <a:pt x="13707" y="11205"/>
                        <a:pt x="13707" y="11205"/>
                        <a:pt x="13707" y="11205"/>
                      </a:cubicBezTo>
                      <a:cubicBezTo>
                        <a:pt x="13707" y="10935"/>
                        <a:pt x="13556" y="10800"/>
                        <a:pt x="13254" y="10800"/>
                      </a:cubicBezTo>
                      <a:cubicBezTo>
                        <a:pt x="12650" y="10665"/>
                        <a:pt x="12046" y="10395"/>
                        <a:pt x="11593" y="10125"/>
                      </a:cubicBezTo>
                      <a:cubicBezTo>
                        <a:pt x="11442" y="9990"/>
                        <a:pt x="11442" y="9990"/>
                        <a:pt x="11291" y="9990"/>
                      </a:cubicBezTo>
                      <a:cubicBezTo>
                        <a:pt x="11140" y="9990"/>
                        <a:pt x="10989" y="10125"/>
                        <a:pt x="10989" y="10125"/>
                      </a:cubicBezTo>
                      <a:cubicBezTo>
                        <a:pt x="10384" y="10665"/>
                        <a:pt x="10384" y="10665"/>
                        <a:pt x="10384" y="10665"/>
                      </a:cubicBezTo>
                      <a:cubicBezTo>
                        <a:pt x="10384" y="10665"/>
                        <a:pt x="10233" y="10665"/>
                        <a:pt x="10233" y="10665"/>
                      </a:cubicBezTo>
                      <a:cubicBezTo>
                        <a:pt x="10233" y="10665"/>
                        <a:pt x="10233" y="10665"/>
                        <a:pt x="10233" y="10665"/>
                      </a:cubicBezTo>
                      <a:cubicBezTo>
                        <a:pt x="9478" y="10125"/>
                        <a:pt x="9478" y="10125"/>
                        <a:pt x="9478" y="10125"/>
                      </a:cubicBezTo>
                      <a:cubicBezTo>
                        <a:pt x="9478" y="10125"/>
                        <a:pt x="9478" y="9990"/>
                        <a:pt x="9478" y="9990"/>
                      </a:cubicBezTo>
                      <a:cubicBezTo>
                        <a:pt x="10233" y="9450"/>
                        <a:pt x="10233" y="9450"/>
                        <a:pt x="10233" y="9450"/>
                      </a:cubicBezTo>
                      <a:cubicBezTo>
                        <a:pt x="10384" y="9315"/>
                        <a:pt x="10384" y="9045"/>
                        <a:pt x="10233" y="8910"/>
                      </a:cubicBezTo>
                      <a:cubicBezTo>
                        <a:pt x="9931" y="8370"/>
                        <a:pt x="9629" y="7830"/>
                        <a:pt x="9478" y="7290"/>
                      </a:cubicBezTo>
                      <a:cubicBezTo>
                        <a:pt x="9478" y="7155"/>
                        <a:pt x="9176" y="7020"/>
                        <a:pt x="9025" y="7020"/>
                      </a:cubicBezTo>
                      <a:cubicBezTo>
                        <a:pt x="8119" y="7020"/>
                        <a:pt x="8119" y="7020"/>
                        <a:pt x="8119" y="7020"/>
                      </a:cubicBezTo>
                      <a:cubicBezTo>
                        <a:pt x="8119" y="7020"/>
                        <a:pt x="8119" y="6885"/>
                        <a:pt x="8119" y="6885"/>
                      </a:cubicBezTo>
                      <a:cubicBezTo>
                        <a:pt x="8119" y="6075"/>
                        <a:pt x="8119" y="6075"/>
                        <a:pt x="8119" y="6075"/>
                      </a:cubicBezTo>
                      <a:cubicBezTo>
                        <a:pt x="8119" y="5940"/>
                        <a:pt x="8119" y="5940"/>
                        <a:pt x="8119" y="5940"/>
                      </a:cubicBezTo>
                      <a:cubicBezTo>
                        <a:pt x="9025" y="5940"/>
                        <a:pt x="9025" y="5940"/>
                        <a:pt x="9025" y="5940"/>
                      </a:cubicBezTo>
                      <a:cubicBezTo>
                        <a:pt x="9176" y="5940"/>
                        <a:pt x="9478" y="5805"/>
                        <a:pt x="9478" y="5535"/>
                      </a:cubicBezTo>
                      <a:cubicBezTo>
                        <a:pt x="9629" y="4995"/>
                        <a:pt x="9931" y="4455"/>
                        <a:pt x="10233" y="4050"/>
                      </a:cubicBezTo>
                      <a:cubicBezTo>
                        <a:pt x="10384" y="3915"/>
                        <a:pt x="10384" y="3645"/>
                        <a:pt x="10233" y="3510"/>
                      </a:cubicBezTo>
                      <a:cubicBezTo>
                        <a:pt x="9478" y="2970"/>
                        <a:pt x="9478" y="2970"/>
                        <a:pt x="9478" y="2970"/>
                      </a:cubicBezTo>
                      <a:cubicBezTo>
                        <a:pt x="9478" y="2835"/>
                        <a:pt x="9478" y="2835"/>
                        <a:pt x="9478" y="2835"/>
                      </a:cubicBezTo>
                      <a:cubicBezTo>
                        <a:pt x="10233" y="2160"/>
                        <a:pt x="10233" y="2160"/>
                        <a:pt x="10233" y="2160"/>
                      </a:cubicBezTo>
                      <a:cubicBezTo>
                        <a:pt x="10233" y="2160"/>
                        <a:pt x="10233" y="2160"/>
                        <a:pt x="10233" y="2160"/>
                      </a:cubicBezTo>
                      <a:cubicBezTo>
                        <a:pt x="10233" y="2160"/>
                        <a:pt x="10384" y="2160"/>
                        <a:pt x="10384" y="2160"/>
                      </a:cubicBezTo>
                      <a:cubicBezTo>
                        <a:pt x="10989" y="2700"/>
                        <a:pt x="10989" y="2700"/>
                        <a:pt x="10989" y="2700"/>
                      </a:cubicBezTo>
                      <a:cubicBezTo>
                        <a:pt x="11140" y="2835"/>
                        <a:pt x="11442" y="2970"/>
                        <a:pt x="11593" y="2835"/>
                      </a:cubicBezTo>
                      <a:cubicBezTo>
                        <a:pt x="12046" y="2430"/>
                        <a:pt x="12650" y="2295"/>
                        <a:pt x="13405" y="2160"/>
                      </a:cubicBezTo>
                      <a:cubicBezTo>
                        <a:pt x="13556" y="2160"/>
                        <a:pt x="13707" y="1890"/>
                        <a:pt x="13707" y="1755"/>
                      </a:cubicBezTo>
                      <a:cubicBezTo>
                        <a:pt x="13707" y="945"/>
                        <a:pt x="13707" y="945"/>
                        <a:pt x="13707" y="945"/>
                      </a:cubicBezTo>
                      <a:cubicBezTo>
                        <a:pt x="13707" y="945"/>
                        <a:pt x="13707" y="810"/>
                        <a:pt x="13859" y="810"/>
                      </a:cubicBezTo>
                      <a:cubicBezTo>
                        <a:pt x="14765" y="810"/>
                        <a:pt x="14765" y="810"/>
                        <a:pt x="14765" y="810"/>
                      </a:cubicBezTo>
                      <a:cubicBezTo>
                        <a:pt x="14765" y="810"/>
                        <a:pt x="14916" y="945"/>
                        <a:pt x="14916" y="945"/>
                      </a:cubicBezTo>
                      <a:cubicBezTo>
                        <a:pt x="14916" y="1755"/>
                        <a:pt x="14916" y="1755"/>
                        <a:pt x="14916" y="1755"/>
                      </a:cubicBezTo>
                      <a:cubicBezTo>
                        <a:pt x="14916" y="1890"/>
                        <a:pt x="15067" y="2160"/>
                        <a:pt x="15218" y="2160"/>
                      </a:cubicBezTo>
                      <a:cubicBezTo>
                        <a:pt x="15822" y="2295"/>
                        <a:pt x="16426" y="2430"/>
                        <a:pt x="17031" y="2835"/>
                      </a:cubicBezTo>
                      <a:cubicBezTo>
                        <a:pt x="17182" y="2970"/>
                        <a:pt x="17484" y="2970"/>
                        <a:pt x="17635" y="2700"/>
                      </a:cubicBezTo>
                      <a:cubicBezTo>
                        <a:pt x="18239" y="2160"/>
                        <a:pt x="18239" y="2160"/>
                        <a:pt x="18239" y="2160"/>
                      </a:cubicBezTo>
                      <a:cubicBezTo>
                        <a:pt x="18239" y="2160"/>
                        <a:pt x="18239" y="2160"/>
                        <a:pt x="18390" y="2160"/>
                      </a:cubicBezTo>
                      <a:cubicBezTo>
                        <a:pt x="18390" y="2160"/>
                        <a:pt x="18390" y="2160"/>
                        <a:pt x="18390" y="2160"/>
                      </a:cubicBezTo>
                      <a:cubicBezTo>
                        <a:pt x="18994" y="2835"/>
                        <a:pt x="18994" y="2835"/>
                        <a:pt x="18994" y="2835"/>
                      </a:cubicBezTo>
                      <a:cubicBezTo>
                        <a:pt x="19145" y="2835"/>
                        <a:pt x="19145" y="2835"/>
                        <a:pt x="18994" y="2970"/>
                      </a:cubicBezTo>
                      <a:cubicBezTo>
                        <a:pt x="18390" y="3510"/>
                        <a:pt x="18390" y="3510"/>
                        <a:pt x="18390" y="3510"/>
                      </a:cubicBezTo>
                      <a:cubicBezTo>
                        <a:pt x="18239" y="3645"/>
                        <a:pt x="18239" y="3915"/>
                        <a:pt x="18390" y="4050"/>
                      </a:cubicBezTo>
                      <a:cubicBezTo>
                        <a:pt x="18692" y="4455"/>
                        <a:pt x="18994" y="4995"/>
                        <a:pt x="19145" y="5670"/>
                      </a:cubicBezTo>
                      <a:cubicBezTo>
                        <a:pt x="19145" y="5805"/>
                        <a:pt x="19296" y="5940"/>
                        <a:pt x="19598" y="5940"/>
                      </a:cubicBezTo>
                      <a:cubicBezTo>
                        <a:pt x="20505" y="5940"/>
                        <a:pt x="20505" y="5940"/>
                        <a:pt x="20505" y="5940"/>
                      </a:cubicBezTo>
                      <a:cubicBezTo>
                        <a:pt x="20505" y="5940"/>
                        <a:pt x="20505" y="5940"/>
                        <a:pt x="20505" y="6075"/>
                      </a:cubicBezTo>
                      <a:cubicBezTo>
                        <a:pt x="20505" y="6885"/>
                        <a:pt x="20505" y="6885"/>
                        <a:pt x="20505" y="6885"/>
                      </a:cubicBezTo>
                      <a:cubicBezTo>
                        <a:pt x="20505" y="6885"/>
                        <a:pt x="20505" y="7020"/>
                        <a:pt x="20505" y="7020"/>
                      </a:cubicBezTo>
                      <a:cubicBezTo>
                        <a:pt x="19598" y="7020"/>
                        <a:pt x="19598" y="7020"/>
                        <a:pt x="19598" y="7020"/>
                      </a:cubicBezTo>
                      <a:cubicBezTo>
                        <a:pt x="19296" y="7020"/>
                        <a:pt x="19145" y="7155"/>
                        <a:pt x="19145" y="7290"/>
                      </a:cubicBezTo>
                      <a:close/>
                      <a:moveTo>
                        <a:pt x="14312" y="3645"/>
                      </a:moveTo>
                      <a:cubicBezTo>
                        <a:pt x="12650" y="3645"/>
                        <a:pt x="11140" y="4995"/>
                        <a:pt x="11140" y="6480"/>
                      </a:cubicBezTo>
                      <a:cubicBezTo>
                        <a:pt x="11140" y="7965"/>
                        <a:pt x="12650" y="9180"/>
                        <a:pt x="14312" y="9180"/>
                      </a:cubicBezTo>
                      <a:cubicBezTo>
                        <a:pt x="15973" y="9180"/>
                        <a:pt x="17333" y="7965"/>
                        <a:pt x="17333" y="6480"/>
                      </a:cubicBezTo>
                      <a:cubicBezTo>
                        <a:pt x="17333" y="4995"/>
                        <a:pt x="15973" y="3645"/>
                        <a:pt x="14312" y="3645"/>
                      </a:cubicBezTo>
                      <a:close/>
                      <a:moveTo>
                        <a:pt x="14312" y="8370"/>
                      </a:moveTo>
                      <a:cubicBezTo>
                        <a:pt x="13103" y="8370"/>
                        <a:pt x="12197" y="7425"/>
                        <a:pt x="12197" y="6480"/>
                      </a:cubicBezTo>
                      <a:cubicBezTo>
                        <a:pt x="12197" y="5400"/>
                        <a:pt x="13103" y="4590"/>
                        <a:pt x="14312" y="4590"/>
                      </a:cubicBezTo>
                      <a:cubicBezTo>
                        <a:pt x="15520" y="4590"/>
                        <a:pt x="16426" y="5400"/>
                        <a:pt x="16426" y="6480"/>
                      </a:cubicBezTo>
                      <a:cubicBezTo>
                        <a:pt x="16426" y="7425"/>
                        <a:pt x="15520" y="8370"/>
                        <a:pt x="14312" y="8370"/>
                      </a:cubicBezTo>
                      <a:close/>
                      <a:moveTo>
                        <a:pt x="3889" y="19845"/>
                      </a:moveTo>
                      <a:cubicBezTo>
                        <a:pt x="5551" y="19710"/>
                        <a:pt x="5551" y="19710"/>
                        <a:pt x="5551" y="19710"/>
                      </a:cubicBezTo>
                      <a:cubicBezTo>
                        <a:pt x="5551" y="21195"/>
                        <a:pt x="5551" y="21195"/>
                        <a:pt x="5551" y="21195"/>
                      </a:cubicBezTo>
                      <a:cubicBezTo>
                        <a:pt x="5551" y="21465"/>
                        <a:pt x="5702" y="21600"/>
                        <a:pt x="6004" y="21600"/>
                      </a:cubicBezTo>
                      <a:cubicBezTo>
                        <a:pt x="15067" y="21600"/>
                        <a:pt x="15067" y="21600"/>
                        <a:pt x="15067" y="21600"/>
                      </a:cubicBezTo>
                      <a:cubicBezTo>
                        <a:pt x="15369" y="21600"/>
                        <a:pt x="15520" y="21465"/>
                        <a:pt x="15520" y="21195"/>
                      </a:cubicBezTo>
                      <a:cubicBezTo>
                        <a:pt x="15520" y="15660"/>
                        <a:pt x="15520" y="15660"/>
                        <a:pt x="15520" y="15660"/>
                      </a:cubicBezTo>
                      <a:cubicBezTo>
                        <a:pt x="16426" y="14850"/>
                        <a:pt x="17182" y="13905"/>
                        <a:pt x="17635" y="12690"/>
                      </a:cubicBezTo>
                      <a:cubicBezTo>
                        <a:pt x="17635" y="12555"/>
                        <a:pt x="17635" y="12285"/>
                        <a:pt x="17333" y="12150"/>
                      </a:cubicBezTo>
                      <a:cubicBezTo>
                        <a:pt x="17031" y="12150"/>
                        <a:pt x="16728" y="12285"/>
                        <a:pt x="16728" y="12420"/>
                      </a:cubicBezTo>
                      <a:cubicBezTo>
                        <a:pt x="16275" y="13500"/>
                        <a:pt x="15671" y="14445"/>
                        <a:pt x="14765" y="15120"/>
                      </a:cubicBezTo>
                      <a:cubicBezTo>
                        <a:pt x="14614" y="15255"/>
                        <a:pt x="14614" y="15390"/>
                        <a:pt x="14614" y="15525"/>
                      </a:cubicBezTo>
                      <a:cubicBezTo>
                        <a:pt x="14614" y="20790"/>
                        <a:pt x="14614" y="20790"/>
                        <a:pt x="14614" y="20790"/>
                      </a:cubicBezTo>
                      <a:cubicBezTo>
                        <a:pt x="6457" y="20790"/>
                        <a:pt x="6457" y="20790"/>
                        <a:pt x="6457" y="20790"/>
                      </a:cubicBezTo>
                      <a:cubicBezTo>
                        <a:pt x="6457" y="19170"/>
                        <a:pt x="6457" y="19170"/>
                        <a:pt x="6457" y="19170"/>
                      </a:cubicBezTo>
                      <a:cubicBezTo>
                        <a:pt x="6457" y="19035"/>
                        <a:pt x="6457" y="18900"/>
                        <a:pt x="6306" y="18900"/>
                      </a:cubicBezTo>
                      <a:cubicBezTo>
                        <a:pt x="6155" y="18765"/>
                        <a:pt x="6004" y="18765"/>
                        <a:pt x="5853" y="18765"/>
                      </a:cubicBezTo>
                      <a:cubicBezTo>
                        <a:pt x="3738" y="19035"/>
                        <a:pt x="3738" y="19035"/>
                        <a:pt x="3738" y="19035"/>
                      </a:cubicBezTo>
                      <a:cubicBezTo>
                        <a:pt x="3134" y="19035"/>
                        <a:pt x="2681" y="18630"/>
                        <a:pt x="2681" y="17955"/>
                      </a:cubicBezTo>
                      <a:cubicBezTo>
                        <a:pt x="2681" y="15525"/>
                        <a:pt x="2681" y="15525"/>
                        <a:pt x="2681" y="15525"/>
                      </a:cubicBezTo>
                      <a:cubicBezTo>
                        <a:pt x="2681" y="15255"/>
                        <a:pt x="2379" y="14985"/>
                        <a:pt x="2228" y="14985"/>
                      </a:cubicBezTo>
                      <a:cubicBezTo>
                        <a:pt x="1472" y="14985"/>
                        <a:pt x="1472" y="14985"/>
                        <a:pt x="1472" y="14985"/>
                      </a:cubicBezTo>
                      <a:cubicBezTo>
                        <a:pt x="1170" y="14985"/>
                        <a:pt x="1019" y="14985"/>
                        <a:pt x="1019" y="14850"/>
                      </a:cubicBezTo>
                      <a:cubicBezTo>
                        <a:pt x="868" y="14850"/>
                        <a:pt x="868" y="14580"/>
                        <a:pt x="1019" y="14445"/>
                      </a:cubicBezTo>
                      <a:cubicBezTo>
                        <a:pt x="2530" y="11745"/>
                        <a:pt x="2530" y="11745"/>
                        <a:pt x="2530" y="11745"/>
                      </a:cubicBezTo>
                      <a:cubicBezTo>
                        <a:pt x="2681" y="11745"/>
                        <a:pt x="2681" y="11610"/>
                        <a:pt x="2681" y="11610"/>
                      </a:cubicBezTo>
                      <a:cubicBezTo>
                        <a:pt x="2681" y="10395"/>
                        <a:pt x="2681" y="10395"/>
                        <a:pt x="2681" y="10395"/>
                      </a:cubicBezTo>
                      <a:cubicBezTo>
                        <a:pt x="2681" y="7965"/>
                        <a:pt x="4342" y="5670"/>
                        <a:pt x="6759" y="4590"/>
                      </a:cubicBezTo>
                      <a:cubicBezTo>
                        <a:pt x="7061" y="4590"/>
                        <a:pt x="7363" y="4455"/>
                        <a:pt x="7514" y="4320"/>
                      </a:cubicBezTo>
                      <a:cubicBezTo>
                        <a:pt x="7817" y="4320"/>
                        <a:pt x="7968" y="4050"/>
                        <a:pt x="7817" y="3780"/>
                      </a:cubicBezTo>
                      <a:cubicBezTo>
                        <a:pt x="7817" y="3645"/>
                        <a:pt x="7514" y="3510"/>
                        <a:pt x="7212" y="3510"/>
                      </a:cubicBezTo>
                      <a:cubicBezTo>
                        <a:pt x="6910" y="3645"/>
                        <a:pt x="6608" y="3780"/>
                        <a:pt x="6457" y="3780"/>
                      </a:cubicBezTo>
                      <a:cubicBezTo>
                        <a:pt x="3587" y="4995"/>
                        <a:pt x="1624" y="7695"/>
                        <a:pt x="1624" y="10395"/>
                      </a:cubicBezTo>
                      <a:cubicBezTo>
                        <a:pt x="1624" y="11475"/>
                        <a:pt x="1624" y="11475"/>
                        <a:pt x="1624" y="11475"/>
                      </a:cubicBezTo>
                      <a:cubicBezTo>
                        <a:pt x="113" y="14040"/>
                        <a:pt x="113" y="14040"/>
                        <a:pt x="113" y="14040"/>
                      </a:cubicBezTo>
                      <a:cubicBezTo>
                        <a:pt x="-38" y="14445"/>
                        <a:pt x="-38" y="14985"/>
                        <a:pt x="113" y="15390"/>
                      </a:cubicBezTo>
                      <a:cubicBezTo>
                        <a:pt x="415" y="15660"/>
                        <a:pt x="868" y="15930"/>
                        <a:pt x="1472" y="15930"/>
                      </a:cubicBezTo>
                      <a:cubicBezTo>
                        <a:pt x="1624" y="15930"/>
                        <a:pt x="1624" y="15930"/>
                        <a:pt x="1624" y="15930"/>
                      </a:cubicBezTo>
                      <a:cubicBezTo>
                        <a:pt x="1624" y="17955"/>
                        <a:pt x="1624" y="17955"/>
                        <a:pt x="1624" y="17955"/>
                      </a:cubicBezTo>
                      <a:cubicBezTo>
                        <a:pt x="1624" y="19035"/>
                        <a:pt x="2681" y="19845"/>
                        <a:pt x="3738" y="19845"/>
                      </a:cubicBezTo>
                      <a:cubicBezTo>
                        <a:pt x="3738" y="19845"/>
                        <a:pt x="3889" y="19845"/>
                        <a:pt x="3889" y="1984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spcBef>
                      <a:spcPts val="0"/>
                    </a:spcBef>
                    <a:defRPr sz="1800"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</p:grpSp>
          <p:pic>
            <p:nvPicPr>
              <p:cNvPr id="764" name="Agentic_Customer_Self_Care.png" descr="Agentic_Customer_Self_Care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91896" y="321249"/>
                <a:ext cx="595702" cy="592851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765" name="Asset_Mana_ement.png" descr="Asset_Mana_ement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261146" y="5974853"/>
                <a:ext cx="595702" cy="595701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766" name="CRM.png" descr="CRM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75463" y="370809"/>
                <a:ext cx="491173" cy="493731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767" name="Fieldforce_Management.png" descr="Fieldforce_Management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90485" y="10316602"/>
                <a:ext cx="595702" cy="57565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768" name="Incident_Management.png" descr="Incident_Management.png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662444" y="9656318"/>
                <a:ext cx="523710" cy="56380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769" name="Invoicing__x26__Payment_Processing.png" descr="Invoicing__x26__Payment_Processing.png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920143" y="9633943"/>
                <a:ext cx="611477" cy="6085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770" name="IoT_Tracking.png" descr="IoT_Tracking.png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381497" y="8154020"/>
                <a:ext cx="590056" cy="59570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771" name="Order_Capture__x26__Fulfillment.png" descr="Order_Capture__x26__Fulfillment.png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931481" y="3563889"/>
                <a:ext cx="678726" cy="59104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772" name="Products__x26__Services_Catalog.png" descr="Products__x26__Services_Catalog.png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711600" y="1488391"/>
                <a:ext cx="561118" cy="56380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773" name="Resource_Management.png" descr="Resource_Management.png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36799" y="5774650"/>
                <a:ext cx="678726" cy="707953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774" name="Roster_Management.png" descr="Roster_Management.png"/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19948" y="8110884"/>
                <a:ext cx="681974" cy="68197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775" name="Workflow_Automation.png" descr="Workflow_Automation.png"/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84475" y="3303932"/>
                <a:ext cx="678726" cy="678726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776" name="CX_Communications.png" descr="CX_Communications.png"/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935198" y="1429305"/>
                <a:ext cx="678726" cy="68197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sp>
          <p:nvSpPr>
            <p:cNvPr id="778" name="Agentic Self Care"/>
            <p:cNvSpPr txBox="1"/>
            <p:nvPr/>
          </p:nvSpPr>
          <p:spPr>
            <a:xfrm>
              <a:off x="4118846" y="1556766"/>
              <a:ext cx="1234816" cy="6324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 defTabSz="1244600">
                <a:spcBef>
                  <a:spcPts val="1100"/>
                </a:spcBef>
                <a:defRPr sz="1600" b="1">
                  <a:solidFill>
                    <a:srgbClr val="222222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dirty="0"/>
                <a:t>Agentic Self Care</a:t>
              </a:r>
            </a:p>
          </p:txBody>
        </p:sp>
        <p:sp>
          <p:nvSpPr>
            <p:cNvPr id="779" name="CRM"/>
            <p:cNvSpPr txBox="1"/>
            <p:nvPr/>
          </p:nvSpPr>
          <p:spPr>
            <a:xfrm>
              <a:off x="5928459" y="1682496"/>
              <a:ext cx="1234816" cy="381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 defTabSz="1244600">
                <a:spcBef>
                  <a:spcPts val="1100"/>
                </a:spcBef>
                <a:defRPr sz="1600" b="1">
                  <a:solidFill>
                    <a:srgbClr val="222222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t>CRM</a:t>
              </a:r>
            </a:p>
          </p:txBody>
        </p:sp>
        <p:sp>
          <p:nvSpPr>
            <p:cNvPr id="780" name="Product &amp; Services Catalog"/>
            <p:cNvSpPr txBox="1"/>
            <p:nvPr/>
          </p:nvSpPr>
          <p:spPr>
            <a:xfrm>
              <a:off x="7552999" y="2418098"/>
              <a:ext cx="1234816" cy="8839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 defTabSz="1244600">
                <a:spcBef>
                  <a:spcPts val="1100"/>
                </a:spcBef>
                <a:defRPr sz="1600" b="1">
                  <a:solidFill>
                    <a:srgbClr val="222222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t>Product &amp; Services Catalog</a:t>
              </a:r>
            </a:p>
          </p:txBody>
        </p:sp>
        <p:sp>
          <p:nvSpPr>
            <p:cNvPr id="781" name="Order Capture to Fulfillment"/>
            <p:cNvSpPr txBox="1"/>
            <p:nvPr/>
          </p:nvSpPr>
          <p:spPr>
            <a:xfrm>
              <a:off x="8437241" y="3960382"/>
              <a:ext cx="1234816" cy="8839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 defTabSz="1244600">
                <a:spcBef>
                  <a:spcPts val="1100"/>
                </a:spcBef>
                <a:defRPr sz="1600" b="1">
                  <a:solidFill>
                    <a:srgbClr val="222222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t>Order Capture to Fulfillment</a:t>
              </a:r>
            </a:p>
          </p:txBody>
        </p:sp>
        <p:sp>
          <p:nvSpPr>
            <p:cNvPr id="782" name="Asset Management"/>
            <p:cNvSpPr txBox="1"/>
            <p:nvPr/>
          </p:nvSpPr>
          <p:spPr>
            <a:xfrm>
              <a:off x="8310832" y="5782650"/>
              <a:ext cx="1563835" cy="6324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 defTabSz="1244600">
                <a:spcBef>
                  <a:spcPts val="1100"/>
                </a:spcBef>
                <a:defRPr sz="1600" b="1">
                  <a:solidFill>
                    <a:srgbClr val="222222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t>Asset Management </a:t>
              </a:r>
            </a:p>
          </p:txBody>
        </p:sp>
        <p:sp>
          <p:nvSpPr>
            <p:cNvPr id="783" name="IOT Tracking"/>
            <p:cNvSpPr txBox="1"/>
            <p:nvPr/>
          </p:nvSpPr>
          <p:spPr>
            <a:xfrm>
              <a:off x="8005402" y="7329327"/>
              <a:ext cx="1234816" cy="6324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 defTabSz="1244600">
                <a:spcBef>
                  <a:spcPts val="1100"/>
                </a:spcBef>
                <a:defRPr sz="1600" b="1">
                  <a:solidFill>
                    <a:srgbClr val="222222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t>IOT Tracking</a:t>
              </a:r>
            </a:p>
          </p:txBody>
        </p:sp>
        <p:sp>
          <p:nvSpPr>
            <p:cNvPr id="784" name="Incident Management"/>
            <p:cNvSpPr txBox="1"/>
            <p:nvPr/>
          </p:nvSpPr>
          <p:spPr>
            <a:xfrm>
              <a:off x="6549469" y="8480899"/>
              <a:ext cx="1456921" cy="6324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 defTabSz="1244600">
                <a:spcBef>
                  <a:spcPts val="1100"/>
                </a:spcBef>
                <a:defRPr sz="1600" b="1">
                  <a:solidFill>
                    <a:srgbClr val="222222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t>Incident Management</a:t>
              </a:r>
            </a:p>
          </p:txBody>
        </p:sp>
        <p:sp>
          <p:nvSpPr>
            <p:cNvPr id="785" name="Fieldforce Automation"/>
            <p:cNvSpPr txBox="1"/>
            <p:nvPr/>
          </p:nvSpPr>
          <p:spPr>
            <a:xfrm>
              <a:off x="4859877" y="8789356"/>
              <a:ext cx="1456920" cy="6324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 defTabSz="1244600">
                <a:spcBef>
                  <a:spcPts val="1100"/>
                </a:spcBef>
                <a:defRPr sz="1600" b="1">
                  <a:solidFill>
                    <a:srgbClr val="222222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t>Fieldforce Automation</a:t>
              </a:r>
            </a:p>
          </p:txBody>
        </p:sp>
        <p:sp>
          <p:nvSpPr>
            <p:cNvPr id="786" name="Billing &amp; payment Processing"/>
            <p:cNvSpPr txBox="1"/>
            <p:nvPr/>
          </p:nvSpPr>
          <p:spPr>
            <a:xfrm>
              <a:off x="3211410" y="8355169"/>
              <a:ext cx="1234816" cy="8839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 defTabSz="1244600">
                <a:spcBef>
                  <a:spcPts val="1100"/>
                </a:spcBef>
                <a:defRPr sz="1600" b="1">
                  <a:solidFill>
                    <a:srgbClr val="222222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t>Billing &amp; payment Processing</a:t>
              </a:r>
            </a:p>
          </p:txBody>
        </p:sp>
        <p:sp>
          <p:nvSpPr>
            <p:cNvPr id="787" name="Shift &amp; Roster Management"/>
            <p:cNvSpPr txBox="1"/>
            <p:nvPr/>
          </p:nvSpPr>
          <p:spPr>
            <a:xfrm>
              <a:off x="1908154" y="7076597"/>
              <a:ext cx="1456921" cy="8839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 defTabSz="1244600">
                <a:spcBef>
                  <a:spcPts val="1100"/>
                </a:spcBef>
                <a:defRPr sz="1600" b="1">
                  <a:solidFill>
                    <a:srgbClr val="222222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t>Shift &amp; Roster Management</a:t>
              </a:r>
            </a:p>
          </p:txBody>
        </p:sp>
        <p:sp>
          <p:nvSpPr>
            <p:cNvPr id="788" name="Resource Management"/>
            <p:cNvSpPr txBox="1"/>
            <p:nvPr/>
          </p:nvSpPr>
          <p:spPr>
            <a:xfrm>
              <a:off x="1332219" y="5625570"/>
              <a:ext cx="1456921" cy="6324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 defTabSz="1244600">
                <a:spcBef>
                  <a:spcPts val="1100"/>
                </a:spcBef>
                <a:defRPr sz="1600" b="1">
                  <a:solidFill>
                    <a:srgbClr val="222222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t>Resource Management</a:t>
              </a:r>
            </a:p>
          </p:txBody>
        </p:sp>
        <p:sp>
          <p:nvSpPr>
            <p:cNvPr id="789" name="Workflow Automation"/>
            <p:cNvSpPr txBox="1"/>
            <p:nvPr/>
          </p:nvSpPr>
          <p:spPr>
            <a:xfrm>
              <a:off x="1520321" y="3938360"/>
              <a:ext cx="1456921" cy="6324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 defTabSz="1244600">
                <a:spcBef>
                  <a:spcPts val="1100"/>
                </a:spcBef>
                <a:defRPr sz="1600" b="1">
                  <a:solidFill>
                    <a:srgbClr val="222222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t>Workflow Automation</a:t>
              </a:r>
            </a:p>
          </p:txBody>
        </p:sp>
        <p:sp>
          <p:nvSpPr>
            <p:cNvPr id="790" name="Customer Experience"/>
            <p:cNvSpPr txBox="1"/>
            <p:nvPr/>
          </p:nvSpPr>
          <p:spPr>
            <a:xfrm>
              <a:off x="2606104" y="2417967"/>
              <a:ext cx="1234816" cy="6324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 defTabSz="1244600">
                <a:spcBef>
                  <a:spcPts val="1100"/>
                </a:spcBef>
                <a:defRPr sz="1600" b="1">
                  <a:solidFill>
                    <a:srgbClr val="222222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t>Customer Experience</a:t>
              </a:r>
            </a:p>
          </p:txBody>
        </p:sp>
      </p:grpSp>
      <p:sp>
        <p:nvSpPr>
          <p:cNvPr id="792" name="Freeform 825"/>
          <p:cNvSpPr/>
          <p:nvPr/>
        </p:nvSpPr>
        <p:spPr>
          <a:xfrm>
            <a:off x="14561574" y="10999847"/>
            <a:ext cx="955206" cy="955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8830"/>
                </a:moveTo>
                <a:cubicBezTo>
                  <a:pt x="21600" y="6657"/>
                  <a:pt x="20790" y="4619"/>
                  <a:pt x="19440" y="2989"/>
                </a:cubicBezTo>
                <a:cubicBezTo>
                  <a:pt x="17820" y="1087"/>
                  <a:pt x="15390" y="0"/>
                  <a:pt x="12825" y="0"/>
                </a:cubicBezTo>
                <a:cubicBezTo>
                  <a:pt x="12690" y="0"/>
                  <a:pt x="12420" y="136"/>
                  <a:pt x="12420" y="408"/>
                </a:cubicBezTo>
                <a:cubicBezTo>
                  <a:pt x="12420" y="8830"/>
                  <a:pt x="12420" y="8830"/>
                  <a:pt x="12420" y="8830"/>
                </a:cubicBezTo>
                <a:cubicBezTo>
                  <a:pt x="12420" y="8966"/>
                  <a:pt x="12690" y="9238"/>
                  <a:pt x="12825" y="9238"/>
                </a:cubicBezTo>
                <a:cubicBezTo>
                  <a:pt x="21195" y="9238"/>
                  <a:pt x="21195" y="9238"/>
                  <a:pt x="21195" y="9238"/>
                </a:cubicBezTo>
                <a:cubicBezTo>
                  <a:pt x="21465" y="9238"/>
                  <a:pt x="21600" y="8966"/>
                  <a:pt x="21600" y="8830"/>
                </a:cubicBezTo>
                <a:close/>
                <a:moveTo>
                  <a:pt x="13230" y="8423"/>
                </a:moveTo>
                <a:cubicBezTo>
                  <a:pt x="13230" y="815"/>
                  <a:pt x="13230" y="815"/>
                  <a:pt x="13230" y="815"/>
                </a:cubicBezTo>
                <a:cubicBezTo>
                  <a:pt x="15390" y="951"/>
                  <a:pt x="17415" y="1902"/>
                  <a:pt x="18765" y="3532"/>
                </a:cubicBezTo>
                <a:cubicBezTo>
                  <a:pt x="19980" y="4891"/>
                  <a:pt x="20655" y="6657"/>
                  <a:pt x="20790" y="8423"/>
                </a:cubicBezTo>
                <a:lnTo>
                  <a:pt x="13230" y="8423"/>
                </a:lnTo>
                <a:close/>
                <a:moveTo>
                  <a:pt x="19170" y="11955"/>
                </a:moveTo>
                <a:cubicBezTo>
                  <a:pt x="19170" y="11683"/>
                  <a:pt x="19035" y="11547"/>
                  <a:pt x="18765" y="11547"/>
                </a:cubicBezTo>
                <a:cubicBezTo>
                  <a:pt x="18495" y="11547"/>
                  <a:pt x="18360" y="11683"/>
                  <a:pt x="18360" y="11955"/>
                </a:cubicBezTo>
                <a:cubicBezTo>
                  <a:pt x="18360" y="16845"/>
                  <a:pt x="14445" y="20785"/>
                  <a:pt x="9585" y="20785"/>
                </a:cubicBezTo>
                <a:cubicBezTo>
                  <a:pt x="4725" y="20785"/>
                  <a:pt x="810" y="16845"/>
                  <a:pt x="810" y="11955"/>
                </a:cubicBezTo>
                <a:cubicBezTo>
                  <a:pt x="810" y="7064"/>
                  <a:pt x="4725" y="3125"/>
                  <a:pt x="9585" y="3125"/>
                </a:cubicBezTo>
                <a:cubicBezTo>
                  <a:pt x="9855" y="3125"/>
                  <a:pt x="9990" y="2989"/>
                  <a:pt x="9990" y="2717"/>
                </a:cubicBezTo>
                <a:cubicBezTo>
                  <a:pt x="9990" y="2445"/>
                  <a:pt x="9855" y="2309"/>
                  <a:pt x="9585" y="2309"/>
                </a:cubicBezTo>
                <a:cubicBezTo>
                  <a:pt x="4320" y="2309"/>
                  <a:pt x="0" y="6657"/>
                  <a:pt x="0" y="11955"/>
                </a:cubicBezTo>
                <a:cubicBezTo>
                  <a:pt x="0" y="17253"/>
                  <a:pt x="4320" y="21600"/>
                  <a:pt x="9585" y="21600"/>
                </a:cubicBezTo>
                <a:cubicBezTo>
                  <a:pt x="14850" y="21600"/>
                  <a:pt x="19170" y="17253"/>
                  <a:pt x="19170" y="11955"/>
                </a:cubicBezTo>
                <a:close/>
                <a:moveTo>
                  <a:pt x="9585" y="6249"/>
                </a:moveTo>
                <a:cubicBezTo>
                  <a:pt x="9315" y="6249"/>
                  <a:pt x="9180" y="6385"/>
                  <a:pt x="9180" y="6657"/>
                </a:cubicBezTo>
                <a:cubicBezTo>
                  <a:pt x="9180" y="6928"/>
                  <a:pt x="9315" y="7064"/>
                  <a:pt x="9585" y="7064"/>
                </a:cubicBezTo>
                <a:cubicBezTo>
                  <a:pt x="9855" y="7064"/>
                  <a:pt x="9990" y="6928"/>
                  <a:pt x="9990" y="6657"/>
                </a:cubicBezTo>
                <a:cubicBezTo>
                  <a:pt x="9990" y="6385"/>
                  <a:pt x="9855" y="6249"/>
                  <a:pt x="9585" y="6249"/>
                </a:cubicBezTo>
                <a:close/>
                <a:moveTo>
                  <a:pt x="9585" y="3668"/>
                </a:moveTo>
                <a:cubicBezTo>
                  <a:pt x="9315" y="3668"/>
                  <a:pt x="9180" y="3804"/>
                  <a:pt x="9180" y="4075"/>
                </a:cubicBezTo>
                <a:cubicBezTo>
                  <a:pt x="9180" y="4211"/>
                  <a:pt x="9315" y="4483"/>
                  <a:pt x="9585" y="4483"/>
                </a:cubicBezTo>
                <a:cubicBezTo>
                  <a:pt x="9855" y="4483"/>
                  <a:pt x="9990" y="4211"/>
                  <a:pt x="9990" y="4075"/>
                </a:cubicBezTo>
                <a:cubicBezTo>
                  <a:pt x="9990" y="3804"/>
                  <a:pt x="9855" y="3668"/>
                  <a:pt x="9585" y="3668"/>
                </a:cubicBezTo>
                <a:close/>
                <a:moveTo>
                  <a:pt x="9585" y="7608"/>
                </a:moveTo>
                <a:cubicBezTo>
                  <a:pt x="9315" y="7608"/>
                  <a:pt x="9180" y="7743"/>
                  <a:pt x="9180" y="8015"/>
                </a:cubicBezTo>
                <a:cubicBezTo>
                  <a:pt x="9180" y="8151"/>
                  <a:pt x="9315" y="8423"/>
                  <a:pt x="9585" y="8423"/>
                </a:cubicBezTo>
                <a:cubicBezTo>
                  <a:pt x="9855" y="8423"/>
                  <a:pt x="9990" y="8287"/>
                  <a:pt x="9990" y="8015"/>
                </a:cubicBezTo>
                <a:cubicBezTo>
                  <a:pt x="9990" y="7743"/>
                  <a:pt x="9855" y="7608"/>
                  <a:pt x="9585" y="7608"/>
                </a:cubicBezTo>
                <a:close/>
                <a:moveTo>
                  <a:pt x="9585" y="4891"/>
                </a:moveTo>
                <a:cubicBezTo>
                  <a:pt x="9315" y="4891"/>
                  <a:pt x="9180" y="5162"/>
                  <a:pt x="9180" y="5298"/>
                </a:cubicBezTo>
                <a:cubicBezTo>
                  <a:pt x="9180" y="5570"/>
                  <a:pt x="9315" y="5706"/>
                  <a:pt x="9585" y="5706"/>
                </a:cubicBezTo>
                <a:cubicBezTo>
                  <a:pt x="9855" y="5706"/>
                  <a:pt x="9990" y="5570"/>
                  <a:pt x="9990" y="5298"/>
                </a:cubicBezTo>
                <a:cubicBezTo>
                  <a:pt x="9990" y="5162"/>
                  <a:pt x="9855" y="4891"/>
                  <a:pt x="9585" y="4891"/>
                </a:cubicBezTo>
                <a:close/>
                <a:moveTo>
                  <a:pt x="9585" y="10189"/>
                </a:moveTo>
                <a:cubicBezTo>
                  <a:pt x="9315" y="10189"/>
                  <a:pt x="9180" y="10460"/>
                  <a:pt x="9180" y="10596"/>
                </a:cubicBezTo>
                <a:cubicBezTo>
                  <a:pt x="9180" y="10868"/>
                  <a:pt x="9315" y="11004"/>
                  <a:pt x="9585" y="11004"/>
                </a:cubicBezTo>
                <a:cubicBezTo>
                  <a:pt x="9855" y="11004"/>
                  <a:pt x="9990" y="10868"/>
                  <a:pt x="9990" y="10596"/>
                </a:cubicBezTo>
                <a:cubicBezTo>
                  <a:pt x="9990" y="10460"/>
                  <a:pt x="9855" y="10189"/>
                  <a:pt x="9585" y="10189"/>
                </a:cubicBezTo>
                <a:close/>
                <a:moveTo>
                  <a:pt x="9585" y="8966"/>
                </a:moveTo>
                <a:cubicBezTo>
                  <a:pt x="9315" y="8966"/>
                  <a:pt x="9180" y="9102"/>
                  <a:pt x="9180" y="9374"/>
                </a:cubicBezTo>
                <a:cubicBezTo>
                  <a:pt x="9180" y="9509"/>
                  <a:pt x="9315" y="9781"/>
                  <a:pt x="9585" y="9781"/>
                </a:cubicBezTo>
                <a:cubicBezTo>
                  <a:pt x="9855" y="9781"/>
                  <a:pt x="9990" y="9509"/>
                  <a:pt x="9990" y="9374"/>
                </a:cubicBezTo>
                <a:cubicBezTo>
                  <a:pt x="9990" y="9102"/>
                  <a:pt x="9855" y="8966"/>
                  <a:pt x="9585" y="8966"/>
                </a:cubicBezTo>
                <a:close/>
                <a:moveTo>
                  <a:pt x="9585" y="11547"/>
                </a:moveTo>
                <a:cubicBezTo>
                  <a:pt x="9450" y="11547"/>
                  <a:pt x="9315" y="11547"/>
                  <a:pt x="9315" y="11683"/>
                </a:cubicBezTo>
                <a:cubicBezTo>
                  <a:pt x="9180" y="11819"/>
                  <a:pt x="9180" y="11819"/>
                  <a:pt x="9180" y="11955"/>
                </a:cubicBezTo>
                <a:cubicBezTo>
                  <a:pt x="9180" y="12091"/>
                  <a:pt x="9180" y="12226"/>
                  <a:pt x="9315" y="12226"/>
                </a:cubicBezTo>
                <a:cubicBezTo>
                  <a:pt x="9315" y="12362"/>
                  <a:pt x="9450" y="12362"/>
                  <a:pt x="9585" y="12362"/>
                </a:cubicBezTo>
                <a:cubicBezTo>
                  <a:pt x="9720" y="12362"/>
                  <a:pt x="9855" y="12362"/>
                  <a:pt x="9855" y="12226"/>
                </a:cubicBezTo>
                <a:cubicBezTo>
                  <a:pt x="9990" y="12226"/>
                  <a:pt x="9990" y="12091"/>
                  <a:pt x="9990" y="11955"/>
                </a:cubicBezTo>
                <a:cubicBezTo>
                  <a:pt x="9990" y="11819"/>
                  <a:pt x="9990" y="11819"/>
                  <a:pt x="9855" y="11683"/>
                </a:cubicBezTo>
                <a:cubicBezTo>
                  <a:pt x="9855" y="11547"/>
                  <a:pt x="9720" y="11547"/>
                  <a:pt x="9585" y="11547"/>
                </a:cubicBezTo>
                <a:close/>
                <a:moveTo>
                  <a:pt x="17820" y="11955"/>
                </a:moveTo>
                <a:cubicBezTo>
                  <a:pt x="17820" y="11683"/>
                  <a:pt x="17685" y="11547"/>
                  <a:pt x="17415" y="11547"/>
                </a:cubicBezTo>
                <a:cubicBezTo>
                  <a:pt x="17280" y="11547"/>
                  <a:pt x="17010" y="11683"/>
                  <a:pt x="17010" y="11955"/>
                </a:cubicBezTo>
                <a:cubicBezTo>
                  <a:pt x="17010" y="12226"/>
                  <a:pt x="17280" y="12362"/>
                  <a:pt x="17415" y="12362"/>
                </a:cubicBezTo>
                <a:cubicBezTo>
                  <a:pt x="17685" y="12362"/>
                  <a:pt x="17820" y="12226"/>
                  <a:pt x="17820" y="11955"/>
                </a:cubicBezTo>
                <a:close/>
                <a:moveTo>
                  <a:pt x="12555" y="11955"/>
                </a:moveTo>
                <a:cubicBezTo>
                  <a:pt x="12555" y="11683"/>
                  <a:pt x="12420" y="11547"/>
                  <a:pt x="12150" y="11547"/>
                </a:cubicBezTo>
                <a:cubicBezTo>
                  <a:pt x="12015" y="11547"/>
                  <a:pt x="11880" y="11683"/>
                  <a:pt x="11880" y="11955"/>
                </a:cubicBezTo>
                <a:cubicBezTo>
                  <a:pt x="11880" y="12226"/>
                  <a:pt x="12015" y="12362"/>
                  <a:pt x="12150" y="12362"/>
                </a:cubicBezTo>
                <a:cubicBezTo>
                  <a:pt x="12420" y="12362"/>
                  <a:pt x="12555" y="12226"/>
                  <a:pt x="12555" y="11955"/>
                </a:cubicBezTo>
                <a:close/>
                <a:moveTo>
                  <a:pt x="13905" y="11955"/>
                </a:moveTo>
                <a:cubicBezTo>
                  <a:pt x="13905" y="11683"/>
                  <a:pt x="13770" y="11547"/>
                  <a:pt x="13500" y="11547"/>
                </a:cubicBezTo>
                <a:cubicBezTo>
                  <a:pt x="13365" y="11547"/>
                  <a:pt x="13095" y="11683"/>
                  <a:pt x="13095" y="11955"/>
                </a:cubicBezTo>
                <a:cubicBezTo>
                  <a:pt x="13095" y="12226"/>
                  <a:pt x="13365" y="12362"/>
                  <a:pt x="13500" y="12362"/>
                </a:cubicBezTo>
                <a:cubicBezTo>
                  <a:pt x="13770" y="12362"/>
                  <a:pt x="13905" y="12226"/>
                  <a:pt x="13905" y="11955"/>
                </a:cubicBezTo>
                <a:close/>
                <a:moveTo>
                  <a:pt x="15255" y="11955"/>
                </a:moveTo>
                <a:cubicBezTo>
                  <a:pt x="15255" y="11683"/>
                  <a:pt x="15120" y="11547"/>
                  <a:pt x="14850" y="11547"/>
                </a:cubicBezTo>
                <a:cubicBezTo>
                  <a:pt x="14580" y="11547"/>
                  <a:pt x="14445" y="11683"/>
                  <a:pt x="14445" y="11955"/>
                </a:cubicBezTo>
                <a:cubicBezTo>
                  <a:pt x="14445" y="12226"/>
                  <a:pt x="14580" y="12362"/>
                  <a:pt x="14850" y="12362"/>
                </a:cubicBezTo>
                <a:cubicBezTo>
                  <a:pt x="15120" y="12362"/>
                  <a:pt x="15255" y="12226"/>
                  <a:pt x="15255" y="11955"/>
                </a:cubicBezTo>
                <a:close/>
                <a:moveTo>
                  <a:pt x="16200" y="12362"/>
                </a:moveTo>
                <a:cubicBezTo>
                  <a:pt x="16335" y="12362"/>
                  <a:pt x="16605" y="12226"/>
                  <a:pt x="16605" y="11955"/>
                </a:cubicBezTo>
                <a:cubicBezTo>
                  <a:pt x="16605" y="11683"/>
                  <a:pt x="16335" y="11547"/>
                  <a:pt x="16200" y="11547"/>
                </a:cubicBezTo>
                <a:cubicBezTo>
                  <a:pt x="15930" y="11547"/>
                  <a:pt x="15795" y="11683"/>
                  <a:pt x="15795" y="11955"/>
                </a:cubicBezTo>
                <a:cubicBezTo>
                  <a:pt x="15795" y="12226"/>
                  <a:pt x="15930" y="12362"/>
                  <a:pt x="16200" y="12362"/>
                </a:cubicBezTo>
                <a:close/>
                <a:moveTo>
                  <a:pt x="11340" y="11955"/>
                </a:moveTo>
                <a:cubicBezTo>
                  <a:pt x="11340" y="11683"/>
                  <a:pt x="11070" y="11547"/>
                  <a:pt x="10935" y="11547"/>
                </a:cubicBezTo>
                <a:cubicBezTo>
                  <a:pt x="10665" y="11547"/>
                  <a:pt x="10530" y="11683"/>
                  <a:pt x="10530" y="11955"/>
                </a:cubicBezTo>
                <a:cubicBezTo>
                  <a:pt x="10530" y="12226"/>
                  <a:pt x="10665" y="12362"/>
                  <a:pt x="10935" y="12362"/>
                </a:cubicBezTo>
                <a:cubicBezTo>
                  <a:pt x="11070" y="12362"/>
                  <a:pt x="11340" y="12226"/>
                  <a:pt x="11340" y="11955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793" name="Freeform 818"/>
          <p:cNvSpPr/>
          <p:nvPr/>
        </p:nvSpPr>
        <p:spPr>
          <a:xfrm>
            <a:off x="14406760" y="1784460"/>
            <a:ext cx="1264833" cy="9081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0" y="21600"/>
                </a:moveTo>
                <a:cubicBezTo>
                  <a:pt x="2565" y="21600"/>
                  <a:pt x="3240" y="20653"/>
                  <a:pt x="3240" y="19326"/>
                </a:cubicBezTo>
                <a:cubicBezTo>
                  <a:pt x="3240" y="18379"/>
                  <a:pt x="2700" y="17432"/>
                  <a:pt x="2025" y="17242"/>
                </a:cubicBezTo>
                <a:cubicBezTo>
                  <a:pt x="2025" y="15347"/>
                  <a:pt x="2025" y="15347"/>
                  <a:pt x="2025" y="15347"/>
                </a:cubicBezTo>
                <a:cubicBezTo>
                  <a:pt x="5805" y="15347"/>
                  <a:pt x="5805" y="15347"/>
                  <a:pt x="5805" y="15347"/>
                </a:cubicBezTo>
                <a:cubicBezTo>
                  <a:pt x="5805" y="17053"/>
                  <a:pt x="5805" y="17053"/>
                  <a:pt x="5805" y="17053"/>
                </a:cubicBezTo>
                <a:cubicBezTo>
                  <a:pt x="5130" y="17432"/>
                  <a:pt x="4590" y="18189"/>
                  <a:pt x="4590" y="19326"/>
                </a:cubicBezTo>
                <a:cubicBezTo>
                  <a:pt x="4590" y="20653"/>
                  <a:pt x="5265" y="21600"/>
                  <a:pt x="6210" y="21600"/>
                </a:cubicBezTo>
                <a:cubicBezTo>
                  <a:pt x="7155" y="21600"/>
                  <a:pt x="7830" y="20653"/>
                  <a:pt x="7830" y="19326"/>
                </a:cubicBezTo>
                <a:cubicBezTo>
                  <a:pt x="7830" y="18379"/>
                  <a:pt x="7290" y="17432"/>
                  <a:pt x="6615" y="17242"/>
                </a:cubicBezTo>
                <a:cubicBezTo>
                  <a:pt x="6615" y="12884"/>
                  <a:pt x="6615" y="12884"/>
                  <a:pt x="6615" y="12884"/>
                </a:cubicBezTo>
                <a:cubicBezTo>
                  <a:pt x="7290" y="12695"/>
                  <a:pt x="7830" y="11747"/>
                  <a:pt x="7830" y="10611"/>
                </a:cubicBezTo>
                <a:cubicBezTo>
                  <a:pt x="7830" y="9663"/>
                  <a:pt x="7290" y="8716"/>
                  <a:pt x="6615" y="8526"/>
                </a:cubicBezTo>
                <a:cubicBezTo>
                  <a:pt x="6615" y="7011"/>
                  <a:pt x="6615" y="7011"/>
                  <a:pt x="6615" y="7011"/>
                </a:cubicBezTo>
                <a:cubicBezTo>
                  <a:pt x="10395" y="7011"/>
                  <a:pt x="10395" y="7011"/>
                  <a:pt x="10395" y="7011"/>
                </a:cubicBezTo>
                <a:cubicBezTo>
                  <a:pt x="10395" y="8526"/>
                  <a:pt x="10395" y="8526"/>
                  <a:pt x="10395" y="8526"/>
                </a:cubicBezTo>
                <a:cubicBezTo>
                  <a:pt x="9720" y="8716"/>
                  <a:pt x="9180" y="9663"/>
                  <a:pt x="9180" y="10611"/>
                </a:cubicBezTo>
                <a:cubicBezTo>
                  <a:pt x="9180" y="11937"/>
                  <a:pt x="9855" y="12884"/>
                  <a:pt x="10800" y="12884"/>
                </a:cubicBezTo>
                <a:cubicBezTo>
                  <a:pt x="11745" y="12884"/>
                  <a:pt x="12420" y="11937"/>
                  <a:pt x="12420" y="10611"/>
                </a:cubicBezTo>
                <a:cubicBezTo>
                  <a:pt x="12420" y="9663"/>
                  <a:pt x="11880" y="8716"/>
                  <a:pt x="11205" y="8526"/>
                </a:cubicBezTo>
                <a:cubicBezTo>
                  <a:pt x="11205" y="7011"/>
                  <a:pt x="11205" y="7011"/>
                  <a:pt x="11205" y="7011"/>
                </a:cubicBezTo>
                <a:cubicBezTo>
                  <a:pt x="14985" y="7011"/>
                  <a:pt x="14985" y="7011"/>
                  <a:pt x="14985" y="7011"/>
                </a:cubicBezTo>
                <a:cubicBezTo>
                  <a:pt x="14985" y="8526"/>
                  <a:pt x="14985" y="8526"/>
                  <a:pt x="14985" y="8526"/>
                </a:cubicBezTo>
                <a:cubicBezTo>
                  <a:pt x="14310" y="8716"/>
                  <a:pt x="13770" y="9663"/>
                  <a:pt x="13770" y="10611"/>
                </a:cubicBezTo>
                <a:cubicBezTo>
                  <a:pt x="13770" y="11747"/>
                  <a:pt x="14310" y="12695"/>
                  <a:pt x="14985" y="12884"/>
                </a:cubicBezTo>
                <a:cubicBezTo>
                  <a:pt x="14985" y="14211"/>
                  <a:pt x="14985" y="14211"/>
                  <a:pt x="14985" y="14211"/>
                </a:cubicBezTo>
                <a:cubicBezTo>
                  <a:pt x="10800" y="14211"/>
                  <a:pt x="10800" y="14211"/>
                  <a:pt x="10800" y="14211"/>
                </a:cubicBezTo>
                <a:cubicBezTo>
                  <a:pt x="10530" y="14211"/>
                  <a:pt x="10395" y="14589"/>
                  <a:pt x="10395" y="14779"/>
                </a:cubicBezTo>
                <a:cubicBezTo>
                  <a:pt x="10395" y="17053"/>
                  <a:pt x="10395" y="17053"/>
                  <a:pt x="10395" y="17053"/>
                </a:cubicBezTo>
                <a:cubicBezTo>
                  <a:pt x="9720" y="17432"/>
                  <a:pt x="9180" y="18379"/>
                  <a:pt x="9180" y="19326"/>
                </a:cubicBezTo>
                <a:cubicBezTo>
                  <a:pt x="9180" y="20653"/>
                  <a:pt x="9855" y="21600"/>
                  <a:pt x="10800" y="21600"/>
                </a:cubicBezTo>
                <a:cubicBezTo>
                  <a:pt x="11745" y="21600"/>
                  <a:pt x="12420" y="20653"/>
                  <a:pt x="12420" y="19326"/>
                </a:cubicBezTo>
                <a:cubicBezTo>
                  <a:pt x="12420" y="18189"/>
                  <a:pt x="11880" y="17432"/>
                  <a:pt x="11205" y="17053"/>
                </a:cubicBezTo>
                <a:cubicBezTo>
                  <a:pt x="11205" y="15347"/>
                  <a:pt x="11205" y="15347"/>
                  <a:pt x="11205" y="15347"/>
                </a:cubicBezTo>
                <a:cubicBezTo>
                  <a:pt x="14985" y="15347"/>
                  <a:pt x="14985" y="15347"/>
                  <a:pt x="14985" y="15347"/>
                </a:cubicBezTo>
                <a:cubicBezTo>
                  <a:pt x="14985" y="17053"/>
                  <a:pt x="14985" y="17053"/>
                  <a:pt x="14985" y="17053"/>
                </a:cubicBezTo>
                <a:cubicBezTo>
                  <a:pt x="14310" y="17432"/>
                  <a:pt x="13770" y="18379"/>
                  <a:pt x="13770" y="19326"/>
                </a:cubicBezTo>
                <a:cubicBezTo>
                  <a:pt x="13770" y="20653"/>
                  <a:pt x="14445" y="21600"/>
                  <a:pt x="15390" y="21600"/>
                </a:cubicBezTo>
                <a:cubicBezTo>
                  <a:pt x="16335" y="21600"/>
                  <a:pt x="17010" y="20653"/>
                  <a:pt x="17010" y="19326"/>
                </a:cubicBezTo>
                <a:cubicBezTo>
                  <a:pt x="17010" y="18189"/>
                  <a:pt x="16470" y="17432"/>
                  <a:pt x="15795" y="17053"/>
                </a:cubicBezTo>
                <a:cubicBezTo>
                  <a:pt x="15795" y="15347"/>
                  <a:pt x="15795" y="15347"/>
                  <a:pt x="15795" y="15347"/>
                </a:cubicBezTo>
                <a:cubicBezTo>
                  <a:pt x="19575" y="15347"/>
                  <a:pt x="19575" y="15347"/>
                  <a:pt x="19575" y="15347"/>
                </a:cubicBezTo>
                <a:cubicBezTo>
                  <a:pt x="19575" y="17242"/>
                  <a:pt x="19575" y="17242"/>
                  <a:pt x="19575" y="17242"/>
                </a:cubicBezTo>
                <a:cubicBezTo>
                  <a:pt x="18900" y="17432"/>
                  <a:pt x="18360" y="18379"/>
                  <a:pt x="18360" y="19326"/>
                </a:cubicBezTo>
                <a:cubicBezTo>
                  <a:pt x="18360" y="20653"/>
                  <a:pt x="19035" y="21600"/>
                  <a:pt x="19980" y="21600"/>
                </a:cubicBezTo>
                <a:cubicBezTo>
                  <a:pt x="20925" y="21600"/>
                  <a:pt x="21600" y="20653"/>
                  <a:pt x="21600" y="19326"/>
                </a:cubicBezTo>
                <a:cubicBezTo>
                  <a:pt x="21600" y="18189"/>
                  <a:pt x="21060" y="17432"/>
                  <a:pt x="20385" y="17053"/>
                </a:cubicBezTo>
                <a:cubicBezTo>
                  <a:pt x="20385" y="14779"/>
                  <a:pt x="20385" y="14779"/>
                  <a:pt x="20385" y="14779"/>
                </a:cubicBezTo>
                <a:cubicBezTo>
                  <a:pt x="20385" y="14589"/>
                  <a:pt x="20115" y="14211"/>
                  <a:pt x="19980" y="14211"/>
                </a:cubicBezTo>
                <a:cubicBezTo>
                  <a:pt x="15795" y="14211"/>
                  <a:pt x="15795" y="14211"/>
                  <a:pt x="15795" y="14211"/>
                </a:cubicBezTo>
                <a:cubicBezTo>
                  <a:pt x="15795" y="12884"/>
                  <a:pt x="15795" y="12884"/>
                  <a:pt x="15795" y="12884"/>
                </a:cubicBezTo>
                <a:cubicBezTo>
                  <a:pt x="16470" y="12695"/>
                  <a:pt x="17010" y="11747"/>
                  <a:pt x="17010" y="10611"/>
                </a:cubicBezTo>
                <a:cubicBezTo>
                  <a:pt x="17010" y="9663"/>
                  <a:pt x="16470" y="8716"/>
                  <a:pt x="15795" y="8526"/>
                </a:cubicBezTo>
                <a:cubicBezTo>
                  <a:pt x="15795" y="6442"/>
                  <a:pt x="15795" y="6442"/>
                  <a:pt x="15795" y="6442"/>
                </a:cubicBezTo>
                <a:cubicBezTo>
                  <a:pt x="15795" y="6063"/>
                  <a:pt x="15660" y="5874"/>
                  <a:pt x="15390" y="5874"/>
                </a:cubicBezTo>
                <a:cubicBezTo>
                  <a:pt x="11205" y="5874"/>
                  <a:pt x="11205" y="5874"/>
                  <a:pt x="11205" y="5874"/>
                </a:cubicBezTo>
                <a:cubicBezTo>
                  <a:pt x="11205" y="4547"/>
                  <a:pt x="11205" y="4547"/>
                  <a:pt x="11205" y="4547"/>
                </a:cubicBezTo>
                <a:cubicBezTo>
                  <a:pt x="11880" y="4168"/>
                  <a:pt x="12420" y="3411"/>
                  <a:pt x="12420" y="2274"/>
                </a:cubicBezTo>
                <a:cubicBezTo>
                  <a:pt x="12420" y="947"/>
                  <a:pt x="11745" y="0"/>
                  <a:pt x="10800" y="0"/>
                </a:cubicBezTo>
                <a:cubicBezTo>
                  <a:pt x="9855" y="0"/>
                  <a:pt x="9180" y="947"/>
                  <a:pt x="9180" y="2274"/>
                </a:cubicBezTo>
                <a:cubicBezTo>
                  <a:pt x="9180" y="3411"/>
                  <a:pt x="9720" y="4168"/>
                  <a:pt x="10395" y="4547"/>
                </a:cubicBezTo>
                <a:cubicBezTo>
                  <a:pt x="10395" y="5874"/>
                  <a:pt x="10395" y="5874"/>
                  <a:pt x="10395" y="5874"/>
                </a:cubicBezTo>
                <a:cubicBezTo>
                  <a:pt x="6210" y="5874"/>
                  <a:pt x="6210" y="5874"/>
                  <a:pt x="6210" y="5874"/>
                </a:cubicBezTo>
                <a:cubicBezTo>
                  <a:pt x="5940" y="5874"/>
                  <a:pt x="5805" y="6063"/>
                  <a:pt x="5805" y="6442"/>
                </a:cubicBezTo>
                <a:cubicBezTo>
                  <a:pt x="5805" y="8526"/>
                  <a:pt x="5805" y="8526"/>
                  <a:pt x="5805" y="8526"/>
                </a:cubicBezTo>
                <a:cubicBezTo>
                  <a:pt x="5130" y="8716"/>
                  <a:pt x="4590" y="9663"/>
                  <a:pt x="4590" y="10611"/>
                </a:cubicBezTo>
                <a:cubicBezTo>
                  <a:pt x="4590" y="11747"/>
                  <a:pt x="5130" y="12695"/>
                  <a:pt x="5805" y="12884"/>
                </a:cubicBezTo>
                <a:cubicBezTo>
                  <a:pt x="5805" y="14400"/>
                  <a:pt x="5805" y="14400"/>
                  <a:pt x="5805" y="14400"/>
                </a:cubicBezTo>
                <a:cubicBezTo>
                  <a:pt x="1620" y="14400"/>
                  <a:pt x="1620" y="14400"/>
                  <a:pt x="1620" y="14400"/>
                </a:cubicBezTo>
                <a:cubicBezTo>
                  <a:pt x="1485" y="14400"/>
                  <a:pt x="1215" y="14589"/>
                  <a:pt x="1215" y="14779"/>
                </a:cubicBezTo>
                <a:cubicBezTo>
                  <a:pt x="1215" y="17053"/>
                  <a:pt x="1215" y="17053"/>
                  <a:pt x="1215" y="17053"/>
                </a:cubicBezTo>
                <a:cubicBezTo>
                  <a:pt x="540" y="17432"/>
                  <a:pt x="0" y="18189"/>
                  <a:pt x="0" y="19326"/>
                </a:cubicBezTo>
                <a:cubicBezTo>
                  <a:pt x="0" y="20653"/>
                  <a:pt x="675" y="21600"/>
                  <a:pt x="1620" y="21600"/>
                </a:cubicBezTo>
                <a:close/>
                <a:moveTo>
                  <a:pt x="11610" y="10611"/>
                </a:moveTo>
                <a:cubicBezTo>
                  <a:pt x="11610" y="11368"/>
                  <a:pt x="11205" y="11747"/>
                  <a:pt x="10800" y="11747"/>
                </a:cubicBezTo>
                <a:cubicBezTo>
                  <a:pt x="10395" y="11747"/>
                  <a:pt x="9990" y="11368"/>
                  <a:pt x="9990" y="10611"/>
                </a:cubicBezTo>
                <a:cubicBezTo>
                  <a:pt x="9990" y="10042"/>
                  <a:pt x="10395" y="9474"/>
                  <a:pt x="10800" y="9474"/>
                </a:cubicBezTo>
                <a:cubicBezTo>
                  <a:pt x="11205" y="9474"/>
                  <a:pt x="11610" y="10042"/>
                  <a:pt x="11610" y="10611"/>
                </a:cubicBezTo>
                <a:close/>
                <a:moveTo>
                  <a:pt x="11610" y="19326"/>
                </a:moveTo>
                <a:cubicBezTo>
                  <a:pt x="11610" y="19895"/>
                  <a:pt x="11205" y="20463"/>
                  <a:pt x="10800" y="20463"/>
                </a:cubicBezTo>
                <a:cubicBezTo>
                  <a:pt x="10395" y="20463"/>
                  <a:pt x="9990" y="19895"/>
                  <a:pt x="9990" y="19326"/>
                </a:cubicBezTo>
                <a:cubicBezTo>
                  <a:pt x="9990" y="18758"/>
                  <a:pt x="10395" y="18189"/>
                  <a:pt x="10800" y="18189"/>
                </a:cubicBezTo>
                <a:cubicBezTo>
                  <a:pt x="11205" y="18189"/>
                  <a:pt x="11610" y="18758"/>
                  <a:pt x="11610" y="19326"/>
                </a:cubicBezTo>
                <a:close/>
                <a:moveTo>
                  <a:pt x="20790" y="19326"/>
                </a:moveTo>
                <a:cubicBezTo>
                  <a:pt x="20790" y="19895"/>
                  <a:pt x="20385" y="20463"/>
                  <a:pt x="19980" y="20463"/>
                </a:cubicBezTo>
                <a:cubicBezTo>
                  <a:pt x="19575" y="20463"/>
                  <a:pt x="19170" y="19895"/>
                  <a:pt x="19170" y="19326"/>
                </a:cubicBezTo>
                <a:cubicBezTo>
                  <a:pt x="19170" y="18758"/>
                  <a:pt x="19575" y="18189"/>
                  <a:pt x="19980" y="18189"/>
                </a:cubicBezTo>
                <a:cubicBezTo>
                  <a:pt x="20385" y="18189"/>
                  <a:pt x="20790" y="18758"/>
                  <a:pt x="20790" y="19326"/>
                </a:cubicBezTo>
                <a:close/>
                <a:moveTo>
                  <a:pt x="16200" y="19326"/>
                </a:moveTo>
                <a:cubicBezTo>
                  <a:pt x="16200" y="19895"/>
                  <a:pt x="15795" y="20463"/>
                  <a:pt x="15390" y="20463"/>
                </a:cubicBezTo>
                <a:cubicBezTo>
                  <a:pt x="14985" y="20463"/>
                  <a:pt x="14580" y="19895"/>
                  <a:pt x="14580" y="19326"/>
                </a:cubicBezTo>
                <a:cubicBezTo>
                  <a:pt x="14580" y="18758"/>
                  <a:pt x="14985" y="18189"/>
                  <a:pt x="15390" y="18189"/>
                </a:cubicBezTo>
                <a:cubicBezTo>
                  <a:pt x="15795" y="18189"/>
                  <a:pt x="16200" y="18758"/>
                  <a:pt x="16200" y="19326"/>
                </a:cubicBezTo>
                <a:close/>
                <a:moveTo>
                  <a:pt x="16200" y="10611"/>
                </a:moveTo>
                <a:cubicBezTo>
                  <a:pt x="16200" y="11368"/>
                  <a:pt x="15795" y="11747"/>
                  <a:pt x="15390" y="11747"/>
                </a:cubicBezTo>
                <a:cubicBezTo>
                  <a:pt x="14985" y="11747"/>
                  <a:pt x="14580" y="11368"/>
                  <a:pt x="14580" y="10611"/>
                </a:cubicBezTo>
                <a:cubicBezTo>
                  <a:pt x="14580" y="10042"/>
                  <a:pt x="14985" y="9474"/>
                  <a:pt x="15390" y="9474"/>
                </a:cubicBezTo>
                <a:cubicBezTo>
                  <a:pt x="15795" y="9474"/>
                  <a:pt x="16200" y="10042"/>
                  <a:pt x="16200" y="10611"/>
                </a:cubicBezTo>
                <a:close/>
                <a:moveTo>
                  <a:pt x="9990" y="2274"/>
                </a:moveTo>
                <a:cubicBezTo>
                  <a:pt x="9990" y="1705"/>
                  <a:pt x="10395" y="1137"/>
                  <a:pt x="10800" y="1137"/>
                </a:cubicBezTo>
                <a:cubicBezTo>
                  <a:pt x="11205" y="1137"/>
                  <a:pt x="11610" y="1705"/>
                  <a:pt x="11610" y="2274"/>
                </a:cubicBezTo>
                <a:cubicBezTo>
                  <a:pt x="11610" y="2842"/>
                  <a:pt x="11205" y="3411"/>
                  <a:pt x="10800" y="3411"/>
                </a:cubicBezTo>
                <a:cubicBezTo>
                  <a:pt x="10395" y="3411"/>
                  <a:pt x="9990" y="2842"/>
                  <a:pt x="9990" y="2274"/>
                </a:cubicBezTo>
                <a:close/>
                <a:moveTo>
                  <a:pt x="7020" y="19326"/>
                </a:moveTo>
                <a:cubicBezTo>
                  <a:pt x="7020" y="19895"/>
                  <a:pt x="6615" y="20463"/>
                  <a:pt x="6210" y="20463"/>
                </a:cubicBezTo>
                <a:cubicBezTo>
                  <a:pt x="5805" y="20463"/>
                  <a:pt x="5400" y="19895"/>
                  <a:pt x="5400" y="19326"/>
                </a:cubicBezTo>
                <a:cubicBezTo>
                  <a:pt x="5400" y="18758"/>
                  <a:pt x="5805" y="18189"/>
                  <a:pt x="6210" y="18189"/>
                </a:cubicBezTo>
                <a:cubicBezTo>
                  <a:pt x="6615" y="18189"/>
                  <a:pt x="7020" y="18758"/>
                  <a:pt x="7020" y="19326"/>
                </a:cubicBezTo>
                <a:close/>
                <a:moveTo>
                  <a:pt x="5400" y="10611"/>
                </a:moveTo>
                <a:cubicBezTo>
                  <a:pt x="5400" y="10042"/>
                  <a:pt x="5805" y="9474"/>
                  <a:pt x="6210" y="9474"/>
                </a:cubicBezTo>
                <a:cubicBezTo>
                  <a:pt x="6615" y="9474"/>
                  <a:pt x="7020" y="10042"/>
                  <a:pt x="7020" y="10611"/>
                </a:cubicBezTo>
                <a:cubicBezTo>
                  <a:pt x="7020" y="11368"/>
                  <a:pt x="6615" y="11747"/>
                  <a:pt x="6210" y="11747"/>
                </a:cubicBezTo>
                <a:cubicBezTo>
                  <a:pt x="5805" y="11747"/>
                  <a:pt x="5400" y="11368"/>
                  <a:pt x="5400" y="10611"/>
                </a:cubicBezTo>
                <a:close/>
                <a:moveTo>
                  <a:pt x="1620" y="18189"/>
                </a:moveTo>
                <a:cubicBezTo>
                  <a:pt x="2025" y="18189"/>
                  <a:pt x="2430" y="18758"/>
                  <a:pt x="2430" y="19326"/>
                </a:cubicBezTo>
                <a:cubicBezTo>
                  <a:pt x="2430" y="19895"/>
                  <a:pt x="2025" y="20463"/>
                  <a:pt x="1620" y="20463"/>
                </a:cubicBezTo>
                <a:cubicBezTo>
                  <a:pt x="1215" y="20463"/>
                  <a:pt x="810" y="19895"/>
                  <a:pt x="810" y="19326"/>
                </a:cubicBezTo>
                <a:cubicBezTo>
                  <a:pt x="810" y="18758"/>
                  <a:pt x="1215" y="18189"/>
                  <a:pt x="1620" y="18189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794" name="Freeform 82"/>
          <p:cNvSpPr/>
          <p:nvPr/>
        </p:nvSpPr>
        <p:spPr>
          <a:xfrm>
            <a:off x="14561574" y="7788362"/>
            <a:ext cx="955206" cy="10776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2" h="21600" extrusionOk="0">
                <a:moveTo>
                  <a:pt x="20505" y="7830"/>
                </a:moveTo>
                <a:cubicBezTo>
                  <a:pt x="21109" y="7830"/>
                  <a:pt x="21562" y="7425"/>
                  <a:pt x="21562" y="6885"/>
                </a:cubicBezTo>
                <a:cubicBezTo>
                  <a:pt x="21562" y="6075"/>
                  <a:pt x="21562" y="6075"/>
                  <a:pt x="21562" y="6075"/>
                </a:cubicBezTo>
                <a:cubicBezTo>
                  <a:pt x="21562" y="5535"/>
                  <a:pt x="21109" y="5130"/>
                  <a:pt x="20505" y="5130"/>
                </a:cubicBezTo>
                <a:cubicBezTo>
                  <a:pt x="19900" y="5130"/>
                  <a:pt x="19900" y="5130"/>
                  <a:pt x="19900" y="5130"/>
                </a:cubicBezTo>
                <a:cubicBezTo>
                  <a:pt x="19900" y="4590"/>
                  <a:pt x="19598" y="4185"/>
                  <a:pt x="19447" y="3915"/>
                </a:cubicBezTo>
                <a:cubicBezTo>
                  <a:pt x="19749" y="3510"/>
                  <a:pt x="19749" y="3510"/>
                  <a:pt x="19749" y="3510"/>
                </a:cubicBezTo>
                <a:cubicBezTo>
                  <a:pt x="20203" y="3105"/>
                  <a:pt x="20203" y="2565"/>
                  <a:pt x="19749" y="2160"/>
                </a:cubicBezTo>
                <a:cubicBezTo>
                  <a:pt x="18994" y="1620"/>
                  <a:pt x="18994" y="1620"/>
                  <a:pt x="18994" y="1620"/>
                </a:cubicBezTo>
                <a:cubicBezTo>
                  <a:pt x="18843" y="1350"/>
                  <a:pt x="18541" y="1350"/>
                  <a:pt x="18239" y="1350"/>
                </a:cubicBezTo>
                <a:cubicBezTo>
                  <a:pt x="18088" y="1350"/>
                  <a:pt x="17786" y="1350"/>
                  <a:pt x="17484" y="1620"/>
                </a:cubicBezTo>
                <a:cubicBezTo>
                  <a:pt x="17182" y="1890"/>
                  <a:pt x="17182" y="1890"/>
                  <a:pt x="17182" y="1890"/>
                </a:cubicBezTo>
                <a:cubicBezTo>
                  <a:pt x="16728" y="1620"/>
                  <a:pt x="16275" y="1485"/>
                  <a:pt x="15822" y="1350"/>
                </a:cubicBezTo>
                <a:cubicBezTo>
                  <a:pt x="15822" y="945"/>
                  <a:pt x="15822" y="945"/>
                  <a:pt x="15822" y="945"/>
                </a:cubicBezTo>
                <a:cubicBezTo>
                  <a:pt x="15822" y="405"/>
                  <a:pt x="15369" y="0"/>
                  <a:pt x="14765" y="0"/>
                </a:cubicBezTo>
                <a:cubicBezTo>
                  <a:pt x="13859" y="0"/>
                  <a:pt x="13859" y="0"/>
                  <a:pt x="13859" y="0"/>
                </a:cubicBezTo>
                <a:cubicBezTo>
                  <a:pt x="13254" y="0"/>
                  <a:pt x="12801" y="405"/>
                  <a:pt x="12801" y="945"/>
                </a:cubicBezTo>
                <a:cubicBezTo>
                  <a:pt x="12801" y="1350"/>
                  <a:pt x="12801" y="1350"/>
                  <a:pt x="12801" y="1350"/>
                </a:cubicBezTo>
                <a:cubicBezTo>
                  <a:pt x="12197" y="1485"/>
                  <a:pt x="11744" y="1620"/>
                  <a:pt x="11442" y="1890"/>
                </a:cubicBezTo>
                <a:cubicBezTo>
                  <a:pt x="10989" y="1620"/>
                  <a:pt x="10989" y="1620"/>
                  <a:pt x="10989" y="1620"/>
                </a:cubicBezTo>
                <a:cubicBezTo>
                  <a:pt x="10838" y="1350"/>
                  <a:pt x="10535" y="1350"/>
                  <a:pt x="10233" y="1350"/>
                </a:cubicBezTo>
                <a:cubicBezTo>
                  <a:pt x="9931" y="1350"/>
                  <a:pt x="9780" y="1350"/>
                  <a:pt x="9478" y="1620"/>
                </a:cubicBezTo>
                <a:cubicBezTo>
                  <a:pt x="8874" y="2160"/>
                  <a:pt x="8874" y="2160"/>
                  <a:pt x="8874" y="2160"/>
                </a:cubicBezTo>
                <a:cubicBezTo>
                  <a:pt x="8421" y="2565"/>
                  <a:pt x="8421" y="3105"/>
                  <a:pt x="8874" y="3510"/>
                </a:cubicBezTo>
                <a:cubicBezTo>
                  <a:pt x="9176" y="3915"/>
                  <a:pt x="9176" y="3915"/>
                  <a:pt x="9176" y="3915"/>
                </a:cubicBezTo>
                <a:cubicBezTo>
                  <a:pt x="8874" y="4185"/>
                  <a:pt x="8723" y="4590"/>
                  <a:pt x="8572" y="5130"/>
                </a:cubicBezTo>
                <a:cubicBezTo>
                  <a:pt x="8119" y="5130"/>
                  <a:pt x="8119" y="5130"/>
                  <a:pt x="8119" y="5130"/>
                </a:cubicBezTo>
                <a:cubicBezTo>
                  <a:pt x="7514" y="5130"/>
                  <a:pt x="7061" y="5535"/>
                  <a:pt x="7061" y="6075"/>
                </a:cubicBezTo>
                <a:cubicBezTo>
                  <a:pt x="7061" y="6885"/>
                  <a:pt x="7061" y="6885"/>
                  <a:pt x="7061" y="6885"/>
                </a:cubicBezTo>
                <a:cubicBezTo>
                  <a:pt x="7061" y="7425"/>
                  <a:pt x="7514" y="7830"/>
                  <a:pt x="8119" y="7830"/>
                </a:cubicBezTo>
                <a:cubicBezTo>
                  <a:pt x="8572" y="7830"/>
                  <a:pt x="8572" y="7830"/>
                  <a:pt x="8572" y="7830"/>
                </a:cubicBezTo>
                <a:cubicBezTo>
                  <a:pt x="8723" y="8235"/>
                  <a:pt x="8874" y="8640"/>
                  <a:pt x="9176" y="9045"/>
                </a:cubicBezTo>
                <a:cubicBezTo>
                  <a:pt x="8874" y="9450"/>
                  <a:pt x="8874" y="9450"/>
                  <a:pt x="8874" y="9450"/>
                </a:cubicBezTo>
                <a:cubicBezTo>
                  <a:pt x="8421" y="9720"/>
                  <a:pt x="8421" y="10395"/>
                  <a:pt x="8874" y="10665"/>
                </a:cubicBezTo>
                <a:cubicBezTo>
                  <a:pt x="9478" y="11340"/>
                  <a:pt x="9478" y="11340"/>
                  <a:pt x="9478" y="11340"/>
                </a:cubicBezTo>
                <a:cubicBezTo>
                  <a:pt x="9780" y="11475"/>
                  <a:pt x="9931" y="11610"/>
                  <a:pt x="10233" y="11610"/>
                </a:cubicBezTo>
                <a:cubicBezTo>
                  <a:pt x="10535" y="11610"/>
                  <a:pt x="10838" y="11475"/>
                  <a:pt x="10989" y="11340"/>
                </a:cubicBezTo>
                <a:cubicBezTo>
                  <a:pt x="11442" y="11070"/>
                  <a:pt x="11442" y="11070"/>
                  <a:pt x="11442" y="11070"/>
                </a:cubicBezTo>
                <a:cubicBezTo>
                  <a:pt x="11744" y="11205"/>
                  <a:pt x="12197" y="11475"/>
                  <a:pt x="12801" y="11475"/>
                </a:cubicBezTo>
                <a:cubicBezTo>
                  <a:pt x="12801" y="12015"/>
                  <a:pt x="12801" y="12015"/>
                  <a:pt x="12801" y="12015"/>
                </a:cubicBezTo>
                <a:cubicBezTo>
                  <a:pt x="12801" y="12555"/>
                  <a:pt x="13254" y="12960"/>
                  <a:pt x="13859" y="12960"/>
                </a:cubicBezTo>
                <a:cubicBezTo>
                  <a:pt x="14765" y="12960"/>
                  <a:pt x="14765" y="12960"/>
                  <a:pt x="14765" y="12960"/>
                </a:cubicBezTo>
                <a:cubicBezTo>
                  <a:pt x="15369" y="12960"/>
                  <a:pt x="15822" y="12555"/>
                  <a:pt x="15822" y="12015"/>
                </a:cubicBezTo>
                <a:cubicBezTo>
                  <a:pt x="15822" y="11475"/>
                  <a:pt x="15822" y="11475"/>
                  <a:pt x="15822" y="11475"/>
                </a:cubicBezTo>
                <a:cubicBezTo>
                  <a:pt x="16275" y="11475"/>
                  <a:pt x="16728" y="11205"/>
                  <a:pt x="17182" y="11070"/>
                </a:cubicBezTo>
                <a:cubicBezTo>
                  <a:pt x="17484" y="11340"/>
                  <a:pt x="17484" y="11340"/>
                  <a:pt x="17484" y="11340"/>
                </a:cubicBezTo>
                <a:cubicBezTo>
                  <a:pt x="17786" y="11475"/>
                  <a:pt x="18088" y="11610"/>
                  <a:pt x="18239" y="11610"/>
                </a:cubicBezTo>
                <a:cubicBezTo>
                  <a:pt x="18541" y="11610"/>
                  <a:pt x="18843" y="11475"/>
                  <a:pt x="18994" y="11340"/>
                </a:cubicBezTo>
                <a:cubicBezTo>
                  <a:pt x="19749" y="10665"/>
                  <a:pt x="19749" y="10665"/>
                  <a:pt x="19749" y="10665"/>
                </a:cubicBezTo>
                <a:cubicBezTo>
                  <a:pt x="20203" y="10395"/>
                  <a:pt x="20203" y="9720"/>
                  <a:pt x="19749" y="9450"/>
                </a:cubicBezTo>
                <a:cubicBezTo>
                  <a:pt x="19447" y="9045"/>
                  <a:pt x="19447" y="9045"/>
                  <a:pt x="19447" y="9045"/>
                </a:cubicBezTo>
                <a:cubicBezTo>
                  <a:pt x="19598" y="8640"/>
                  <a:pt x="19749" y="8235"/>
                  <a:pt x="19900" y="7830"/>
                </a:cubicBezTo>
                <a:cubicBezTo>
                  <a:pt x="20505" y="7830"/>
                  <a:pt x="20505" y="7830"/>
                  <a:pt x="20505" y="7830"/>
                </a:cubicBezTo>
                <a:close/>
                <a:moveTo>
                  <a:pt x="19145" y="7290"/>
                </a:moveTo>
                <a:cubicBezTo>
                  <a:pt x="18994" y="7830"/>
                  <a:pt x="18692" y="8370"/>
                  <a:pt x="18390" y="8910"/>
                </a:cubicBezTo>
                <a:cubicBezTo>
                  <a:pt x="18239" y="9045"/>
                  <a:pt x="18239" y="9315"/>
                  <a:pt x="18390" y="9450"/>
                </a:cubicBezTo>
                <a:cubicBezTo>
                  <a:pt x="18994" y="9990"/>
                  <a:pt x="18994" y="9990"/>
                  <a:pt x="18994" y="9990"/>
                </a:cubicBezTo>
                <a:cubicBezTo>
                  <a:pt x="19145" y="9990"/>
                  <a:pt x="19145" y="10125"/>
                  <a:pt x="18994" y="10125"/>
                </a:cubicBezTo>
                <a:cubicBezTo>
                  <a:pt x="18390" y="10665"/>
                  <a:pt x="18390" y="10665"/>
                  <a:pt x="18390" y="10665"/>
                </a:cubicBezTo>
                <a:cubicBezTo>
                  <a:pt x="18390" y="10665"/>
                  <a:pt x="18390" y="10665"/>
                  <a:pt x="18239" y="10665"/>
                </a:cubicBezTo>
                <a:cubicBezTo>
                  <a:pt x="18239" y="10665"/>
                  <a:pt x="18239" y="10665"/>
                  <a:pt x="18239" y="10665"/>
                </a:cubicBezTo>
                <a:cubicBezTo>
                  <a:pt x="17635" y="10125"/>
                  <a:pt x="17635" y="10125"/>
                  <a:pt x="17635" y="10125"/>
                </a:cubicBezTo>
                <a:cubicBezTo>
                  <a:pt x="17484" y="9990"/>
                  <a:pt x="17182" y="9990"/>
                  <a:pt x="17031" y="10125"/>
                </a:cubicBezTo>
                <a:cubicBezTo>
                  <a:pt x="16426" y="10395"/>
                  <a:pt x="15822" y="10665"/>
                  <a:pt x="15218" y="10800"/>
                </a:cubicBezTo>
                <a:cubicBezTo>
                  <a:pt x="15067" y="10800"/>
                  <a:pt x="14916" y="10935"/>
                  <a:pt x="14916" y="11205"/>
                </a:cubicBezTo>
                <a:cubicBezTo>
                  <a:pt x="14916" y="12015"/>
                  <a:pt x="14916" y="12015"/>
                  <a:pt x="14916" y="12015"/>
                </a:cubicBezTo>
                <a:cubicBezTo>
                  <a:pt x="14916" y="12015"/>
                  <a:pt x="14765" y="12015"/>
                  <a:pt x="14765" y="12015"/>
                </a:cubicBezTo>
                <a:cubicBezTo>
                  <a:pt x="13859" y="12015"/>
                  <a:pt x="13859" y="12015"/>
                  <a:pt x="13859" y="12015"/>
                </a:cubicBezTo>
                <a:cubicBezTo>
                  <a:pt x="13707" y="12015"/>
                  <a:pt x="13707" y="12015"/>
                  <a:pt x="13707" y="12015"/>
                </a:cubicBezTo>
                <a:cubicBezTo>
                  <a:pt x="13707" y="11205"/>
                  <a:pt x="13707" y="11205"/>
                  <a:pt x="13707" y="11205"/>
                </a:cubicBezTo>
                <a:cubicBezTo>
                  <a:pt x="13707" y="10935"/>
                  <a:pt x="13556" y="10800"/>
                  <a:pt x="13254" y="10800"/>
                </a:cubicBezTo>
                <a:cubicBezTo>
                  <a:pt x="12650" y="10665"/>
                  <a:pt x="12046" y="10395"/>
                  <a:pt x="11593" y="10125"/>
                </a:cubicBezTo>
                <a:cubicBezTo>
                  <a:pt x="11442" y="9990"/>
                  <a:pt x="11442" y="9990"/>
                  <a:pt x="11291" y="9990"/>
                </a:cubicBezTo>
                <a:cubicBezTo>
                  <a:pt x="11140" y="9990"/>
                  <a:pt x="10989" y="10125"/>
                  <a:pt x="10989" y="10125"/>
                </a:cubicBezTo>
                <a:cubicBezTo>
                  <a:pt x="10384" y="10665"/>
                  <a:pt x="10384" y="10665"/>
                  <a:pt x="10384" y="10665"/>
                </a:cubicBezTo>
                <a:cubicBezTo>
                  <a:pt x="10384" y="10665"/>
                  <a:pt x="10233" y="10665"/>
                  <a:pt x="10233" y="10665"/>
                </a:cubicBezTo>
                <a:cubicBezTo>
                  <a:pt x="10233" y="10665"/>
                  <a:pt x="10233" y="10665"/>
                  <a:pt x="10233" y="10665"/>
                </a:cubicBezTo>
                <a:cubicBezTo>
                  <a:pt x="9478" y="10125"/>
                  <a:pt x="9478" y="10125"/>
                  <a:pt x="9478" y="10125"/>
                </a:cubicBezTo>
                <a:cubicBezTo>
                  <a:pt x="9478" y="10125"/>
                  <a:pt x="9478" y="9990"/>
                  <a:pt x="9478" y="9990"/>
                </a:cubicBezTo>
                <a:cubicBezTo>
                  <a:pt x="10233" y="9450"/>
                  <a:pt x="10233" y="9450"/>
                  <a:pt x="10233" y="9450"/>
                </a:cubicBezTo>
                <a:cubicBezTo>
                  <a:pt x="10384" y="9315"/>
                  <a:pt x="10384" y="9045"/>
                  <a:pt x="10233" y="8910"/>
                </a:cubicBezTo>
                <a:cubicBezTo>
                  <a:pt x="9931" y="8370"/>
                  <a:pt x="9629" y="7830"/>
                  <a:pt x="9478" y="7290"/>
                </a:cubicBezTo>
                <a:cubicBezTo>
                  <a:pt x="9478" y="7155"/>
                  <a:pt x="9176" y="7020"/>
                  <a:pt x="9025" y="7020"/>
                </a:cubicBezTo>
                <a:cubicBezTo>
                  <a:pt x="8119" y="7020"/>
                  <a:pt x="8119" y="7020"/>
                  <a:pt x="8119" y="7020"/>
                </a:cubicBezTo>
                <a:cubicBezTo>
                  <a:pt x="8119" y="7020"/>
                  <a:pt x="8119" y="6885"/>
                  <a:pt x="8119" y="6885"/>
                </a:cubicBezTo>
                <a:cubicBezTo>
                  <a:pt x="8119" y="6075"/>
                  <a:pt x="8119" y="6075"/>
                  <a:pt x="8119" y="6075"/>
                </a:cubicBezTo>
                <a:cubicBezTo>
                  <a:pt x="8119" y="5940"/>
                  <a:pt x="8119" y="5940"/>
                  <a:pt x="8119" y="5940"/>
                </a:cubicBezTo>
                <a:cubicBezTo>
                  <a:pt x="9025" y="5940"/>
                  <a:pt x="9025" y="5940"/>
                  <a:pt x="9025" y="5940"/>
                </a:cubicBezTo>
                <a:cubicBezTo>
                  <a:pt x="9176" y="5940"/>
                  <a:pt x="9478" y="5805"/>
                  <a:pt x="9478" y="5535"/>
                </a:cubicBezTo>
                <a:cubicBezTo>
                  <a:pt x="9629" y="4995"/>
                  <a:pt x="9931" y="4455"/>
                  <a:pt x="10233" y="4050"/>
                </a:cubicBezTo>
                <a:cubicBezTo>
                  <a:pt x="10384" y="3915"/>
                  <a:pt x="10384" y="3645"/>
                  <a:pt x="10233" y="3510"/>
                </a:cubicBezTo>
                <a:cubicBezTo>
                  <a:pt x="9478" y="2970"/>
                  <a:pt x="9478" y="2970"/>
                  <a:pt x="9478" y="2970"/>
                </a:cubicBezTo>
                <a:cubicBezTo>
                  <a:pt x="9478" y="2835"/>
                  <a:pt x="9478" y="2835"/>
                  <a:pt x="9478" y="2835"/>
                </a:cubicBezTo>
                <a:cubicBezTo>
                  <a:pt x="10233" y="2160"/>
                  <a:pt x="10233" y="2160"/>
                  <a:pt x="10233" y="2160"/>
                </a:cubicBezTo>
                <a:cubicBezTo>
                  <a:pt x="10233" y="2160"/>
                  <a:pt x="10233" y="2160"/>
                  <a:pt x="10233" y="2160"/>
                </a:cubicBezTo>
                <a:cubicBezTo>
                  <a:pt x="10233" y="2160"/>
                  <a:pt x="10384" y="2160"/>
                  <a:pt x="10384" y="2160"/>
                </a:cubicBezTo>
                <a:cubicBezTo>
                  <a:pt x="10989" y="2700"/>
                  <a:pt x="10989" y="2700"/>
                  <a:pt x="10989" y="2700"/>
                </a:cubicBezTo>
                <a:cubicBezTo>
                  <a:pt x="11140" y="2835"/>
                  <a:pt x="11442" y="2970"/>
                  <a:pt x="11593" y="2835"/>
                </a:cubicBezTo>
                <a:cubicBezTo>
                  <a:pt x="12046" y="2430"/>
                  <a:pt x="12650" y="2295"/>
                  <a:pt x="13405" y="2160"/>
                </a:cubicBezTo>
                <a:cubicBezTo>
                  <a:pt x="13556" y="2160"/>
                  <a:pt x="13707" y="1890"/>
                  <a:pt x="13707" y="1755"/>
                </a:cubicBezTo>
                <a:cubicBezTo>
                  <a:pt x="13707" y="945"/>
                  <a:pt x="13707" y="945"/>
                  <a:pt x="13707" y="945"/>
                </a:cubicBezTo>
                <a:cubicBezTo>
                  <a:pt x="13707" y="945"/>
                  <a:pt x="13707" y="810"/>
                  <a:pt x="13859" y="810"/>
                </a:cubicBezTo>
                <a:cubicBezTo>
                  <a:pt x="14765" y="810"/>
                  <a:pt x="14765" y="810"/>
                  <a:pt x="14765" y="810"/>
                </a:cubicBezTo>
                <a:cubicBezTo>
                  <a:pt x="14765" y="810"/>
                  <a:pt x="14916" y="945"/>
                  <a:pt x="14916" y="945"/>
                </a:cubicBezTo>
                <a:cubicBezTo>
                  <a:pt x="14916" y="1755"/>
                  <a:pt x="14916" y="1755"/>
                  <a:pt x="14916" y="1755"/>
                </a:cubicBezTo>
                <a:cubicBezTo>
                  <a:pt x="14916" y="1890"/>
                  <a:pt x="15067" y="2160"/>
                  <a:pt x="15218" y="2160"/>
                </a:cubicBezTo>
                <a:cubicBezTo>
                  <a:pt x="15822" y="2295"/>
                  <a:pt x="16426" y="2430"/>
                  <a:pt x="17031" y="2835"/>
                </a:cubicBezTo>
                <a:cubicBezTo>
                  <a:pt x="17182" y="2970"/>
                  <a:pt x="17484" y="2970"/>
                  <a:pt x="17635" y="2700"/>
                </a:cubicBezTo>
                <a:cubicBezTo>
                  <a:pt x="18239" y="2160"/>
                  <a:pt x="18239" y="2160"/>
                  <a:pt x="18239" y="2160"/>
                </a:cubicBezTo>
                <a:cubicBezTo>
                  <a:pt x="18239" y="2160"/>
                  <a:pt x="18239" y="2160"/>
                  <a:pt x="18390" y="2160"/>
                </a:cubicBezTo>
                <a:cubicBezTo>
                  <a:pt x="18390" y="2160"/>
                  <a:pt x="18390" y="2160"/>
                  <a:pt x="18390" y="2160"/>
                </a:cubicBezTo>
                <a:cubicBezTo>
                  <a:pt x="18994" y="2835"/>
                  <a:pt x="18994" y="2835"/>
                  <a:pt x="18994" y="2835"/>
                </a:cubicBezTo>
                <a:cubicBezTo>
                  <a:pt x="19145" y="2835"/>
                  <a:pt x="19145" y="2835"/>
                  <a:pt x="18994" y="2970"/>
                </a:cubicBezTo>
                <a:cubicBezTo>
                  <a:pt x="18390" y="3510"/>
                  <a:pt x="18390" y="3510"/>
                  <a:pt x="18390" y="3510"/>
                </a:cubicBezTo>
                <a:cubicBezTo>
                  <a:pt x="18239" y="3645"/>
                  <a:pt x="18239" y="3915"/>
                  <a:pt x="18390" y="4050"/>
                </a:cubicBezTo>
                <a:cubicBezTo>
                  <a:pt x="18692" y="4455"/>
                  <a:pt x="18994" y="4995"/>
                  <a:pt x="19145" y="5670"/>
                </a:cubicBezTo>
                <a:cubicBezTo>
                  <a:pt x="19145" y="5805"/>
                  <a:pt x="19296" y="5940"/>
                  <a:pt x="19598" y="5940"/>
                </a:cubicBezTo>
                <a:cubicBezTo>
                  <a:pt x="20505" y="5940"/>
                  <a:pt x="20505" y="5940"/>
                  <a:pt x="20505" y="5940"/>
                </a:cubicBezTo>
                <a:cubicBezTo>
                  <a:pt x="20505" y="5940"/>
                  <a:pt x="20505" y="5940"/>
                  <a:pt x="20505" y="6075"/>
                </a:cubicBezTo>
                <a:cubicBezTo>
                  <a:pt x="20505" y="6885"/>
                  <a:pt x="20505" y="6885"/>
                  <a:pt x="20505" y="6885"/>
                </a:cubicBezTo>
                <a:cubicBezTo>
                  <a:pt x="20505" y="6885"/>
                  <a:pt x="20505" y="7020"/>
                  <a:pt x="20505" y="7020"/>
                </a:cubicBezTo>
                <a:cubicBezTo>
                  <a:pt x="19598" y="7020"/>
                  <a:pt x="19598" y="7020"/>
                  <a:pt x="19598" y="7020"/>
                </a:cubicBezTo>
                <a:cubicBezTo>
                  <a:pt x="19296" y="7020"/>
                  <a:pt x="19145" y="7155"/>
                  <a:pt x="19145" y="7290"/>
                </a:cubicBezTo>
                <a:close/>
                <a:moveTo>
                  <a:pt x="14312" y="3645"/>
                </a:moveTo>
                <a:cubicBezTo>
                  <a:pt x="12650" y="3645"/>
                  <a:pt x="11140" y="4995"/>
                  <a:pt x="11140" y="6480"/>
                </a:cubicBezTo>
                <a:cubicBezTo>
                  <a:pt x="11140" y="7965"/>
                  <a:pt x="12650" y="9180"/>
                  <a:pt x="14312" y="9180"/>
                </a:cubicBezTo>
                <a:cubicBezTo>
                  <a:pt x="15973" y="9180"/>
                  <a:pt x="17333" y="7965"/>
                  <a:pt x="17333" y="6480"/>
                </a:cubicBezTo>
                <a:cubicBezTo>
                  <a:pt x="17333" y="4995"/>
                  <a:pt x="15973" y="3645"/>
                  <a:pt x="14312" y="3645"/>
                </a:cubicBezTo>
                <a:close/>
                <a:moveTo>
                  <a:pt x="14312" y="8370"/>
                </a:moveTo>
                <a:cubicBezTo>
                  <a:pt x="13103" y="8370"/>
                  <a:pt x="12197" y="7425"/>
                  <a:pt x="12197" y="6480"/>
                </a:cubicBezTo>
                <a:cubicBezTo>
                  <a:pt x="12197" y="5400"/>
                  <a:pt x="13103" y="4590"/>
                  <a:pt x="14312" y="4590"/>
                </a:cubicBezTo>
                <a:cubicBezTo>
                  <a:pt x="15520" y="4590"/>
                  <a:pt x="16426" y="5400"/>
                  <a:pt x="16426" y="6480"/>
                </a:cubicBezTo>
                <a:cubicBezTo>
                  <a:pt x="16426" y="7425"/>
                  <a:pt x="15520" y="8370"/>
                  <a:pt x="14312" y="8370"/>
                </a:cubicBezTo>
                <a:close/>
                <a:moveTo>
                  <a:pt x="3889" y="19845"/>
                </a:moveTo>
                <a:cubicBezTo>
                  <a:pt x="5551" y="19710"/>
                  <a:pt x="5551" y="19710"/>
                  <a:pt x="5551" y="19710"/>
                </a:cubicBezTo>
                <a:cubicBezTo>
                  <a:pt x="5551" y="21195"/>
                  <a:pt x="5551" y="21195"/>
                  <a:pt x="5551" y="21195"/>
                </a:cubicBezTo>
                <a:cubicBezTo>
                  <a:pt x="5551" y="21465"/>
                  <a:pt x="5702" y="21600"/>
                  <a:pt x="6004" y="21600"/>
                </a:cubicBezTo>
                <a:cubicBezTo>
                  <a:pt x="15067" y="21600"/>
                  <a:pt x="15067" y="21600"/>
                  <a:pt x="15067" y="21600"/>
                </a:cubicBezTo>
                <a:cubicBezTo>
                  <a:pt x="15369" y="21600"/>
                  <a:pt x="15520" y="21465"/>
                  <a:pt x="15520" y="21195"/>
                </a:cubicBezTo>
                <a:cubicBezTo>
                  <a:pt x="15520" y="15660"/>
                  <a:pt x="15520" y="15660"/>
                  <a:pt x="15520" y="15660"/>
                </a:cubicBezTo>
                <a:cubicBezTo>
                  <a:pt x="16426" y="14850"/>
                  <a:pt x="17182" y="13905"/>
                  <a:pt x="17635" y="12690"/>
                </a:cubicBezTo>
                <a:cubicBezTo>
                  <a:pt x="17635" y="12555"/>
                  <a:pt x="17635" y="12285"/>
                  <a:pt x="17333" y="12150"/>
                </a:cubicBezTo>
                <a:cubicBezTo>
                  <a:pt x="17031" y="12150"/>
                  <a:pt x="16728" y="12285"/>
                  <a:pt x="16728" y="12420"/>
                </a:cubicBezTo>
                <a:cubicBezTo>
                  <a:pt x="16275" y="13500"/>
                  <a:pt x="15671" y="14445"/>
                  <a:pt x="14765" y="15120"/>
                </a:cubicBezTo>
                <a:cubicBezTo>
                  <a:pt x="14614" y="15255"/>
                  <a:pt x="14614" y="15390"/>
                  <a:pt x="14614" y="15525"/>
                </a:cubicBezTo>
                <a:cubicBezTo>
                  <a:pt x="14614" y="20790"/>
                  <a:pt x="14614" y="20790"/>
                  <a:pt x="14614" y="20790"/>
                </a:cubicBezTo>
                <a:cubicBezTo>
                  <a:pt x="6457" y="20790"/>
                  <a:pt x="6457" y="20790"/>
                  <a:pt x="6457" y="20790"/>
                </a:cubicBezTo>
                <a:cubicBezTo>
                  <a:pt x="6457" y="19170"/>
                  <a:pt x="6457" y="19170"/>
                  <a:pt x="6457" y="19170"/>
                </a:cubicBezTo>
                <a:cubicBezTo>
                  <a:pt x="6457" y="19035"/>
                  <a:pt x="6457" y="18900"/>
                  <a:pt x="6306" y="18900"/>
                </a:cubicBezTo>
                <a:cubicBezTo>
                  <a:pt x="6155" y="18765"/>
                  <a:pt x="6004" y="18765"/>
                  <a:pt x="5853" y="18765"/>
                </a:cubicBezTo>
                <a:cubicBezTo>
                  <a:pt x="3738" y="19035"/>
                  <a:pt x="3738" y="19035"/>
                  <a:pt x="3738" y="19035"/>
                </a:cubicBezTo>
                <a:cubicBezTo>
                  <a:pt x="3134" y="19035"/>
                  <a:pt x="2681" y="18630"/>
                  <a:pt x="2681" y="17955"/>
                </a:cubicBezTo>
                <a:cubicBezTo>
                  <a:pt x="2681" y="15525"/>
                  <a:pt x="2681" y="15525"/>
                  <a:pt x="2681" y="15525"/>
                </a:cubicBezTo>
                <a:cubicBezTo>
                  <a:pt x="2681" y="15255"/>
                  <a:pt x="2379" y="14985"/>
                  <a:pt x="2228" y="14985"/>
                </a:cubicBezTo>
                <a:cubicBezTo>
                  <a:pt x="1472" y="14985"/>
                  <a:pt x="1472" y="14985"/>
                  <a:pt x="1472" y="14985"/>
                </a:cubicBezTo>
                <a:cubicBezTo>
                  <a:pt x="1170" y="14985"/>
                  <a:pt x="1019" y="14985"/>
                  <a:pt x="1019" y="14850"/>
                </a:cubicBezTo>
                <a:cubicBezTo>
                  <a:pt x="868" y="14850"/>
                  <a:pt x="868" y="14580"/>
                  <a:pt x="1019" y="14445"/>
                </a:cubicBezTo>
                <a:cubicBezTo>
                  <a:pt x="2530" y="11745"/>
                  <a:pt x="2530" y="11745"/>
                  <a:pt x="2530" y="11745"/>
                </a:cubicBezTo>
                <a:cubicBezTo>
                  <a:pt x="2681" y="11745"/>
                  <a:pt x="2681" y="11610"/>
                  <a:pt x="2681" y="11610"/>
                </a:cubicBezTo>
                <a:cubicBezTo>
                  <a:pt x="2681" y="10395"/>
                  <a:pt x="2681" y="10395"/>
                  <a:pt x="2681" y="10395"/>
                </a:cubicBezTo>
                <a:cubicBezTo>
                  <a:pt x="2681" y="7965"/>
                  <a:pt x="4342" y="5670"/>
                  <a:pt x="6759" y="4590"/>
                </a:cubicBezTo>
                <a:cubicBezTo>
                  <a:pt x="7061" y="4590"/>
                  <a:pt x="7363" y="4455"/>
                  <a:pt x="7514" y="4320"/>
                </a:cubicBezTo>
                <a:cubicBezTo>
                  <a:pt x="7817" y="4320"/>
                  <a:pt x="7968" y="4050"/>
                  <a:pt x="7817" y="3780"/>
                </a:cubicBezTo>
                <a:cubicBezTo>
                  <a:pt x="7817" y="3645"/>
                  <a:pt x="7514" y="3510"/>
                  <a:pt x="7212" y="3510"/>
                </a:cubicBezTo>
                <a:cubicBezTo>
                  <a:pt x="6910" y="3645"/>
                  <a:pt x="6608" y="3780"/>
                  <a:pt x="6457" y="3780"/>
                </a:cubicBezTo>
                <a:cubicBezTo>
                  <a:pt x="3587" y="4995"/>
                  <a:pt x="1624" y="7695"/>
                  <a:pt x="1624" y="10395"/>
                </a:cubicBezTo>
                <a:cubicBezTo>
                  <a:pt x="1624" y="11475"/>
                  <a:pt x="1624" y="11475"/>
                  <a:pt x="1624" y="11475"/>
                </a:cubicBezTo>
                <a:cubicBezTo>
                  <a:pt x="113" y="14040"/>
                  <a:pt x="113" y="14040"/>
                  <a:pt x="113" y="14040"/>
                </a:cubicBezTo>
                <a:cubicBezTo>
                  <a:pt x="-38" y="14445"/>
                  <a:pt x="-38" y="14985"/>
                  <a:pt x="113" y="15390"/>
                </a:cubicBezTo>
                <a:cubicBezTo>
                  <a:pt x="415" y="15660"/>
                  <a:pt x="868" y="15930"/>
                  <a:pt x="1472" y="15930"/>
                </a:cubicBezTo>
                <a:cubicBezTo>
                  <a:pt x="1624" y="15930"/>
                  <a:pt x="1624" y="15930"/>
                  <a:pt x="1624" y="15930"/>
                </a:cubicBezTo>
                <a:cubicBezTo>
                  <a:pt x="1624" y="17955"/>
                  <a:pt x="1624" y="17955"/>
                  <a:pt x="1624" y="17955"/>
                </a:cubicBezTo>
                <a:cubicBezTo>
                  <a:pt x="1624" y="19035"/>
                  <a:pt x="2681" y="19845"/>
                  <a:pt x="3738" y="19845"/>
                </a:cubicBezTo>
                <a:cubicBezTo>
                  <a:pt x="3738" y="19845"/>
                  <a:pt x="3889" y="19845"/>
                  <a:pt x="3889" y="19845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795" name="BPMN"/>
          <p:cNvSpPr txBox="1"/>
          <p:nvPr/>
        </p:nvSpPr>
        <p:spPr>
          <a:xfrm>
            <a:off x="17012828" y="1530132"/>
            <a:ext cx="6058585" cy="615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tIns="91439" bIns="91439">
            <a:spAutoFit/>
          </a:bodyPr>
          <a:lstStyle>
            <a:lvl1pPr defTabSz="1828660">
              <a:lnSpc>
                <a:spcPct val="100000"/>
              </a:lnSpc>
              <a:spcBef>
                <a:spcPts val="2400"/>
              </a:spcBef>
              <a:defRPr sz="2800" b="1">
                <a:solidFill>
                  <a:srgbClr val="22222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dirty="0"/>
              <a:t>BPMN</a:t>
            </a:r>
            <a:r>
              <a:rPr lang="en-US" dirty="0"/>
              <a:t> - </a:t>
            </a:r>
            <a:r>
              <a:rPr lang="en-US" sz="2000" dirty="0"/>
              <a:t>Process as the System of Execution</a:t>
            </a:r>
            <a:endParaRPr dirty="0"/>
          </a:p>
        </p:txBody>
      </p:sp>
      <p:sp>
        <p:nvSpPr>
          <p:cNvPr id="796" name="Placeholder – Provisional text (Mamoon WIP)"/>
          <p:cNvSpPr txBox="1"/>
          <p:nvPr/>
        </p:nvSpPr>
        <p:spPr>
          <a:xfrm>
            <a:off x="17058423" y="2121173"/>
            <a:ext cx="6012990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>
            <a:lvl1pPr defTabSz="1828660">
              <a:lnSpc>
                <a:spcPct val="100000"/>
              </a:lnSpc>
              <a:spcBef>
                <a:spcPts val="0"/>
              </a:spcBef>
              <a:defRPr sz="2000">
                <a:solidFill>
                  <a:srgbClr val="22222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</a:lstStyle>
          <a:p>
            <a:r>
              <a:rPr lang="en-US" dirty="0"/>
              <a:t>End-to-end, event-driven orchestration across CRM, catalog, fulfillment, field operations, and billing. BPMN acts as the </a:t>
            </a:r>
            <a:r>
              <a:rPr lang="en-US" b="1" dirty="0"/>
              <a:t>authoritative execution layer</a:t>
            </a:r>
            <a:r>
              <a:rPr lang="en-US" dirty="0"/>
              <a:t>, enforcing SLAs, dependencies, and cross-functional workflows—without hard-coded integrations.</a:t>
            </a:r>
            <a:endParaRPr dirty="0"/>
          </a:p>
        </p:txBody>
      </p:sp>
      <p:sp>
        <p:nvSpPr>
          <p:cNvPr id="797" name="Circle"/>
          <p:cNvSpPr/>
          <p:nvPr/>
        </p:nvSpPr>
        <p:spPr>
          <a:xfrm>
            <a:off x="13788248" y="4081361"/>
            <a:ext cx="2501858" cy="2501857"/>
          </a:xfrm>
          <a:prstGeom prst="ellipse">
            <a:avLst/>
          </a:prstGeom>
          <a:solidFill>
            <a:srgbClr val="E07344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798" name="RPA"/>
          <p:cNvSpPr txBox="1"/>
          <p:nvPr/>
        </p:nvSpPr>
        <p:spPr>
          <a:xfrm>
            <a:off x="17012828" y="4623872"/>
            <a:ext cx="6012990" cy="615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tIns="91439" bIns="91439">
            <a:spAutoFit/>
          </a:bodyPr>
          <a:lstStyle>
            <a:lvl1pPr defTabSz="1828660">
              <a:lnSpc>
                <a:spcPct val="100000"/>
              </a:lnSpc>
              <a:spcBef>
                <a:spcPts val="2400"/>
              </a:spcBef>
              <a:defRPr sz="2800" b="1">
                <a:solidFill>
                  <a:srgbClr val="22222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dirty="0"/>
              <a:t>RPA</a:t>
            </a:r>
            <a:r>
              <a:rPr lang="en-US" dirty="0"/>
              <a:t> - </a:t>
            </a:r>
            <a:r>
              <a:rPr lang="en-US" sz="2000" dirty="0"/>
              <a:t>Last-Mile &amp; Legacy Automation</a:t>
            </a:r>
            <a:endParaRPr sz="2000" dirty="0"/>
          </a:p>
        </p:txBody>
      </p:sp>
      <p:sp>
        <p:nvSpPr>
          <p:cNvPr id="799" name="Placeholder – Provisional text (Mamoon WIP)"/>
          <p:cNvSpPr txBox="1"/>
          <p:nvPr/>
        </p:nvSpPr>
        <p:spPr>
          <a:xfrm>
            <a:off x="17058423" y="5266214"/>
            <a:ext cx="6058585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>
            <a:lvl1pPr defTabSz="1828660">
              <a:lnSpc>
                <a:spcPct val="100000"/>
              </a:lnSpc>
              <a:spcBef>
                <a:spcPts val="0"/>
              </a:spcBef>
              <a:defRPr sz="2000">
                <a:solidFill>
                  <a:srgbClr val="22222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</a:lstStyle>
          <a:p>
            <a:r>
              <a:rPr lang="en-US" dirty="0"/>
              <a:t>Non-intrusive automation for legacy, human-dependent, or non-API systems. RPA handles </a:t>
            </a:r>
            <a:r>
              <a:rPr lang="en-US" b="1" dirty="0"/>
              <a:t>edge tasks and exception paths</a:t>
            </a:r>
            <a:r>
              <a:rPr lang="en-US" dirty="0"/>
              <a:t>, while BPMN remains the source of truth—avoiding brittle, bot-centric architectures.</a:t>
            </a:r>
            <a:endParaRPr dirty="0"/>
          </a:p>
        </p:txBody>
      </p:sp>
      <p:sp>
        <p:nvSpPr>
          <p:cNvPr id="800" name="AI/ML"/>
          <p:cNvSpPr txBox="1"/>
          <p:nvPr/>
        </p:nvSpPr>
        <p:spPr>
          <a:xfrm>
            <a:off x="17012828" y="7717611"/>
            <a:ext cx="5385827" cy="615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defTabSz="1828660">
              <a:lnSpc>
                <a:spcPct val="100000"/>
              </a:lnSpc>
              <a:spcBef>
                <a:spcPts val="2400"/>
              </a:spcBef>
              <a:defRPr sz="2800" b="1">
                <a:solidFill>
                  <a:srgbClr val="22222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dirty="0"/>
              <a:t>AI/ML</a:t>
            </a:r>
            <a:r>
              <a:rPr lang="en-US" dirty="0"/>
              <a:t> - </a:t>
            </a:r>
            <a:r>
              <a:rPr lang="en-US" sz="2000" dirty="0"/>
              <a:t>Agentic Intelligence Layer</a:t>
            </a:r>
            <a:endParaRPr sz="2000" dirty="0"/>
          </a:p>
        </p:txBody>
      </p:sp>
      <p:sp>
        <p:nvSpPr>
          <p:cNvPr id="801" name="Placeholder – Provisional text (Mamoon WIP)"/>
          <p:cNvSpPr txBox="1"/>
          <p:nvPr/>
        </p:nvSpPr>
        <p:spPr>
          <a:xfrm>
            <a:off x="17012828" y="8347047"/>
            <a:ext cx="6012990" cy="19492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>
            <a:lvl1pPr defTabSz="1828660">
              <a:lnSpc>
                <a:spcPct val="100000"/>
              </a:lnSpc>
              <a:spcBef>
                <a:spcPts val="0"/>
              </a:spcBef>
              <a:defRPr sz="2000">
                <a:solidFill>
                  <a:srgbClr val="22222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</a:lstStyle>
          <a:p>
            <a:r>
              <a:rPr lang="en-US" dirty="0"/>
              <a:t>Embedded AI agents for </a:t>
            </a:r>
            <a:r>
              <a:rPr lang="en-US" b="1" dirty="0"/>
              <a:t>decisioning, prediction, and autonomous actions</a:t>
            </a:r>
            <a:r>
              <a:rPr lang="en-US" dirty="0"/>
              <a:t> across operations. Powers self-care, intelligent routing, anomaly detection, root-cause analysis, and continuous process optimization—learning from every transaction.</a:t>
            </a:r>
            <a:endParaRPr dirty="0"/>
          </a:p>
        </p:txBody>
      </p:sp>
      <p:sp>
        <p:nvSpPr>
          <p:cNvPr id="802" name="BI/Analytics"/>
          <p:cNvSpPr txBox="1"/>
          <p:nvPr/>
        </p:nvSpPr>
        <p:spPr>
          <a:xfrm>
            <a:off x="17012828" y="10769031"/>
            <a:ext cx="6012990" cy="9233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tIns="91439" bIns="91439">
            <a:spAutoFit/>
          </a:bodyPr>
          <a:lstStyle>
            <a:lvl1pPr defTabSz="1828660">
              <a:lnSpc>
                <a:spcPct val="100000"/>
              </a:lnSpc>
              <a:spcBef>
                <a:spcPts val="2400"/>
              </a:spcBef>
              <a:defRPr sz="2800" b="1">
                <a:solidFill>
                  <a:srgbClr val="22222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dirty="0"/>
              <a:t>BI/Analytics</a:t>
            </a:r>
            <a:r>
              <a:rPr lang="en-US" dirty="0"/>
              <a:t> - </a:t>
            </a:r>
            <a:r>
              <a:rPr lang="en-US" sz="2000" dirty="0"/>
              <a:t>Real-Time Operational Intelligence</a:t>
            </a:r>
            <a:endParaRPr sz="2000" dirty="0"/>
          </a:p>
        </p:txBody>
      </p:sp>
      <p:sp>
        <p:nvSpPr>
          <p:cNvPr id="803" name="Placeholder – Provisional text (Mamoon WIP)"/>
          <p:cNvSpPr txBox="1"/>
          <p:nvPr/>
        </p:nvSpPr>
        <p:spPr>
          <a:xfrm>
            <a:off x="17058423" y="11692359"/>
            <a:ext cx="538582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>
            <a:lvl1pPr defTabSz="1828660">
              <a:lnSpc>
                <a:spcPct val="100000"/>
              </a:lnSpc>
              <a:spcBef>
                <a:spcPts val="0"/>
              </a:spcBef>
              <a:defRPr sz="2000">
                <a:solidFill>
                  <a:srgbClr val="22222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</a:lstStyle>
          <a:p>
            <a:r>
              <a:rPr lang="en-US" dirty="0"/>
              <a:t>Unified, role-based analytics across orders, assets, workforce, and incidents. Delivers </a:t>
            </a:r>
            <a:r>
              <a:rPr lang="en-US" b="1" dirty="0"/>
              <a:t>real-time visibility, insight velocity, and outcome tracking</a:t>
            </a:r>
            <a:r>
              <a:rPr lang="en-US" dirty="0"/>
              <a:t>, closing the loop from execution to optimization.</a:t>
            </a:r>
            <a:endParaRPr dirty="0"/>
          </a:p>
        </p:txBody>
      </p:sp>
      <p:sp>
        <p:nvSpPr>
          <p:cNvPr id="804" name="Freeform 776"/>
          <p:cNvSpPr/>
          <p:nvPr/>
        </p:nvSpPr>
        <p:spPr>
          <a:xfrm>
            <a:off x="14652528" y="4793465"/>
            <a:ext cx="773298" cy="10776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772" y="16875"/>
                </a:moveTo>
                <a:cubicBezTo>
                  <a:pt x="4097" y="16875"/>
                  <a:pt x="4097" y="16875"/>
                  <a:pt x="4097" y="16875"/>
                </a:cubicBezTo>
                <a:cubicBezTo>
                  <a:pt x="3724" y="16200"/>
                  <a:pt x="2979" y="15795"/>
                  <a:pt x="2048" y="15795"/>
                </a:cubicBezTo>
                <a:cubicBezTo>
                  <a:pt x="931" y="15795"/>
                  <a:pt x="0" y="16335"/>
                  <a:pt x="0" y="17145"/>
                </a:cubicBezTo>
                <a:cubicBezTo>
                  <a:pt x="0" y="18090"/>
                  <a:pt x="931" y="18630"/>
                  <a:pt x="2048" y="18630"/>
                </a:cubicBezTo>
                <a:cubicBezTo>
                  <a:pt x="2979" y="18630"/>
                  <a:pt x="3724" y="18225"/>
                  <a:pt x="4097" y="17550"/>
                </a:cubicBezTo>
                <a:cubicBezTo>
                  <a:pt x="5772" y="17550"/>
                  <a:pt x="5772" y="17550"/>
                  <a:pt x="5772" y="17550"/>
                </a:cubicBezTo>
                <a:cubicBezTo>
                  <a:pt x="7076" y="17550"/>
                  <a:pt x="8007" y="16875"/>
                  <a:pt x="8007" y="16065"/>
                </a:cubicBezTo>
                <a:cubicBezTo>
                  <a:pt x="8007" y="13500"/>
                  <a:pt x="8007" y="13500"/>
                  <a:pt x="8007" y="13500"/>
                </a:cubicBezTo>
                <a:cubicBezTo>
                  <a:pt x="8007" y="13365"/>
                  <a:pt x="7821" y="13095"/>
                  <a:pt x="7448" y="13095"/>
                </a:cubicBezTo>
                <a:cubicBezTo>
                  <a:pt x="7262" y="13095"/>
                  <a:pt x="6890" y="13365"/>
                  <a:pt x="6890" y="13500"/>
                </a:cubicBezTo>
                <a:cubicBezTo>
                  <a:pt x="6890" y="16065"/>
                  <a:pt x="6890" y="16065"/>
                  <a:pt x="6890" y="16065"/>
                </a:cubicBezTo>
                <a:cubicBezTo>
                  <a:pt x="6890" y="16470"/>
                  <a:pt x="6517" y="16875"/>
                  <a:pt x="5772" y="16875"/>
                </a:cubicBezTo>
                <a:close/>
                <a:moveTo>
                  <a:pt x="2048" y="17820"/>
                </a:moveTo>
                <a:cubicBezTo>
                  <a:pt x="1490" y="17820"/>
                  <a:pt x="1117" y="17550"/>
                  <a:pt x="1117" y="17280"/>
                </a:cubicBezTo>
                <a:cubicBezTo>
                  <a:pt x="1117" y="16875"/>
                  <a:pt x="1490" y="16605"/>
                  <a:pt x="2048" y="16605"/>
                </a:cubicBezTo>
                <a:cubicBezTo>
                  <a:pt x="2607" y="16605"/>
                  <a:pt x="2979" y="16875"/>
                  <a:pt x="2979" y="17280"/>
                </a:cubicBezTo>
                <a:cubicBezTo>
                  <a:pt x="2979" y="17550"/>
                  <a:pt x="2607" y="17820"/>
                  <a:pt x="2048" y="17820"/>
                </a:cubicBezTo>
                <a:close/>
                <a:moveTo>
                  <a:pt x="14152" y="13095"/>
                </a:moveTo>
                <a:cubicBezTo>
                  <a:pt x="13779" y="13095"/>
                  <a:pt x="13593" y="13365"/>
                  <a:pt x="13593" y="13500"/>
                </a:cubicBezTo>
                <a:cubicBezTo>
                  <a:pt x="13593" y="16065"/>
                  <a:pt x="13593" y="16065"/>
                  <a:pt x="13593" y="16065"/>
                </a:cubicBezTo>
                <a:cubicBezTo>
                  <a:pt x="13593" y="16875"/>
                  <a:pt x="14524" y="17550"/>
                  <a:pt x="15641" y="17550"/>
                </a:cubicBezTo>
                <a:cubicBezTo>
                  <a:pt x="17503" y="17550"/>
                  <a:pt x="17503" y="17550"/>
                  <a:pt x="17503" y="17550"/>
                </a:cubicBezTo>
                <a:cubicBezTo>
                  <a:pt x="17876" y="18225"/>
                  <a:pt x="18621" y="18630"/>
                  <a:pt x="19552" y="18630"/>
                </a:cubicBezTo>
                <a:cubicBezTo>
                  <a:pt x="20669" y="18630"/>
                  <a:pt x="21600" y="18090"/>
                  <a:pt x="21600" y="17280"/>
                </a:cubicBezTo>
                <a:cubicBezTo>
                  <a:pt x="21600" y="16470"/>
                  <a:pt x="20669" y="15795"/>
                  <a:pt x="19552" y="15795"/>
                </a:cubicBezTo>
                <a:cubicBezTo>
                  <a:pt x="18621" y="15795"/>
                  <a:pt x="17876" y="16200"/>
                  <a:pt x="17503" y="16875"/>
                </a:cubicBezTo>
                <a:cubicBezTo>
                  <a:pt x="15641" y="16875"/>
                  <a:pt x="15641" y="16875"/>
                  <a:pt x="15641" y="16875"/>
                </a:cubicBezTo>
                <a:cubicBezTo>
                  <a:pt x="15083" y="16875"/>
                  <a:pt x="14710" y="16470"/>
                  <a:pt x="14710" y="16065"/>
                </a:cubicBezTo>
                <a:cubicBezTo>
                  <a:pt x="14710" y="13500"/>
                  <a:pt x="14710" y="13500"/>
                  <a:pt x="14710" y="13500"/>
                </a:cubicBezTo>
                <a:cubicBezTo>
                  <a:pt x="14710" y="13365"/>
                  <a:pt x="14338" y="13095"/>
                  <a:pt x="14152" y="13095"/>
                </a:cubicBezTo>
                <a:close/>
                <a:moveTo>
                  <a:pt x="19552" y="16605"/>
                </a:moveTo>
                <a:cubicBezTo>
                  <a:pt x="19924" y="16605"/>
                  <a:pt x="20483" y="16875"/>
                  <a:pt x="20483" y="17145"/>
                </a:cubicBezTo>
                <a:cubicBezTo>
                  <a:pt x="20483" y="17550"/>
                  <a:pt x="19924" y="17820"/>
                  <a:pt x="19552" y="17820"/>
                </a:cubicBezTo>
                <a:cubicBezTo>
                  <a:pt x="18993" y="17820"/>
                  <a:pt x="18621" y="17550"/>
                  <a:pt x="18621" y="17145"/>
                </a:cubicBezTo>
                <a:cubicBezTo>
                  <a:pt x="18621" y="16875"/>
                  <a:pt x="18993" y="16605"/>
                  <a:pt x="19552" y="16605"/>
                </a:cubicBezTo>
                <a:close/>
                <a:moveTo>
                  <a:pt x="11359" y="0"/>
                </a:moveTo>
                <a:cubicBezTo>
                  <a:pt x="9124" y="0"/>
                  <a:pt x="7076" y="945"/>
                  <a:pt x="5959" y="2295"/>
                </a:cubicBezTo>
                <a:cubicBezTo>
                  <a:pt x="5772" y="2295"/>
                  <a:pt x="5586" y="2295"/>
                  <a:pt x="5214" y="2295"/>
                </a:cubicBezTo>
                <a:cubicBezTo>
                  <a:pt x="3352" y="2295"/>
                  <a:pt x="1862" y="3375"/>
                  <a:pt x="1862" y="4725"/>
                </a:cubicBezTo>
                <a:cubicBezTo>
                  <a:pt x="1862" y="4860"/>
                  <a:pt x="1862" y="4995"/>
                  <a:pt x="2048" y="5265"/>
                </a:cubicBezTo>
                <a:cubicBezTo>
                  <a:pt x="745" y="5805"/>
                  <a:pt x="0" y="6885"/>
                  <a:pt x="0" y="7965"/>
                </a:cubicBezTo>
                <a:cubicBezTo>
                  <a:pt x="0" y="9855"/>
                  <a:pt x="2048" y="11475"/>
                  <a:pt x="4469" y="11610"/>
                </a:cubicBezTo>
                <a:cubicBezTo>
                  <a:pt x="4469" y="11610"/>
                  <a:pt x="4469" y="11610"/>
                  <a:pt x="4469" y="11610"/>
                </a:cubicBezTo>
                <a:cubicBezTo>
                  <a:pt x="16572" y="11610"/>
                  <a:pt x="16572" y="11610"/>
                  <a:pt x="16572" y="11610"/>
                </a:cubicBezTo>
                <a:cubicBezTo>
                  <a:pt x="16572" y="11610"/>
                  <a:pt x="16572" y="11610"/>
                  <a:pt x="16572" y="11610"/>
                </a:cubicBezTo>
                <a:cubicBezTo>
                  <a:pt x="19366" y="11475"/>
                  <a:pt x="21600" y="9720"/>
                  <a:pt x="21600" y="7695"/>
                </a:cubicBezTo>
                <a:cubicBezTo>
                  <a:pt x="21600" y="5805"/>
                  <a:pt x="19924" y="4185"/>
                  <a:pt x="17503" y="3780"/>
                </a:cubicBezTo>
                <a:cubicBezTo>
                  <a:pt x="17131" y="1620"/>
                  <a:pt x="14524" y="0"/>
                  <a:pt x="11359" y="0"/>
                </a:cubicBezTo>
                <a:close/>
                <a:moveTo>
                  <a:pt x="20483" y="7695"/>
                </a:moveTo>
                <a:cubicBezTo>
                  <a:pt x="20483" y="9315"/>
                  <a:pt x="18807" y="10665"/>
                  <a:pt x="16572" y="10800"/>
                </a:cubicBezTo>
                <a:cubicBezTo>
                  <a:pt x="4469" y="10800"/>
                  <a:pt x="4469" y="10800"/>
                  <a:pt x="4469" y="10800"/>
                </a:cubicBezTo>
                <a:cubicBezTo>
                  <a:pt x="2607" y="10665"/>
                  <a:pt x="1117" y="9450"/>
                  <a:pt x="1117" y="7965"/>
                </a:cubicBezTo>
                <a:cubicBezTo>
                  <a:pt x="1117" y="7020"/>
                  <a:pt x="1862" y="6210"/>
                  <a:pt x="2979" y="5805"/>
                </a:cubicBezTo>
                <a:cubicBezTo>
                  <a:pt x="3166" y="5670"/>
                  <a:pt x="3166" y="5400"/>
                  <a:pt x="3166" y="5265"/>
                </a:cubicBezTo>
                <a:cubicBezTo>
                  <a:pt x="2979" y="5130"/>
                  <a:pt x="2979" y="4860"/>
                  <a:pt x="2979" y="4725"/>
                </a:cubicBezTo>
                <a:cubicBezTo>
                  <a:pt x="2979" y="3780"/>
                  <a:pt x="4097" y="2970"/>
                  <a:pt x="5214" y="2970"/>
                </a:cubicBezTo>
                <a:cubicBezTo>
                  <a:pt x="5586" y="2970"/>
                  <a:pt x="5772" y="3105"/>
                  <a:pt x="6145" y="3105"/>
                </a:cubicBezTo>
                <a:cubicBezTo>
                  <a:pt x="6331" y="3240"/>
                  <a:pt x="6703" y="3105"/>
                  <a:pt x="6703" y="2970"/>
                </a:cubicBezTo>
                <a:cubicBezTo>
                  <a:pt x="7634" y="1620"/>
                  <a:pt x="9497" y="810"/>
                  <a:pt x="11359" y="810"/>
                </a:cubicBezTo>
                <a:cubicBezTo>
                  <a:pt x="14152" y="810"/>
                  <a:pt x="16200" y="2295"/>
                  <a:pt x="16572" y="4185"/>
                </a:cubicBezTo>
                <a:cubicBezTo>
                  <a:pt x="16572" y="4320"/>
                  <a:pt x="16759" y="4455"/>
                  <a:pt x="16945" y="4455"/>
                </a:cubicBezTo>
                <a:cubicBezTo>
                  <a:pt x="18993" y="4725"/>
                  <a:pt x="20483" y="6075"/>
                  <a:pt x="20483" y="7695"/>
                </a:cubicBezTo>
                <a:close/>
                <a:moveTo>
                  <a:pt x="10800" y="13095"/>
                </a:moveTo>
                <a:cubicBezTo>
                  <a:pt x="10428" y="13095"/>
                  <a:pt x="10241" y="13365"/>
                  <a:pt x="10241" y="13500"/>
                </a:cubicBezTo>
                <a:cubicBezTo>
                  <a:pt x="10241" y="18765"/>
                  <a:pt x="10241" y="18765"/>
                  <a:pt x="10241" y="18765"/>
                </a:cubicBezTo>
                <a:cubicBezTo>
                  <a:pt x="9310" y="18900"/>
                  <a:pt x="8752" y="19440"/>
                  <a:pt x="8752" y="20115"/>
                </a:cubicBezTo>
                <a:cubicBezTo>
                  <a:pt x="8752" y="20520"/>
                  <a:pt x="8938" y="20925"/>
                  <a:pt x="9310" y="21195"/>
                </a:cubicBezTo>
                <a:cubicBezTo>
                  <a:pt x="9683" y="21465"/>
                  <a:pt x="10241" y="21600"/>
                  <a:pt x="10800" y="21600"/>
                </a:cubicBezTo>
                <a:cubicBezTo>
                  <a:pt x="10800" y="21600"/>
                  <a:pt x="10800" y="21600"/>
                  <a:pt x="10800" y="21600"/>
                </a:cubicBezTo>
                <a:cubicBezTo>
                  <a:pt x="10800" y="21600"/>
                  <a:pt x="10800" y="21600"/>
                  <a:pt x="10800" y="21600"/>
                </a:cubicBezTo>
                <a:cubicBezTo>
                  <a:pt x="11917" y="21600"/>
                  <a:pt x="12848" y="20925"/>
                  <a:pt x="12848" y="20115"/>
                </a:cubicBezTo>
                <a:cubicBezTo>
                  <a:pt x="12848" y="19710"/>
                  <a:pt x="12662" y="19440"/>
                  <a:pt x="12290" y="19170"/>
                </a:cubicBezTo>
                <a:cubicBezTo>
                  <a:pt x="11917" y="18900"/>
                  <a:pt x="11731" y="18765"/>
                  <a:pt x="11359" y="18765"/>
                </a:cubicBezTo>
                <a:cubicBezTo>
                  <a:pt x="11359" y="13500"/>
                  <a:pt x="11359" y="13500"/>
                  <a:pt x="11359" y="13500"/>
                </a:cubicBezTo>
                <a:cubicBezTo>
                  <a:pt x="11359" y="13365"/>
                  <a:pt x="11172" y="13095"/>
                  <a:pt x="10800" y="13095"/>
                </a:cubicBezTo>
                <a:close/>
                <a:moveTo>
                  <a:pt x="11731" y="20115"/>
                </a:moveTo>
                <a:cubicBezTo>
                  <a:pt x="11731" y="20520"/>
                  <a:pt x="11359" y="20790"/>
                  <a:pt x="10800" y="20790"/>
                </a:cubicBezTo>
                <a:cubicBezTo>
                  <a:pt x="10800" y="20790"/>
                  <a:pt x="10800" y="20790"/>
                  <a:pt x="10800" y="20790"/>
                </a:cubicBezTo>
                <a:cubicBezTo>
                  <a:pt x="10428" y="20790"/>
                  <a:pt x="10241" y="20655"/>
                  <a:pt x="10055" y="20655"/>
                </a:cubicBezTo>
                <a:cubicBezTo>
                  <a:pt x="9869" y="20520"/>
                  <a:pt x="9869" y="20250"/>
                  <a:pt x="9869" y="20115"/>
                </a:cubicBezTo>
                <a:cubicBezTo>
                  <a:pt x="9869" y="19710"/>
                  <a:pt x="10241" y="19440"/>
                  <a:pt x="10800" y="19440"/>
                </a:cubicBezTo>
                <a:cubicBezTo>
                  <a:pt x="10800" y="19440"/>
                  <a:pt x="10800" y="19440"/>
                  <a:pt x="10800" y="19440"/>
                </a:cubicBezTo>
                <a:cubicBezTo>
                  <a:pt x="10986" y="19440"/>
                  <a:pt x="11359" y="19575"/>
                  <a:pt x="11545" y="19710"/>
                </a:cubicBezTo>
                <a:cubicBezTo>
                  <a:pt x="11545" y="19845"/>
                  <a:pt x="11731" y="19980"/>
                  <a:pt x="11731" y="20115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4" name="AirviewX Advantage">
            <a:extLst>
              <a:ext uri="{FF2B5EF4-FFF2-40B4-BE49-F238E27FC236}">
                <a16:creationId xmlns:a16="http://schemas.microsoft.com/office/drawing/2014/main" id="{2A6847AF-6B0A-88FF-CCD3-1213414FFCFF}"/>
              </a:ext>
            </a:extLst>
          </p:cNvPr>
          <p:cNvSpPr txBox="1"/>
          <p:nvPr/>
        </p:nvSpPr>
        <p:spPr>
          <a:xfrm>
            <a:off x="1199928" y="731091"/>
            <a:ext cx="17783748" cy="9087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defTabSz="1828636">
              <a:lnSpc>
                <a:spcPct val="80000"/>
              </a:lnSpc>
              <a:spcBef>
                <a:spcPts val="0"/>
              </a:spcBef>
              <a:defRPr sz="6500" b="1" spc="-180">
                <a:solidFill>
                  <a:srgbClr val="222222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r>
              <a:rPr dirty="0"/>
              <a:t>Air</a:t>
            </a:r>
            <a:r>
              <a:rPr lang="en-US" dirty="0"/>
              <a:t>V</a:t>
            </a:r>
            <a:r>
              <a:rPr dirty="0"/>
              <a:t>iewX </a:t>
            </a:r>
            <a:r>
              <a:rPr lang="en-US" dirty="0"/>
              <a:t>Technology</a:t>
            </a:r>
            <a:endParaRPr dirty="0"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975360" y="487680"/>
            <a:ext cx="1706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467" b="1" dirty="0" err="1">
                <a:solidFill>
                  <a:schemeClr val="tx1"/>
                </a:solidFill>
                <a:latin typeface="Montserrat Bold" panose="00000800000000000000" pitchFamily="2" charset="0"/>
              </a:rPr>
              <a:t>AirViewX</a:t>
            </a:r>
            <a:r>
              <a:rPr lang="en-US" sz="7467" b="1" dirty="0">
                <a:solidFill>
                  <a:schemeClr val="tx1"/>
                </a:solidFill>
                <a:latin typeface="Montserrat Bold" panose="00000800000000000000" pitchFamily="2" charset="0"/>
              </a:rPr>
              <a:t> Core</a:t>
            </a:r>
          </a:p>
        </p:txBody>
      </p:sp>
      <p:sp>
        <p:nvSpPr>
          <p:cNvPr id="6" name="Text 3"/>
          <p:cNvSpPr/>
          <p:nvPr/>
        </p:nvSpPr>
        <p:spPr>
          <a:xfrm>
            <a:off x="975360" y="1706880"/>
            <a:ext cx="2194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Three engines power a single, composable runtime — the agentic execution plane between AI and your enterprise</a:t>
            </a:r>
          </a:p>
        </p:txBody>
      </p:sp>
      <p:sp>
        <p:nvSpPr>
          <p:cNvPr id="7" name="Shape 4"/>
          <p:cNvSpPr/>
          <p:nvPr/>
        </p:nvSpPr>
        <p:spPr>
          <a:xfrm>
            <a:off x="975360" y="3925294"/>
            <a:ext cx="7193280" cy="7071360"/>
          </a:xfrm>
          <a:prstGeom prst="rect">
            <a:avLst/>
          </a:prstGeom>
          <a:solidFill>
            <a:srgbClr val="FCF5EF"/>
          </a:solidFill>
          <a:ln w="6350">
            <a:noFill/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463040" y="4412974"/>
            <a:ext cx="62179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67" b="1" spc="400" dirty="0">
                <a:solidFill>
                  <a:srgbClr val="3E3FF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BRAIN</a:t>
            </a:r>
            <a:endParaRPr lang="en-US" sz="2267" dirty="0">
              <a:solidFill>
                <a:srgbClr val="3E3FF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463040" y="5022574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267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Agentic BPMN</a:t>
            </a:r>
            <a:endParaRPr lang="en-US" sz="4267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463040" y="5997934"/>
            <a:ext cx="6217920" cy="158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5000"/>
              </a:lnSpc>
            </a:pPr>
            <a:r>
              <a:rPr lang="en-US" sz="2533" dirty="0">
                <a:solidFill>
                  <a:srgbClr val="8F9AB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Agents compose and govern workflows in real-time. Process logic adapts based on outcomes — not static flowcharts.</a:t>
            </a:r>
            <a:endParaRPr lang="en-US" sz="25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341120" y="7826734"/>
            <a:ext cx="6461760" cy="73152"/>
          </a:xfrm>
          <a:prstGeom prst="rect">
            <a:avLst/>
          </a:prstGeom>
          <a:solidFill>
            <a:srgbClr val="3E3FF5"/>
          </a:solidFill>
          <a:ln/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463040" y="8192494"/>
            <a:ext cx="6217920" cy="1950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2267" dirty="0">
                <a:solidFill>
                  <a:srgbClr val="515E8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End-to-end, event-driven orchestration</a:t>
            </a:r>
            <a:r>
              <a:rPr lang="en-US" sz="2267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2267" dirty="0">
                <a:solidFill>
                  <a:srgbClr val="515E8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across CRM, catalog, fulfillment, field ops,</a:t>
            </a:r>
            <a:r>
              <a:rPr lang="en-US" sz="2267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2267" dirty="0">
                <a:solidFill>
                  <a:srgbClr val="515E8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 billing. The authoritative execution layer.</a:t>
            </a:r>
            <a:endParaRPr lang="en-US" sz="2267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8656320" y="3925294"/>
            <a:ext cx="7193280" cy="7071360"/>
          </a:xfrm>
          <a:prstGeom prst="rect">
            <a:avLst/>
          </a:prstGeom>
          <a:solidFill>
            <a:srgbClr val="FCF5EF"/>
          </a:solidFill>
          <a:ln w="6350">
            <a:noFill/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9144000" y="4412974"/>
            <a:ext cx="62179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67" b="1" spc="400" dirty="0">
                <a:solidFill>
                  <a:srgbClr val="E0734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HANDS</a:t>
            </a:r>
            <a:endParaRPr lang="en-US" sz="2267" dirty="0">
              <a:solidFill>
                <a:srgbClr val="E0734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9144000" y="5022574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267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Agentic RPA</a:t>
            </a:r>
            <a:endParaRPr lang="en-US" sz="4267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9144000" y="5997934"/>
            <a:ext cx="6217920" cy="158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5000"/>
              </a:lnSpc>
            </a:pPr>
            <a:r>
              <a:rPr lang="en-US" sz="2533" dirty="0">
                <a:solidFill>
                  <a:srgbClr val="8F9AB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Agents execute across any system — APIs, UIs, databases, legacy — with full auditability and error recovery.</a:t>
            </a:r>
            <a:endParaRPr lang="en-US" sz="25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9022080" y="7826734"/>
            <a:ext cx="6461760" cy="73152"/>
          </a:xfrm>
          <a:prstGeom prst="rect">
            <a:avLst/>
          </a:prstGeom>
          <a:solidFill>
            <a:srgbClr val="E07344"/>
          </a:solidFill>
          <a:ln/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9144000" y="8192494"/>
            <a:ext cx="6217920" cy="1950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2267" dirty="0">
                <a:solidFill>
                  <a:srgbClr val="515E8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Non-intrusive automation for legacy and</a:t>
            </a:r>
            <a:r>
              <a:rPr lang="en-US" sz="2267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2267" dirty="0">
                <a:solidFill>
                  <a:srgbClr val="515E8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non-API systems. RPA handles edge tasks</a:t>
            </a:r>
            <a:r>
              <a:rPr lang="en-US" sz="2267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2267" dirty="0">
                <a:solidFill>
                  <a:srgbClr val="515E8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while BPMN remains source of truth.</a:t>
            </a:r>
            <a:endParaRPr lang="en-US" sz="2267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16337280" y="3925294"/>
            <a:ext cx="7193280" cy="7071360"/>
          </a:xfrm>
          <a:prstGeom prst="rect">
            <a:avLst/>
          </a:prstGeom>
          <a:solidFill>
            <a:srgbClr val="FCF5EF"/>
          </a:solidFill>
          <a:ln w="6350">
            <a:noFill/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16824960" y="4412974"/>
            <a:ext cx="62179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67" b="1" spc="400" dirty="0">
                <a:solidFill>
                  <a:srgbClr val="37739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EYES</a:t>
            </a:r>
            <a:endParaRPr lang="en-US" sz="2267" dirty="0">
              <a:solidFill>
                <a:srgbClr val="37739D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6824960" y="5022574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267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Agentic BI</a:t>
            </a:r>
            <a:endParaRPr lang="en-US" sz="4267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16824960" y="5997934"/>
            <a:ext cx="6217920" cy="158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5000"/>
              </a:lnSpc>
            </a:pPr>
            <a:r>
              <a:rPr lang="en-US" sz="2533" dirty="0">
                <a:solidFill>
                  <a:srgbClr val="8F9AB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Agents observe outcomes, detect drift, and self-optimize against KPIs — closing the loop automatically.</a:t>
            </a:r>
            <a:endParaRPr lang="en-US" sz="25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16703040" y="7826734"/>
            <a:ext cx="6461760" cy="73152"/>
          </a:xfrm>
          <a:prstGeom prst="rect">
            <a:avLst/>
          </a:prstGeom>
          <a:solidFill>
            <a:srgbClr val="37739D"/>
          </a:solidFill>
          <a:ln/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6824960" y="8192494"/>
            <a:ext cx="6217920" cy="1950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2267" dirty="0">
                <a:solidFill>
                  <a:srgbClr val="515E8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Unified, role-based analytics across</a:t>
            </a:r>
            <a:r>
              <a:rPr lang="en-US" sz="2267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2267" dirty="0">
                <a:solidFill>
                  <a:srgbClr val="515E8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orders, assets, workforce, and incidents.</a:t>
            </a:r>
            <a:r>
              <a:rPr lang="en-US" sz="2267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2267" dirty="0">
                <a:solidFill>
                  <a:srgbClr val="515E8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Real-time visibility to optimization.</a:t>
            </a:r>
            <a:endParaRPr lang="en-US" sz="2267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975360" y="11691598"/>
            <a:ext cx="2243328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EA772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35+</a:t>
            </a:r>
            <a:r>
              <a:rPr lang="en-US" sz="2667" dirty="0">
                <a:solidFill>
                  <a:srgbClr val="8F9AB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modules across  </a:t>
            </a:r>
            <a:r>
              <a:rPr lang="en-US" sz="2133" dirty="0">
                <a:solidFill>
                  <a:srgbClr val="515E8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Service Assurance  ·  Customer &amp; Commerce  ·  Workforce &amp; PMO  ·  Network &amp; Asset  ·  Process &amp; Data</a:t>
            </a:r>
            <a:endParaRPr lang="en-US" sz="37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31" name="Icon.png" descr="Icon.png">
            <a:extLst>
              <a:ext uri="{FF2B5EF4-FFF2-40B4-BE49-F238E27FC236}">
                <a16:creationId xmlns:a16="http://schemas.microsoft.com/office/drawing/2014/main" id="{E69DEBB2-4786-A208-4D17-80EEF5530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71413" y="508000"/>
            <a:ext cx="804588" cy="825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853440" y="508000"/>
            <a:ext cx="21945600" cy="109728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/>
          <a:p>
            <a:pPr defTabSz="1828636">
              <a:lnSpc>
                <a:spcPct val="80000"/>
              </a:lnSpc>
              <a:spcBef>
                <a:spcPts val="0"/>
              </a:spcBef>
            </a:pPr>
            <a:r>
              <a:rPr lang="en-US" sz="6500" b="1" spc="-180" dirty="0">
                <a:solidFill>
                  <a:srgbClr val="222222"/>
                </a:solidFill>
                <a:latin typeface="Montserrat Bold"/>
              </a:rPr>
              <a:t>The AirViewX Advantage</a:t>
            </a:r>
          </a:p>
        </p:txBody>
      </p:sp>
      <p:sp>
        <p:nvSpPr>
          <p:cNvPr id="6" name="Text 3"/>
          <p:cNvSpPr/>
          <p:nvPr/>
        </p:nvSpPr>
        <p:spPr>
          <a:xfrm>
            <a:off x="853440" y="1572768"/>
            <a:ext cx="19507200" cy="7017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Where processes execute, agents decide, and intelligence compounds</a:t>
            </a:r>
          </a:p>
        </p:txBody>
      </p:sp>
      <p:sp>
        <p:nvSpPr>
          <p:cNvPr id="7" name="Shape 4"/>
          <p:cNvSpPr/>
          <p:nvPr/>
        </p:nvSpPr>
        <p:spPr>
          <a:xfrm>
            <a:off x="975360" y="3421712"/>
            <a:ext cx="10972800" cy="36576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975360" y="3421712"/>
            <a:ext cx="146304" cy="3657600"/>
          </a:xfrm>
          <a:prstGeom prst="rect">
            <a:avLst/>
          </a:prstGeom>
          <a:solidFill>
            <a:srgbClr val="EA7723"/>
          </a:solidFill>
          <a:ln/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584960" y="3665552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131B3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Agents Compose Workflows</a:t>
            </a:r>
            <a:endParaRPr lang="en-US" sz="3467" dirty="0">
              <a:solidFill>
                <a:srgbClr val="131B3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584960" y="4397072"/>
            <a:ext cx="975360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533" dirty="0">
                <a:solidFill>
                  <a:srgbClr val="8F9AB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Not humans designing static flowcharts. ZALA agents dynamically build and adapt process logic in real-time.</a:t>
            </a:r>
            <a:endParaRPr lang="en-US" sz="25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584960" y="5982032"/>
            <a:ext cx="3169920" cy="68275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prstDash val="solid"/>
          </a:ln>
        </p:spPr>
        <p:txBody>
          <a:bodyPr/>
          <a:lstStyle/>
          <a:p>
            <a:endParaRPr lang="en-US" sz="12800">
              <a:solidFill>
                <a:srgbClr val="131B3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584960" y="5982032"/>
            <a:ext cx="3169920" cy="6827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131B3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Fewer integrations</a:t>
            </a:r>
          </a:p>
        </p:txBody>
      </p:sp>
      <p:sp>
        <p:nvSpPr>
          <p:cNvPr id="13" name="Shape 10"/>
          <p:cNvSpPr/>
          <p:nvPr/>
        </p:nvSpPr>
        <p:spPr>
          <a:xfrm>
            <a:off x="4998720" y="5982032"/>
            <a:ext cx="3169920" cy="68275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prstDash val="solid"/>
          </a:ln>
        </p:spPr>
        <p:txBody>
          <a:bodyPr/>
          <a:lstStyle/>
          <a:p>
            <a:endParaRPr lang="en-US" sz="12800">
              <a:solidFill>
                <a:srgbClr val="131B3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998720" y="5982032"/>
            <a:ext cx="3169920" cy="6827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131B3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Lower TCO</a:t>
            </a:r>
          </a:p>
        </p:txBody>
      </p:sp>
      <p:sp>
        <p:nvSpPr>
          <p:cNvPr id="15" name="Shape 12"/>
          <p:cNvSpPr/>
          <p:nvPr/>
        </p:nvSpPr>
        <p:spPr>
          <a:xfrm>
            <a:off x="8412480" y="5982032"/>
            <a:ext cx="3169920" cy="682752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noFill/>
            <a:prstDash val="solid"/>
          </a:ln>
        </p:spPr>
        <p:txBody>
          <a:bodyPr/>
          <a:lstStyle/>
          <a:p>
            <a:endParaRPr lang="en-US" sz="12800">
              <a:solidFill>
                <a:srgbClr val="131B3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412480" y="5982032"/>
            <a:ext cx="3169920" cy="68275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131B3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Faster rollout</a:t>
            </a:r>
          </a:p>
        </p:txBody>
      </p:sp>
      <p:sp>
        <p:nvSpPr>
          <p:cNvPr id="17" name="Shape 14"/>
          <p:cNvSpPr/>
          <p:nvPr/>
        </p:nvSpPr>
        <p:spPr>
          <a:xfrm>
            <a:off x="12435840" y="3421712"/>
            <a:ext cx="10972800" cy="36576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12435840" y="3421712"/>
            <a:ext cx="146304" cy="3657600"/>
          </a:xfrm>
          <a:prstGeom prst="rect">
            <a:avLst/>
          </a:prstGeom>
          <a:solidFill>
            <a:srgbClr val="006C9B"/>
          </a:solidFill>
          <a:ln/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3045440" y="3665552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131B3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Governed Autonomy</a:t>
            </a:r>
            <a:endParaRPr lang="en-US" sz="3467" dirty="0">
              <a:solidFill>
                <a:srgbClr val="131B3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3045440" y="4397072"/>
            <a:ext cx="975360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533" dirty="0">
                <a:solidFill>
                  <a:srgbClr val="8F9AB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Policy guardrails, approval thresholds, full audit trails. Enterprise-grade trust baked into every agent decision.</a:t>
            </a:r>
            <a:endParaRPr lang="en-US" sz="25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13045440" y="5982032"/>
            <a:ext cx="3169920" cy="68275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prstDash val="solid"/>
          </a:ln>
        </p:spPr>
        <p:txBody>
          <a:bodyPr/>
          <a:lstStyle/>
          <a:p>
            <a:endParaRPr lang="en-US" sz="12800">
              <a:solidFill>
                <a:srgbClr val="131B3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13045440" y="5982032"/>
            <a:ext cx="3169920" cy="6827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131B3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Complex service mgmt</a:t>
            </a:r>
          </a:p>
        </p:txBody>
      </p:sp>
      <p:sp>
        <p:nvSpPr>
          <p:cNvPr id="23" name="Shape 20"/>
          <p:cNvSpPr/>
          <p:nvPr/>
        </p:nvSpPr>
        <p:spPr>
          <a:xfrm>
            <a:off x="16459200" y="5982032"/>
            <a:ext cx="3169920" cy="68275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prstDash val="solid"/>
          </a:ln>
        </p:spPr>
        <p:txBody>
          <a:bodyPr/>
          <a:lstStyle/>
          <a:p>
            <a:endParaRPr lang="en-US" sz="12800">
              <a:solidFill>
                <a:srgbClr val="131B3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6459200" y="5982032"/>
            <a:ext cx="3169920" cy="6827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131B3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Enterprise reliability</a:t>
            </a:r>
          </a:p>
        </p:txBody>
      </p:sp>
      <p:sp>
        <p:nvSpPr>
          <p:cNvPr id="25" name="Shape 22"/>
          <p:cNvSpPr/>
          <p:nvPr/>
        </p:nvSpPr>
        <p:spPr>
          <a:xfrm>
            <a:off x="19872960" y="5982032"/>
            <a:ext cx="3169920" cy="68275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prstDash val="solid"/>
          </a:ln>
        </p:spPr>
        <p:txBody>
          <a:bodyPr/>
          <a:lstStyle/>
          <a:p>
            <a:endParaRPr lang="en-US" sz="12800">
              <a:solidFill>
                <a:srgbClr val="131B3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19872960" y="5982032"/>
            <a:ext cx="3169920" cy="6827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131B3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visibility</a:t>
            </a:r>
          </a:p>
        </p:txBody>
      </p:sp>
      <p:sp>
        <p:nvSpPr>
          <p:cNvPr id="27" name="Shape 24"/>
          <p:cNvSpPr/>
          <p:nvPr/>
        </p:nvSpPr>
        <p:spPr>
          <a:xfrm>
            <a:off x="975360" y="7445072"/>
            <a:ext cx="10972800" cy="36576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975360" y="7445072"/>
            <a:ext cx="146304" cy="3657600"/>
          </a:xfrm>
          <a:prstGeom prst="rect">
            <a:avLst/>
          </a:prstGeom>
          <a:solidFill>
            <a:srgbClr val="A78DF8"/>
          </a:solidFill>
          <a:ln/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1584960" y="7688912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131B3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Self-Optimizing Operations</a:t>
            </a:r>
            <a:endParaRPr lang="en-US" sz="3467" dirty="0">
              <a:solidFill>
                <a:srgbClr val="131B3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1584960" y="8420432"/>
            <a:ext cx="975360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533" dirty="0">
                <a:solidFill>
                  <a:srgbClr val="8F9AB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Closed-loop BI that learns from every execution. Every cycle makes the next one smarter.</a:t>
            </a:r>
            <a:endParaRPr lang="en-US" sz="25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1584960" y="10005392"/>
            <a:ext cx="3169920" cy="68275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prstDash val="solid"/>
          </a:ln>
        </p:spPr>
        <p:txBody>
          <a:bodyPr/>
          <a:lstStyle/>
          <a:p>
            <a:endParaRPr lang="en-US" sz="12800">
              <a:solidFill>
                <a:srgbClr val="131B3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1584960" y="10005392"/>
            <a:ext cx="3169920" cy="6827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131B3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Real-time sync</a:t>
            </a:r>
          </a:p>
        </p:txBody>
      </p:sp>
      <p:sp>
        <p:nvSpPr>
          <p:cNvPr id="33" name="Shape 30"/>
          <p:cNvSpPr/>
          <p:nvPr/>
        </p:nvSpPr>
        <p:spPr>
          <a:xfrm>
            <a:off x="4998720" y="10005392"/>
            <a:ext cx="3169920" cy="68275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prstDash val="solid"/>
          </a:ln>
        </p:spPr>
        <p:txBody>
          <a:bodyPr/>
          <a:lstStyle/>
          <a:p>
            <a:endParaRPr lang="en-US" sz="12800">
              <a:solidFill>
                <a:srgbClr val="131B3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4998720" y="10005392"/>
            <a:ext cx="3169920" cy="6827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131B3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AI-powered insights</a:t>
            </a:r>
          </a:p>
        </p:txBody>
      </p:sp>
      <p:sp>
        <p:nvSpPr>
          <p:cNvPr id="35" name="Shape 32"/>
          <p:cNvSpPr/>
          <p:nvPr/>
        </p:nvSpPr>
        <p:spPr>
          <a:xfrm>
            <a:off x="8412480" y="10005392"/>
            <a:ext cx="3169920" cy="68275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prstDash val="solid"/>
          </a:ln>
        </p:spPr>
        <p:txBody>
          <a:bodyPr/>
          <a:lstStyle/>
          <a:p>
            <a:endParaRPr lang="en-US" sz="12800">
              <a:solidFill>
                <a:srgbClr val="131B3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8412480" y="10005392"/>
            <a:ext cx="3169920" cy="6827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131B3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Continuous improvement</a:t>
            </a:r>
          </a:p>
        </p:txBody>
      </p:sp>
      <p:sp>
        <p:nvSpPr>
          <p:cNvPr id="37" name="Shape 34"/>
          <p:cNvSpPr/>
          <p:nvPr/>
        </p:nvSpPr>
        <p:spPr>
          <a:xfrm>
            <a:off x="12435840" y="7445072"/>
            <a:ext cx="10972800" cy="36576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12435840" y="7445072"/>
            <a:ext cx="146304" cy="36576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13045440" y="7688912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131B3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One Composable Runtime</a:t>
            </a:r>
            <a:endParaRPr lang="en-US" sz="3467" dirty="0">
              <a:solidFill>
                <a:srgbClr val="131B3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13045440" y="8420432"/>
            <a:ext cx="975360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533" dirty="0">
                <a:solidFill>
                  <a:srgbClr val="8F9AB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Single, low-code BOS natively spanning ITSM + BPM + FSM + EAM. Not 130+ SaaS tools stitched together.</a:t>
            </a:r>
            <a:endParaRPr lang="en-US" sz="25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13045440" y="10005392"/>
            <a:ext cx="3169920" cy="68275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prstDash val="solid"/>
          </a:ln>
        </p:spPr>
        <p:txBody>
          <a:bodyPr/>
          <a:lstStyle/>
          <a:p>
            <a:endParaRPr lang="en-US" sz="12800">
              <a:solidFill>
                <a:srgbClr val="131B3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13045440" y="10005392"/>
            <a:ext cx="3169920" cy="6827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131B3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Microservices arch</a:t>
            </a:r>
          </a:p>
        </p:txBody>
      </p:sp>
      <p:sp>
        <p:nvSpPr>
          <p:cNvPr id="43" name="Shape 40"/>
          <p:cNvSpPr/>
          <p:nvPr/>
        </p:nvSpPr>
        <p:spPr>
          <a:xfrm>
            <a:off x="16459200" y="10005392"/>
            <a:ext cx="3169920" cy="68275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prstDash val="solid"/>
          </a:ln>
        </p:spPr>
        <p:txBody>
          <a:bodyPr/>
          <a:lstStyle/>
          <a:p>
            <a:endParaRPr lang="en-US" sz="12800">
              <a:solidFill>
                <a:srgbClr val="131B3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16459200" y="10005392"/>
            <a:ext cx="3169920" cy="6827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131B3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Auto-scaling</a:t>
            </a:r>
          </a:p>
        </p:txBody>
      </p:sp>
      <p:sp>
        <p:nvSpPr>
          <p:cNvPr id="45" name="Shape 42"/>
          <p:cNvSpPr/>
          <p:nvPr/>
        </p:nvSpPr>
        <p:spPr>
          <a:xfrm>
            <a:off x="19872960" y="10005392"/>
            <a:ext cx="3169920" cy="68275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prstDash val="solid"/>
          </a:ln>
        </p:spPr>
        <p:txBody>
          <a:bodyPr/>
          <a:lstStyle/>
          <a:p>
            <a:endParaRPr lang="en-US" sz="12800">
              <a:solidFill>
                <a:srgbClr val="131B3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19872960" y="10005392"/>
            <a:ext cx="3169920" cy="6827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131B3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AI-ready platform</a:t>
            </a:r>
          </a:p>
        </p:txBody>
      </p:sp>
      <p:sp>
        <p:nvSpPr>
          <p:cNvPr id="47" name="Text 44"/>
          <p:cNvSpPr/>
          <p:nvPr/>
        </p:nvSpPr>
        <p:spPr>
          <a:xfrm>
            <a:off x="22433280" y="126796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2400" dirty="0">
                <a:solidFill>
                  <a:srgbClr val="515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2400" dirty="0"/>
          </a:p>
        </p:txBody>
      </p:sp>
      <p:pic>
        <p:nvPicPr>
          <p:cNvPr id="48" name="Icon.png" descr="Icon.png">
            <a:extLst>
              <a:ext uri="{FF2B5EF4-FFF2-40B4-BE49-F238E27FC236}">
                <a16:creationId xmlns:a16="http://schemas.microsoft.com/office/drawing/2014/main" id="{B5AE44AB-1DAF-BF2E-119F-40AABA6CE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71413" y="508000"/>
            <a:ext cx="804588" cy="8255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6D89F0F-0E61-D536-7D95-1D026A4128D1}"/>
              </a:ext>
            </a:extLst>
          </p:cNvPr>
          <p:cNvSpPr txBox="1"/>
          <p:nvPr/>
        </p:nvSpPr>
        <p:spPr>
          <a:xfrm>
            <a:off x="1206500" y="11769415"/>
            <a:ext cx="21590000" cy="86793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Just as Kubernetes decoupled container orchestration from infrastructure, </a:t>
            </a:r>
            <a:r>
              <a:rPr lang="en-US" sz="2800" b="1" dirty="0">
                <a:solidFill>
                  <a:srgbClr val="E0734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AirViewX decouples business execution from systems of record</a:t>
            </a: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—a universal control plane where a field technician and an API endpoint are equivalent execution primitive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C3406-8454-496D-9575-8B8F8DEBF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D88CAB18-D5D8-F3E4-FF59-A19936F8F2B0}"/>
              </a:ext>
            </a:extLst>
          </p:cNvPr>
          <p:cNvSpPr/>
          <p:nvPr/>
        </p:nvSpPr>
        <p:spPr>
          <a:xfrm>
            <a:off x="975360" y="487680"/>
            <a:ext cx="1706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467" b="1" dirty="0" err="1">
                <a:solidFill>
                  <a:schemeClr val="tx1"/>
                </a:solidFill>
                <a:latin typeface="Montserrat Bold" panose="00000800000000000000" pitchFamily="2" charset="0"/>
              </a:rPr>
              <a:t>AirViewX</a:t>
            </a:r>
            <a:r>
              <a:rPr lang="en-US" sz="7467" b="1" dirty="0">
                <a:solidFill>
                  <a:schemeClr val="tx1"/>
                </a:solidFill>
                <a:latin typeface="Montserrat Bold" panose="00000800000000000000" pitchFamily="2" charset="0"/>
              </a:rPr>
              <a:t> Technology Stack</a:t>
            </a:r>
          </a:p>
        </p:txBody>
      </p:sp>
      <p:pic>
        <p:nvPicPr>
          <p:cNvPr id="31" name="Icon.png" descr="Icon.png">
            <a:extLst>
              <a:ext uri="{FF2B5EF4-FFF2-40B4-BE49-F238E27FC236}">
                <a16:creationId xmlns:a16="http://schemas.microsoft.com/office/drawing/2014/main" id="{85B16311-0031-FCF4-5A3C-042C8F8FD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71413" y="508000"/>
            <a:ext cx="804588" cy="825500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hape 6">
            <a:extLst>
              <a:ext uri="{FF2B5EF4-FFF2-40B4-BE49-F238E27FC236}">
                <a16:creationId xmlns:a16="http://schemas.microsoft.com/office/drawing/2014/main" id="{B6403E69-8744-C166-FC1B-0D2D38AB43D2}"/>
              </a:ext>
            </a:extLst>
          </p:cNvPr>
          <p:cNvSpPr/>
          <p:nvPr/>
        </p:nvSpPr>
        <p:spPr>
          <a:xfrm>
            <a:off x="609600" y="2292096"/>
            <a:ext cx="11509248" cy="1402080"/>
          </a:xfrm>
          <a:prstGeom prst="rect">
            <a:avLst/>
          </a:prstGeom>
          <a:solidFill>
            <a:srgbClr val="F7FAFF"/>
          </a:solidFill>
          <a:ln w="12700">
            <a:solidFill>
              <a:srgbClr val="DAEAF7"/>
            </a:solidFill>
            <a:prstDash val="solid"/>
          </a:ln>
          <a:effectLst>
            <a:outerShdw blurRad="63500" dist="25400" dir="8100000" algn="bl" rotWithShape="0">
              <a:srgbClr val="94A3B8">
                <a:alpha val="13000"/>
              </a:srgbClr>
            </a:outerShdw>
          </a:effectLst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PK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52EFBE69-DD43-33E7-14B8-579EFE206A93}"/>
              </a:ext>
            </a:extLst>
          </p:cNvPr>
          <p:cNvSpPr/>
          <p:nvPr/>
        </p:nvSpPr>
        <p:spPr>
          <a:xfrm>
            <a:off x="609600" y="2292096"/>
            <a:ext cx="146304" cy="14020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PK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C429569F-DDB5-8A0A-1F40-485A76E74488}"/>
              </a:ext>
            </a:extLst>
          </p:cNvPr>
          <p:cNvSpPr/>
          <p:nvPr/>
        </p:nvSpPr>
        <p:spPr>
          <a:xfrm>
            <a:off x="755904" y="2292096"/>
            <a:ext cx="3218688" cy="1402080"/>
          </a:xfrm>
          <a:prstGeom prst="rect">
            <a:avLst/>
          </a:prstGeom>
          <a:solidFill>
            <a:srgbClr val="EBF4FF">
              <a:alpha val="70000"/>
            </a:srgbClr>
          </a:solidFill>
          <a:ln w="12700">
            <a:solidFill>
              <a:srgbClr val="DAEAF7"/>
            </a:solidFill>
            <a:prstDash val="solid"/>
          </a:ln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PK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E891BE8A-6E5B-7FAA-7E52-A1F309BD25E7}"/>
              </a:ext>
            </a:extLst>
          </p:cNvPr>
          <p:cNvSpPr/>
          <p:nvPr/>
        </p:nvSpPr>
        <p:spPr>
          <a:xfrm>
            <a:off x="902208" y="2292096"/>
            <a:ext cx="3072384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r>
              <a:rPr lang="en-US" sz="2533" b="1" kern="12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2533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D9BCBCD7-6465-1A65-EE9F-279A80117FB4}"/>
              </a:ext>
            </a:extLst>
          </p:cNvPr>
          <p:cNvSpPr/>
          <p:nvPr/>
        </p:nvSpPr>
        <p:spPr>
          <a:xfrm>
            <a:off x="3974592" y="2535936"/>
            <a:ext cx="24384" cy="914400"/>
          </a:xfrm>
          <a:prstGeom prst="rect">
            <a:avLst/>
          </a:prstGeom>
          <a:solidFill>
            <a:srgbClr val="DAEAF7"/>
          </a:solidFill>
          <a:ln w="12700">
            <a:solidFill>
              <a:srgbClr val="DAEAF7"/>
            </a:solidFill>
            <a:prstDash val="solid"/>
          </a:ln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PK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72B02732-D174-E48E-BE09-25A693DC9C50}"/>
              </a:ext>
            </a:extLst>
          </p:cNvPr>
          <p:cNvSpPr/>
          <p:nvPr/>
        </p:nvSpPr>
        <p:spPr>
          <a:xfrm>
            <a:off x="4218432" y="2292096"/>
            <a:ext cx="7851648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r>
              <a:rPr lang="en-US" sz="2347" kern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SPA / PWA  ·  iOS &amp; Android  ·  Admin Portal  ·  Self-Service Portal</a:t>
            </a:r>
            <a:endParaRPr lang="en-US" sz="2347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12">
            <a:extLst>
              <a:ext uri="{FF2B5EF4-FFF2-40B4-BE49-F238E27FC236}">
                <a16:creationId xmlns:a16="http://schemas.microsoft.com/office/drawing/2014/main" id="{D31D5B72-39C9-E706-F6FA-DDAC998E0D7A}"/>
              </a:ext>
            </a:extLst>
          </p:cNvPr>
          <p:cNvSpPr/>
          <p:nvPr/>
        </p:nvSpPr>
        <p:spPr>
          <a:xfrm>
            <a:off x="609600" y="3796589"/>
            <a:ext cx="11509248" cy="1402080"/>
          </a:xfrm>
          <a:prstGeom prst="rect">
            <a:avLst/>
          </a:prstGeom>
          <a:solidFill>
            <a:srgbClr val="F7FAFF"/>
          </a:solidFill>
          <a:ln w="12700">
            <a:solidFill>
              <a:srgbClr val="DAEAF7"/>
            </a:solidFill>
            <a:prstDash val="solid"/>
          </a:ln>
          <a:effectLst>
            <a:outerShdw blurRad="63500" dist="25400" dir="8100000" algn="bl" rotWithShape="0">
              <a:srgbClr val="94A3B8">
                <a:alpha val="13000"/>
              </a:srgbClr>
            </a:outerShdw>
          </a:effectLst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PK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13">
            <a:extLst>
              <a:ext uri="{FF2B5EF4-FFF2-40B4-BE49-F238E27FC236}">
                <a16:creationId xmlns:a16="http://schemas.microsoft.com/office/drawing/2014/main" id="{AA5093BE-1CBD-42B7-BC19-928840F3CFD7}"/>
              </a:ext>
            </a:extLst>
          </p:cNvPr>
          <p:cNvSpPr/>
          <p:nvPr/>
        </p:nvSpPr>
        <p:spPr>
          <a:xfrm>
            <a:off x="609600" y="3796589"/>
            <a:ext cx="146304" cy="1402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PK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14">
            <a:extLst>
              <a:ext uri="{FF2B5EF4-FFF2-40B4-BE49-F238E27FC236}">
                <a16:creationId xmlns:a16="http://schemas.microsoft.com/office/drawing/2014/main" id="{D0B71556-B4E2-498B-FD1D-CC1D0E1CB5F6}"/>
              </a:ext>
            </a:extLst>
          </p:cNvPr>
          <p:cNvSpPr/>
          <p:nvPr/>
        </p:nvSpPr>
        <p:spPr>
          <a:xfrm>
            <a:off x="755904" y="3796589"/>
            <a:ext cx="3218688" cy="1402080"/>
          </a:xfrm>
          <a:prstGeom prst="rect">
            <a:avLst/>
          </a:prstGeom>
          <a:solidFill>
            <a:srgbClr val="EBF4FF">
              <a:alpha val="70000"/>
            </a:srgbClr>
          </a:solidFill>
          <a:ln w="12700">
            <a:solidFill>
              <a:srgbClr val="DAEAF7"/>
            </a:solidFill>
            <a:prstDash val="solid"/>
          </a:ln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PK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078DC7AE-DB5B-7D25-0B65-F4CDB392E7CD}"/>
              </a:ext>
            </a:extLst>
          </p:cNvPr>
          <p:cNvSpPr/>
          <p:nvPr/>
        </p:nvSpPr>
        <p:spPr>
          <a:xfrm>
            <a:off x="902208" y="3796589"/>
            <a:ext cx="3072384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r>
              <a:rPr lang="en-US" sz="2533" b="1" kern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Stack</a:t>
            </a:r>
            <a:endParaRPr lang="en-US" sz="2533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16">
            <a:extLst>
              <a:ext uri="{FF2B5EF4-FFF2-40B4-BE49-F238E27FC236}">
                <a16:creationId xmlns:a16="http://schemas.microsoft.com/office/drawing/2014/main" id="{D4B4F0CA-2090-13C1-4339-9932BFC39292}"/>
              </a:ext>
            </a:extLst>
          </p:cNvPr>
          <p:cNvSpPr/>
          <p:nvPr/>
        </p:nvSpPr>
        <p:spPr>
          <a:xfrm>
            <a:off x="3974592" y="4040429"/>
            <a:ext cx="24384" cy="914400"/>
          </a:xfrm>
          <a:prstGeom prst="rect">
            <a:avLst/>
          </a:prstGeom>
          <a:solidFill>
            <a:srgbClr val="DAEAF7"/>
          </a:solidFill>
          <a:ln w="12700">
            <a:solidFill>
              <a:srgbClr val="DAEAF7"/>
            </a:solidFill>
            <a:prstDash val="solid"/>
          </a:ln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PK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AECEF186-A940-2C1B-72DE-FD7F90FBFCF3}"/>
              </a:ext>
            </a:extLst>
          </p:cNvPr>
          <p:cNvSpPr/>
          <p:nvPr/>
        </p:nvSpPr>
        <p:spPr>
          <a:xfrm>
            <a:off x="4218432" y="3796589"/>
            <a:ext cx="7851648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r>
              <a:rPr lang="en-US" sz="2347" kern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 ·  Android (Native)  ·  iOS (Native)  ·  Progressive Web App (PWA)</a:t>
            </a:r>
            <a:endParaRPr lang="en-US" sz="2347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Shape 18">
            <a:extLst>
              <a:ext uri="{FF2B5EF4-FFF2-40B4-BE49-F238E27FC236}">
                <a16:creationId xmlns:a16="http://schemas.microsoft.com/office/drawing/2014/main" id="{7551999E-754A-BFA7-9FB2-66D60C5BA5DE}"/>
              </a:ext>
            </a:extLst>
          </p:cNvPr>
          <p:cNvSpPr/>
          <p:nvPr/>
        </p:nvSpPr>
        <p:spPr>
          <a:xfrm>
            <a:off x="609600" y="5301083"/>
            <a:ext cx="11509248" cy="1402080"/>
          </a:xfrm>
          <a:prstGeom prst="rect">
            <a:avLst/>
          </a:prstGeom>
          <a:solidFill>
            <a:srgbClr val="F7FAFF"/>
          </a:solidFill>
          <a:ln w="12700">
            <a:solidFill>
              <a:srgbClr val="DAEAF7"/>
            </a:solidFill>
            <a:prstDash val="solid"/>
          </a:ln>
          <a:effectLst>
            <a:outerShdw blurRad="63500" dist="25400" dir="8100000" algn="bl" rotWithShape="0">
              <a:srgbClr val="94A3B8">
                <a:alpha val="13000"/>
              </a:srgbClr>
            </a:outerShdw>
          </a:effectLst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PK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Shape 19">
            <a:extLst>
              <a:ext uri="{FF2B5EF4-FFF2-40B4-BE49-F238E27FC236}">
                <a16:creationId xmlns:a16="http://schemas.microsoft.com/office/drawing/2014/main" id="{9171749E-9296-35F5-259C-5BAA2EA1ED38}"/>
              </a:ext>
            </a:extLst>
          </p:cNvPr>
          <p:cNvSpPr/>
          <p:nvPr/>
        </p:nvSpPr>
        <p:spPr>
          <a:xfrm>
            <a:off x="609600" y="5301083"/>
            <a:ext cx="146304" cy="14020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PK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Shape 20">
            <a:extLst>
              <a:ext uri="{FF2B5EF4-FFF2-40B4-BE49-F238E27FC236}">
                <a16:creationId xmlns:a16="http://schemas.microsoft.com/office/drawing/2014/main" id="{015781BD-0E61-67EB-7F88-F8A4047567A7}"/>
              </a:ext>
            </a:extLst>
          </p:cNvPr>
          <p:cNvSpPr/>
          <p:nvPr/>
        </p:nvSpPr>
        <p:spPr>
          <a:xfrm>
            <a:off x="755904" y="5301083"/>
            <a:ext cx="3218688" cy="1402080"/>
          </a:xfrm>
          <a:prstGeom prst="rect">
            <a:avLst/>
          </a:prstGeom>
          <a:solidFill>
            <a:srgbClr val="EBF4FF">
              <a:alpha val="70000"/>
            </a:srgbClr>
          </a:solidFill>
          <a:ln w="12700">
            <a:solidFill>
              <a:srgbClr val="DAEAF7"/>
            </a:solidFill>
            <a:prstDash val="solid"/>
          </a:ln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PK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21">
            <a:extLst>
              <a:ext uri="{FF2B5EF4-FFF2-40B4-BE49-F238E27FC236}">
                <a16:creationId xmlns:a16="http://schemas.microsoft.com/office/drawing/2014/main" id="{FF77CE32-8C01-F12E-E4E7-A67D77B334E7}"/>
              </a:ext>
            </a:extLst>
          </p:cNvPr>
          <p:cNvSpPr/>
          <p:nvPr/>
        </p:nvSpPr>
        <p:spPr>
          <a:xfrm>
            <a:off x="902208" y="5301083"/>
            <a:ext cx="3072384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r>
              <a:rPr lang="en-US" sz="2533" b="1" kern="12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2533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Shape 22">
            <a:extLst>
              <a:ext uri="{FF2B5EF4-FFF2-40B4-BE49-F238E27FC236}">
                <a16:creationId xmlns:a16="http://schemas.microsoft.com/office/drawing/2014/main" id="{39CB7F36-83E7-F731-8D88-9F04801474E0}"/>
              </a:ext>
            </a:extLst>
          </p:cNvPr>
          <p:cNvSpPr/>
          <p:nvPr/>
        </p:nvSpPr>
        <p:spPr>
          <a:xfrm>
            <a:off x="3974592" y="5544923"/>
            <a:ext cx="24384" cy="914400"/>
          </a:xfrm>
          <a:prstGeom prst="rect">
            <a:avLst/>
          </a:prstGeom>
          <a:solidFill>
            <a:srgbClr val="DAEAF7"/>
          </a:solidFill>
          <a:ln w="12700">
            <a:solidFill>
              <a:srgbClr val="DAEAF7"/>
            </a:solidFill>
            <a:prstDash val="solid"/>
          </a:ln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PK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23">
            <a:extLst>
              <a:ext uri="{FF2B5EF4-FFF2-40B4-BE49-F238E27FC236}">
                <a16:creationId xmlns:a16="http://schemas.microsoft.com/office/drawing/2014/main" id="{216BD5BC-FDA6-55D3-C807-92A4CAB27BF9}"/>
              </a:ext>
            </a:extLst>
          </p:cNvPr>
          <p:cNvSpPr/>
          <p:nvPr/>
        </p:nvSpPr>
        <p:spPr>
          <a:xfrm>
            <a:off x="4218432" y="5301083"/>
            <a:ext cx="7851648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r>
              <a:rPr lang="en-US" sz="2347" kern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17+ (TypeScript)  ·  Bootstrap 5  ·  DevExtreme Controls  ·  HTML5 / CSS3 · </a:t>
            </a:r>
            <a:r>
              <a:rPr lang="en-US" sz="2347" kern="12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Javscript</a:t>
            </a:r>
            <a:r>
              <a:rPr lang="en-US" sz="2347" kern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2347" kern="12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</a:t>
            </a:r>
            <a:endParaRPr lang="en-US" sz="2347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Shape 24">
            <a:extLst>
              <a:ext uri="{FF2B5EF4-FFF2-40B4-BE49-F238E27FC236}">
                <a16:creationId xmlns:a16="http://schemas.microsoft.com/office/drawing/2014/main" id="{13E82D66-C1DB-6FE6-0E14-0FE82905AA59}"/>
              </a:ext>
            </a:extLst>
          </p:cNvPr>
          <p:cNvSpPr/>
          <p:nvPr/>
        </p:nvSpPr>
        <p:spPr>
          <a:xfrm>
            <a:off x="609600" y="6805573"/>
            <a:ext cx="11509248" cy="1402080"/>
          </a:xfrm>
          <a:prstGeom prst="rect">
            <a:avLst/>
          </a:prstGeom>
          <a:solidFill>
            <a:srgbClr val="F7FAFF"/>
          </a:solidFill>
          <a:ln w="12700">
            <a:solidFill>
              <a:srgbClr val="DAEAF7"/>
            </a:solidFill>
            <a:prstDash val="solid"/>
          </a:ln>
          <a:effectLst>
            <a:outerShdw blurRad="63500" dist="25400" dir="8100000" algn="bl" rotWithShape="0">
              <a:srgbClr val="94A3B8">
                <a:alpha val="13000"/>
              </a:srgbClr>
            </a:outerShdw>
          </a:effectLst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PK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Shape 25">
            <a:extLst>
              <a:ext uri="{FF2B5EF4-FFF2-40B4-BE49-F238E27FC236}">
                <a16:creationId xmlns:a16="http://schemas.microsoft.com/office/drawing/2014/main" id="{992E311D-7139-864C-364C-C511E84EDD52}"/>
              </a:ext>
            </a:extLst>
          </p:cNvPr>
          <p:cNvSpPr/>
          <p:nvPr/>
        </p:nvSpPr>
        <p:spPr>
          <a:xfrm>
            <a:off x="609600" y="6805573"/>
            <a:ext cx="146304" cy="14020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PK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Shape 26">
            <a:extLst>
              <a:ext uri="{FF2B5EF4-FFF2-40B4-BE49-F238E27FC236}">
                <a16:creationId xmlns:a16="http://schemas.microsoft.com/office/drawing/2014/main" id="{6ABC441C-F9FE-C66A-7EB9-1E4FE4BC0C2C}"/>
              </a:ext>
            </a:extLst>
          </p:cNvPr>
          <p:cNvSpPr/>
          <p:nvPr/>
        </p:nvSpPr>
        <p:spPr>
          <a:xfrm>
            <a:off x="755904" y="6805573"/>
            <a:ext cx="3218688" cy="1402080"/>
          </a:xfrm>
          <a:prstGeom prst="rect">
            <a:avLst/>
          </a:prstGeom>
          <a:solidFill>
            <a:srgbClr val="EBF4FF">
              <a:alpha val="70000"/>
            </a:srgbClr>
          </a:solidFill>
          <a:ln w="12700">
            <a:solidFill>
              <a:srgbClr val="DAEAF7"/>
            </a:solidFill>
            <a:prstDash val="solid"/>
          </a:ln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PK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Text 27">
            <a:extLst>
              <a:ext uri="{FF2B5EF4-FFF2-40B4-BE49-F238E27FC236}">
                <a16:creationId xmlns:a16="http://schemas.microsoft.com/office/drawing/2014/main" id="{267A80AC-A2B2-BA07-EDC4-B6BCFC6D2FE6}"/>
              </a:ext>
            </a:extLst>
          </p:cNvPr>
          <p:cNvSpPr/>
          <p:nvPr/>
        </p:nvSpPr>
        <p:spPr>
          <a:xfrm>
            <a:off x="902208" y="6805573"/>
            <a:ext cx="3072384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r>
              <a:rPr lang="en-US" sz="2533" b="1" kern="1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2533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Shape 28">
            <a:extLst>
              <a:ext uri="{FF2B5EF4-FFF2-40B4-BE49-F238E27FC236}">
                <a16:creationId xmlns:a16="http://schemas.microsoft.com/office/drawing/2014/main" id="{3700BB55-D89E-496E-850A-D13ED1131C2F}"/>
              </a:ext>
            </a:extLst>
          </p:cNvPr>
          <p:cNvSpPr/>
          <p:nvPr/>
        </p:nvSpPr>
        <p:spPr>
          <a:xfrm>
            <a:off x="3974592" y="7049413"/>
            <a:ext cx="24384" cy="914400"/>
          </a:xfrm>
          <a:prstGeom prst="rect">
            <a:avLst/>
          </a:prstGeom>
          <a:solidFill>
            <a:srgbClr val="DAEAF7"/>
          </a:solidFill>
          <a:ln w="12700">
            <a:solidFill>
              <a:srgbClr val="DAEAF7"/>
            </a:solidFill>
            <a:prstDash val="solid"/>
          </a:ln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PK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Text 29">
            <a:extLst>
              <a:ext uri="{FF2B5EF4-FFF2-40B4-BE49-F238E27FC236}">
                <a16:creationId xmlns:a16="http://schemas.microsoft.com/office/drawing/2014/main" id="{7898F8FC-E347-B54D-CF6F-2FA40CF177BB}"/>
              </a:ext>
            </a:extLst>
          </p:cNvPr>
          <p:cNvSpPr/>
          <p:nvPr/>
        </p:nvSpPr>
        <p:spPr>
          <a:xfrm>
            <a:off x="4218432" y="6805573"/>
            <a:ext cx="7851648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r>
              <a:rPr lang="en-US" sz="2347" kern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.NET  ·  ASP.NET Core  ·  Node.js  ·  MVC  ·  Microservices  ·  Event-Driven Architecture</a:t>
            </a:r>
            <a:endParaRPr lang="en-US" sz="2347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Shape 30">
            <a:extLst>
              <a:ext uri="{FF2B5EF4-FFF2-40B4-BE49-F238E27FC236}">
                <a16:creationId xmlns:a16="http://schemas.microsoft.com/office/drawing/2014/main" id="{F92802F3-E82F-EE9C-E749-56B5A8329173}"/>
              </a:ext>
            </a:extLst>
          </p:cNvPr>
          <p:cNvSpPr/>
          <p:nvPr/>
        </p:nvSpPr>
        <p:spPr>
          <a:xfrm>
            <a:off x="609600" y="8310067"/>
            <a:ext cx="11509248" cy="1402080"/>
          </a:xfrm>
          <a:prstGeom prst="rect">
            <a:avLst/>
          </a:prstGeom>
          <a:solidFill>
            <a:srgbClr val="F7FAFF"/>
          </a:solidFill>
          <a:ln w="12700">
            <a:solidFill>
              <a:srgbClr val="DAEAF7"/>
            </a:solidFill>
            <a:prstDash val="solid"/>
          </a:ln>
          <a:effectLst>
            <a:outerShdw blurRad="63500" dist="25400" dir="8100000" algn="bl" rotWithShape="0">
              <a:srgbClr val="94A3B8">
                <a:alpha val="13000"/>
              </a:srgbClr>
            </a:outerShdw>
          </a:effectLst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PK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Shape 31">
            <a:extLst>
              <a:ext uri="{FF2B5EF4-FFF2-40B4-BE49-F238E27FC236}">
                <a16:creationId xmlns:a16="http://schemas.microsoft.com/office/drawing/2014/main" id="{ABAA28F0-06AA-0B90-6F29-98A0B093839F}"/>
              </a:ext>
            </a:extLst>
          </p:cNvPr>
          <p:cNvSpPr/>
          <p:nvPr/>
        </p:nvSpPr>
        <p:spPr>
          <a:xfrm>
            <a:off x="609600" y="8310067"/>
            <a:ext cx="146304" cy="14020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PK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Shape 32">
            <a:extLst>
              <a:ext uri="{FF2B5EF4-FFF2-40B4-BE49-F238E27FC236}">
                <a16:creationId xmlns:a16="http://schemas.microsoft.com/office/drawing/2014/main" id="{09C24DE5-77D8-344F-6D42-11D3D8DDEE17}"/>
              </a:ext>
            </a:extLst>
          </p:cNvPr>
          <p:cNvSpPr/>
          <p:nvPr/>
        </p:nvSpPr>
        <p:spPr>
          <a:xfrm>
            <a:off x="755904" y="8310067"/>
            <a:ext cx="3218688" cy="1402080"/>
          </a:xfrm>
          <a:prstGeom prst="rect">
            <a:avLst/>
          </a:prstGeom>
          <a:solidFill>
            <a:srgbClr val="EBF4FF">
              <a:alpha val="70000"/>
            </a:srgbClr>
          </a:solidFill>
          <a:ln w="12700">
            <a:solidFill>
              <a:srgbClr val="DAEAF7"/>
            </a:solidFill>
            <a:prstDash val="solid"/>
          </a:ln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PK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Text 33">
            <a:extLst>
              <a:ext uri="{FF2B5EF4-FFF2-40B4-BE49-F238E27FC236}">
                <a16:creationId xmlns:a16="http://schemas.microsoft.com/office/drawing/2014/main" id="{8F1A836E-55A7-420C-37A7-38FBD44D4155}"/>
              </a:ext>
            </a:extLst>
          </p:cNvPr>
          <p:cNvSpPr/>
          <p:nvPr/>
        </p:nvSpPr>
        <p:spPr>
          <a:xfrm>
            <a:off x="902208" y="8310067"/>
            <a:ext cx="3072384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r>
              <a:rPr lang="en-US" sz="2533" b="1" kern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2533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Shape 34">
            <a:extLst>
              <a:ext uri="{FF2B5EF4-FFF2-40B4-BE49-F238E27FC236}">
                <a16:creationId xmlns:a16="http://schemas.microsoft.com/office/drawing/2014/main" id="{5CE6FC02-6393-8B3A-D868-2C6D2696C45C}"/>
              </a:ext>
            </a:extLst>
          </p:cNvPr>
          <p:cNvSpPr/>
          <p:nvPr/>
        </p:nvSpPr>
        <p:spPr>
          <a:xfrm>
            <a:off x="3974592" y="8553907"/>
            <a:ext cx="24384" cy="914400"/>
          </a:xfrm>
          <a:prstGeom prst="rect">
            <a:avLst/>
          </a:prstGeom>
          <a:solidFill>
            <a:srgbClr val="DAEAF7"/>
          </a:solidFill>
          <a:ln w="12700">
            <a:solidFill>
              <a:srgbClr val="DAEAF7"/>
            </a:solidFill>
            <a:prstDash val="solid"/>
          </a:ln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PK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Text 35">
            <a:extLst>
              <a:ext uri="{FF2B5EF4-FFF2-40B4-BE49-F238E27FC236}">
                <a16:creationId xmlns:a16="http://schemas.microsoft.com/office/drawing/2014/main" id="{8C952FEA-511E-454C-B082-230D2DB066BC}"/>
              </a:ext>
            </a:extLst>
          </p:cNvPr>
          <p:cNvSpPr/>
          <p:nvPr/>
        </p:nvSpPr>
        <p:spPr>
          <a:xfrm>
            <a:off x="4218432" y="8310067"/>
            <a:ext cx="7851648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r>
              <a:rPr lang="en-US" sz="2347" kern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  ·  WebSocket  ·  WebRTC  ·  MQTT  ·  gRPC  ·  SignalR</a:t>
            </a:r>
            <a:endParaRPr lang="en-US" sz="2347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Shape 36">
            <a:extLst>
              <a:ext uri="{FF2B5EF4-FFF2-40B4-BE49-F238E27FC236}">
                <a16:creationId xmlns:a16="http://schemas.microsoft.com/office/drawing/2014/main" id="{FFE7E58D-8F5F-BAE7-14B7-34B3016DEBD5}"/>
              </a:ext>
            </a:extLst>
          </p:cNvPr>
          <p:cNvSpPr/>
          <p:nvPr/>
        </p:nvSpPr>
        <p:spPr>
          <a:xfrm>
            <a:off x="609600" y="9814560"/>
            <a:ext cx="11509248" cy="1402080"/>
          </a:xfrm>
          <a:prstGeom prst="rect">
            <a:avLst/>
          </a:prstGeom>
          <a:solidFill>
            <a:srgbClr val="F7FAFF"/>
          </a:solidFill>
          <a:ln w="12700">
            <a:solidFill>
              <a:srgbClr val="DAEAF7"/>
            </a:solidFill>
            <a:prstDash val="solid"/>
          </a:ln>
          <a:effectLst>
            <a:outerShdw blurRad="63500" dist="25400" dir="8100000" algn="bl" rotWithShape="0">
              <a:srgbClr val="94A3B8">
                <a:alpha val="13000"/>
              </a:srgbClr>
            </a:outerShdw>
          </a:effectLst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PK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Shape 37">
            <a:extLst>
              <a:ext uri="{FF2B5EF4-FFF2-40B4-BE49-F238E27FC236}">
                <a16:creationId xmlns:a16="http://schemas.microsoft.com/office/drawing/2014/main" id="{FE741D6D-5AD8-8CE0-DFD7-7BAE6E5A6592}"/>
              </a:ext>
            </a:extLst>
          </p:cNvPr>
          <p:cNvSpPr/>
          <p:nvPr/>
        </p:nvSpPr>
        <p:spPr>
          <a:xfrm>
            <a:off x="609600" y="9814560"/>
            <a:ext cx="146304" cy="140208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PK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Shape 38">
            <a:extLst>
              <a:ext uri="{FF2B5EF4-FFF2-40B4-BE49-F238E27FC236}">
                <a16:creationId xmlns:a16="http://schemas.microsoft.com/office/drawing/2014/main" id="{3022AB0A-31D2-12BA-9C34-91432C79D585}"/>
              </a:ext>
            </a:extLst>
          </p:cNvPr>
          <p:cNvSpPr/>
          <p:nvPr/>
        </p:nvSpPr>
        <p:spPr>
          <a:xfrm>
            <a:off x="755904" y="9814560"/>
            <a:ext cx="3218688" cy="1402080"/>
          </a:xfrm>
          <a:prstGeom prst="rect">
            <a:avLst/>
          </a:prstGeom>
          <a:solidFill>
            <a:srgbClr val="EBF4FF">
              <a:alpha val="70000"/>
            </a:srgbClr>
          </a:solidFill>
          <a:ln w="12700">
            <a:solidFill>
              <a:srgbClr val="DAEAF7"/>
            </a:solidFill>
            <a:prstDash val="solid"/>
          </a:ln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PK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Text 39">
            <a:extLst>
              <a:ext uri="{FF2B5EF4-FFF2-40B4-BE49-F238E27FC236}">
                <a16:creationId xmlns:a16="http://schemas.microsoft.com/office/drawing/2014/main" id="{591DE510-2331-BAB2-64CA-2ED18C648237}"/>
              </a:ext>
            </a:extLst>
          </p:cNvPr>
          <p:cNvSpPr/>
          <p:nvPr/>
        </p:nvSpPr>
        <p:spPr>
          <a:xfrm>
            <a:off x="902208" y="9814560"/>
            <a:ext cx="3072384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r>
              <a:rPr lang="en-US" sz="2533" b="1" kern="12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</a:t>
            </a:r>
            <a:endParaRPr lang="en-US" sz="2533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Shape 40">
            <a:extLst>
              <a:ext uri="{FF2B5EF4-FFF2-40B4-BE49-F238E27FC236}">
                <a16:creationId xmlns:a16="http://schemas.microsoft.com/office/drawing/2014/main" id="{7F2B5D30-6DED-43F4-37B9-013CA6D7BD92}"/>
              </a:ext>
            </a:extLst>
          </p:cNvPr>
          <p:cNvSpPr/>
          <p:nvPr/>
        </p:nvSpPr>
        <p:spPr>
          <a:xfrm>
            <a:off x="3974592" y="10058400"/>
            <a:ext cx="24384" cy="914400"/>
          </a:xfrm>
          <a:prstGeom prst="rect">
            <a:avLst/>
          </a:prstGeom>
          <a:solidFill>
            <a:srgbClr val="DAEAF7"/>
          </a:solidFill>
          <a:ln w="12700">
            <a:solidFill>
              <a:srgbClr val="DAEAF7"/>
            </a:solidFill>
            <a:prstDash val="solid"/>
          </a:ln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PK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" name="Text 41">
            <a:extLst>
              <a:ext uri="{FF2B5EF4-FFF2-40B4-BE49-F238E27FC236}">
                <a16:creationId xmlns:a16="http://schemas.microsoft.com/office/drawing/2014/main" id="{C55843D6-9423-2E97-6E87-9B45DC021943}"/>
              </a:ext>
            </a:extLst>
          </p:cNvPr>
          <p:cNvSpPr/>
          <p:nvPr/>
        </p:nvSpPr>
        <p:spPr>
          <a:xfrm>
            <a:off x="4218432" y="9814560"/>
            <a:ext cx="7851648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r>
              <a:rPr lang="en-US" sz="2347" kern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 ·  RabbitMQ  ·  Pub-Sub  ·  Stream Ingestion  ·  Event-Driven Triggers</a:t>
            </a:r>
            <a:endParaRPr lang="en-US" sz="2347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Shape 42">
            <a:extLst>
              <a:ext uri="{FF2B5EF4-FFF2-40B4-BE49-F238E27FC236}">
                <a16:creationId xmlns:a16="http://schemas.microsoft.com/office/drawing/2014/main" id="{D495162A-6884-FA8A-F9BF-52B5F46B1FBF}"/>
              </a:ext>
            </a:extLst>
          </p:cNvPr>
          <p:cNvSpPr/>
          <p:nvPr/>
        </p:nvSpPr>
        <p:spPr>
          <a:xfrm>
            <a:off x="609600" y="11319053"/>
            <a:ext cx="11509248" cy="1402080"/>
          </a:xfrm>
          <a:prstGeom prst="rect">
            <a:avLst/>
          </a:prstGeom>
          <a:solidFill>
            <a:srgbClr val="F7FAFF"/>
          </a:solidFill>
          <a:ln w="12700">
            <a:solidFill>
              <a:srgbClr val="DAEAF7"/>
            </a:solidFill>
            <a:prstDash val="solid"/>
          </a:ln>
          <a:effectLst>
            <a:outerShdw blurRad="63500" dist="25400" dir="8100000" algn="bl" rotWithShape="0">
              <a:srgbClr val="94A3B8">
                <a:alpha val="13000"/>
              </a:srgbClr>
            </a:outerShdw>
          </a:effectLst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PK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Shape 43">
            <a:extLst>
              <a:ext uri="{FF2B5EF4-FFF2-40B4-BE49-F238E27FC236}">
                <a16:creationId xmlns:a16="http://schemas.microsoft.com/office/drawing/2014/main" id="{7E53E90C-3A80-5ABE-A9B4-33BD36FF733A}"/>
              </a:ext>
            </a:extLst>
          </p:cNvPr>
          <p:cNvSpPr/>
          <p:nvPr/>
        </p:nvSpPr>
        <p:spPr>
          <a:xfrm>
            <a:off x="609600" y="11319053"/>
            <a:ext cx="146304" cy="140208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PK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4" name="Shape 44">
            <a:extLst>
              <a:ext uri="{FF2B5EF4-FFF2-40B4-BE49-F238E27FC236}">
                <a16:creationId xmlns:a16="http://schemas.microsoft.com/office/drawing/2014/main" id="{90188162-F8D5-9FBE-9CED-A116CB903085}"/>
              </a:ext>
            </a:extLst>
          </p:cNvPr>
          <p:cNvSpPr/>
          <p:nvPr/>
        </p:nvSpPr>
        <p:spPr>
          <a:xfrm>
            <a:off x="755904" y="11319053"/>
            <a:ext cx="3218688" cy="1402080"/>
          </a:xfrm>
          <a:prstGeom prst="rect">
            <a:avLst/>
          </a:prstGeom>
          <a:solidFill>
            <a:srgbClr val="EBF4FF">
              <a:alpha val="70000"/>
            </a:srgbClr>
          </a:solidFill>
          <a:ln w="12700">
            <a:solidFill>
              <a:srgbClr val="DAEAF7"/>
            </a:solidFill>
            <a:prstDash val="solid"/>
          </a:ln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PK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5" name="Text 45">
            <a:extLst>
              <a:ext uri="{FF2B5EF4-FFF2-40B4-BE49-F238E27FC236}">
                <a16:creationId xmlns:a16="http://schemas.microsoft.com/office/drawing/2014/main" id="{F3B3FDCB-E1FF-3896-310B-755F0969C996}"/>
              </a:ext>
            </a:extLst>
          </p:cNvPr>
          <p:cNvSpPr/>
          <p:nvPr/>
        </p:nvSpPr>
        <p:spPr>
          <a:xfrm>
            <a:off x="902208" y="11319053"/>
            <a:ext cx="3072384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r>
              <a:rPr lang="en-US" sz="2533" b="1" kern="12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Services</a:t>
            </a:r>
            <a:endParaRPr lang="en-US" sz="2533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6" name="Shape 46">
            <a:extLst>
              <a:ext uri="{FF2B5EF4-FFF2-40B4-BE49-F238E27FC236}">
                <a16:creationId xmlns:a16="http://schemas.microsoft.com/office/drawing/2014/main" id="{A3213606-86C6-1237-6DC5-6D3629698578}"/>
              </a:ext>
            </a:extLst>
          </p:cNvPr>
          <p:cNvSpPr/>
          <p:nvPr/>
        </p:nvSpPr>
        <p:spPr>
          <a:xfrm>
            <a:off x="3974592" y="11562893"/>
            <a:ext cx="24384" cy="914400"/>
          </a:xfrm>
          <a:prstGeom prst="rect">
            <a:avLst/>
          </a:prstGeom>
          <a:solidFill>
            <a:srgbClr val="DAEAF7"/>
          </a:solidFill>
          <a:ln w="12700">
            <a:solidFill>
              <a:srgbClr val="DAEAF7"/>
            </a:solidFill>
            <a:prstDash val="solid"/>
          </a:ln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PK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7" name="Text 47">
            <a:extLst>
              <a:ext uri="{FF2B5EF4-FFF2-40B4-BE49-F238E27FC236}">
                <a16:creationId xmlns:a16="http://schemas.microsoft.com/office/drawing/2014/main" id="{8E4FE359-2A31-B104-27AB-932D3876E45B}"/>
              </a:ext>
            </a:extLst>
          </p:cNvPr>
          <p:cNvSpPr/>
          <p:nvPr/>
        </p:nvSpPr>
        <p:spPr>
          <a:xfrm>
            <a:off x="4218432" y="11319053"/>
            <a:ext cx="7851648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r>
              <a:rPr lang="en-US" sz="2347" kern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 ·  GraphQL  ·  Redis Cache  ·  ETL / ELT Pipelines  ·  Kafka Streams</a:t>
            </a:r>
            <a:endParaRPr lang="en-US" sz="2347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8" name="Shape 48">
            <a:extLst>
              <a:ext uri="{FF2B5EF4-FFF2-40B4-BE49-F238E27FC236}">
                <a16:creationId xmlns:a16="http://schemas.microsoft.com/office/drawing/2014/main" id="{9F95488A-AE3A-9EEB-1CD0-33E24250CC38}"/>
              </a:ext>
            </a:extLst>
          </p:cNvPr>
          <p:cNvSpPr/>
          <p:nvPr/>
        </p:nvSpPr>
        <p:spPr>
          <a:xfrm>
            <a:off x="12752832" y="2292096"/>
            <a:ext cx="11509248" cy="1402080"/>
          </a:xfrm>
          <a:prstGeom prst="rect">
            <a:avLst/>
          </a:prstGeom>
          <a:solidFill>
            <a:srgbClr val="F7FAFF"/>
          </a:solidFill>
          <a:ln w="12700">
            <a:solidFill>
              <a:srgbClr val="DAEAF7"/>
            </a:solidFill>
            <a:prstDash val="solid"/>
          </a:ln>
          <a:effectLst>
            <a:outerShdw blurRad="63500" dist="25400" dir="8100000" algn="bl" rotWithShape="0">
              <a:srgbClr val="94A3B8">
                <a:alpha val="13000"/>
              </a:srgbClr>
            </a:outerShdw>
          </a:effectLst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PK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9" name="Shape 49">
            <a:extLst>
              <a:ext uri="{FF2B5EF4-FFF2-40B4-BE49-F238E27FC236}">
                <a16:creationId xmlns:a16="http://schemas.microsoft.com/office/drawing/2014/main" id="{4414426F-6D42-A1CA-72DB-46FF21BC5B5F}"/>
              </a:ext>
            </a:extLst>
          </p:cNvPr>
          <p:cNvSpPr/>
          <p:nvPr/>
        </p:nvSpPr>
        <p:spPr>
          <a:xfrm>
            <a:off x="12752832" y="2292096"/>
            <a:ext cx="146304" cy="1402080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PK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Shape 50">
            <a:extLst>
              <a:ext uri="{FF2B5EF4-FFF2-40B4-BE49-F238E27FC236}">
                <a16:creationId xmlns:a16="http://schemas.microsoft.com/office/drawing/2014/main" id="{1D398FAD-D8F9-8C72-FADE-6A9F13A81531}"/>
              </a:ext>
            </a:extLst>
          </p:cNvPr>
          <p:cNvSpPr/>
          <p:nvPr/>
        </p:nvSpPr>
        <p:spPr>
          <a:xfrm>
            <a:off x="12899136" y="2292096"/>
            <a:ext cx="3218688" cy="1402080"/>
          </a:xfrm>
          <a:prstGeom prst="rect">
            <a:avLst/>
          </a:prstGeom>
          <a:solidFill>
            <a:srgbClr val="EBF4FF">
              <a:alpha val="70000"/>
            </a:srgbClr>
          </a:solidFill>
          <a:ln w="12700">
            <a:solidFill>
              <a:srgbClr val="DAEAF7"/>
            </a:solidFill>
            <a:prstDash val="solid"/>
          </a:ln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PK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1" name="Text 51">
            <a:extLst>
              <a:ext uri="{FF2B5EF4-FFF2-40B4-BE49-F238E27FC236}">
                <a16:creationId xmlns:a16="http://schemas.microsoft.com/office/drawing/2014/main" id="{93AA0AA1-CB7E-ECE1-04B6-C48CDD332C71}"/>
              </a:ext>
            </a:extLst>
          </p:cNvPr>
          <p:cNvSpPr/>
          <p:nvPr/>
        </p:nvSpPr>
        <p:spPr>
          <a:xfrm>
            <a:off x="13045440" y="2292096"/>
            <a:ext cx="3072384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r>
              <a:rPr lang="en-US" sz="2533" b="1" kern="12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2533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2" name="Shape 52">
            <a:extLst>
              <a:ext uri="{FF2B5EF4-FFF2-40B4-BE49-F238E27FC236}">
                <a16:creationId xmlns:a16="http://schemas.microsoft.com/office/drawing/2014/main" id="{74211B91-22D8-EA2F-8D46-2517A6F045EF}"/>
              </a:ext>
            </a:extLst>
          </p:cNvPr>
          <p:cNvSpPr/>
          <p:nvPr/>
        </p:nvSpPr>
        <p:spPr>
          <a:xfrm>
            <a:off x="16117824" y="2535936"/>
            <a:ext cx="24384" cy="914400"/>
          </a:xfrm>
          <a:prstGeom prst="rect">
            <a:avLst/>
          </a:prstGeom>
          <a:solidFill>
            <a:srgbClr val="DAEAF7"/>
          </a:solidFill>
          <a:ln w="12700">
            <a:solidFill>
              <a:srgbClr val="DAEAF7"/>
            </a:solidFill>
            <a:prstDash val="solid"/>
          </a:ln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PK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3" name="Text 53">
            <a:extLst>
              <a:ext uri="{FF2B5EF4-FFF2-40B4-BE49-F238E27FC236}">
                <a16:creationId xmlns:a16="http://schemas.microsoft.com/office/drawing/2014/main" id="{EB433BB6-EA29-911E-83E1-8961422E38A5}"/>
              </a:ext>
            </a:extLst>
          </p:cNvPr>
          <p:cNvSpPr/>
          <p:nvPr/>
        </p:nvSpPr>
        <p:spPr>
          <a:xfrm>
            <a:off x="16361664" y="2292096"/>
            <a:ext cx="7851648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r>
              <a:rPr lang="en-US" sz="2347" kern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 ·  PostgreSQL  ·  MySQL  ·  Greenplum  ·  ClickHouse  ·  Multi-Tenant &amp; Distributed</a:t>
            </a:r>
            <a:endParaRPr lang="en-US" sz="2347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4" name="Shape 54">
            <a:extLst>
              <a:ext uri="{FF2B5EF4-FFF2-40B4-BE49-F238E27FC236}">
                <a16:creationId xmlns:a16="http://schemas.microsoft.com/office/drawing/2014/main" id="{B2C2F974-3947-18BA-F4B6-7B64C3B3E3A5}"/>
              </a:ext>
            </a:extLst>
          </p:cNvPr>
          <p:cNvSpPr/>
          <p:nvPr/>
        </p:nvSpPr>
        <p:spPr>
          <a:xfrm>
            <a:off x="12752832" y="3796589"/>
            <a:ext cx="11509248" cy="1402080"/>
          </a:xfrm>
          <a:prstGeom prst="rect">
            <a:avLst/>
          </a:prstGeom>
          <a:solidFill>
            <a:srgbClr val="F7FAFF"/>
          </a:solidFill>
          <a:ln w="12700">
            <a:solidFill>
              <a:srgbClr val="DAEAF7"/>
            </a:solidFill>
            <a:prstDash val="solid"/>
          </a:ln>
          <a:effectLst>
            <a:outerShdw blurRad="63500" dist="25400" dir="8100000" algn="bl" rotWithShape="0">
              <a:srgbClr val="94A3B8">
                <a:alpha val="13000"/>
              </a:srgbClr>
            </a:outerShdw>
          </a:effectLst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PK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5" name="Shape 55">
            <a:extLst>
              <a:ext uri="{FF2B5EF4-FFF2-40B4-BE49-F238E27FC236}">
                <a16:creationId xmlns:a16="http://schemas.microsoft.com/office/drawing/2014/main" id="{DB91EC0E-B5AE-9977-EB4A-88B3DE1CFC38}"/>
              </a:ext>
            </a:extLst>
          </p:cNvPr>
          <p:cNvSpPr/>
          <p:nvPr/>
        </p:nvSpPr>
        <p:spPr>
          <a:xfrm>
            <a:off x="12752832" y="3796589"/>
            <a:ext cx="146304" cy="1402080"/>
          </a:xfrm>
          <a:prstGeom prst="rect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PK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6" name="Shape 56">
            <a:extLst>
              <a:ext uri="{FF2B5EF4-FFF2-40B4-BE49-F238E27FC236}">
                <a16:creationId xmlns:a16="http://schemas.microsoft.com/office/drawing/2014/main" id="{8FA4EDCA-FEA8-69E9-0565-BDA430473FD7}"/>
              </a:ext>
            </a:extLst>
          </p:cNvPr>
          <p:cNvSpPr/>
          <p:nvPr/>
        </p:nvSpPr>
        <p:spPr>
          <a:xfrm>
            <a:off x="12899136" y="3796589"/>
            <a:ext cx="3218688" cy="1402080"/>
          </a:xfrm>
          <a:prstGeom prst="rect">
            <a:avLst/>
          </a:prstGeom>
          <a:solidFill>
            <a:srgbClr val="EBF4FF">
              <a:alpha val="70000"/>
            </a:srgbClr>
          </a:solidFill>
          <a:ln w="12700">
            <a:solidFill>
              <a:srgbClr val="DAEAF7"/>
            </a:solidFill>
            <a:prstDash val="solid"/>
          </a:ln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PK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7" name="Text 57">
            <a:extLst>
              <a:ext uri="{FF2B5EF4-FFF2-40B4-BE49-F238E27FC236}">
                <a16:creationId xmlns:a16="http://schemas.microsoft.com/office/drawing/2014/main" id="{61BF808F-5AEB-7851-F62B-14FE0526132D}"/>
              </a:ext>
            </a:extLst>
          </p:cNvPr>
          <p:cNvSpPr/>
          <p:nvPr/>
        </p:nvSpPr>
        <p:spPr>
          <a:xfrm>
            <a:off x="13045440" y="3796589"/>
            <a:ext cx="3072384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r>
              <a:rPr lang="en-US" sz="2533" b="1" kern="120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2533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8" name="Shape 58">
            <a:extLst>
              <a:ext uri="{FF2B5EF4-FFF2-40B4-BE49-F238E27FC236}">
                <a16:creationId xmlns:a16="http://schemas.microsoft.com/office/drawing/2014/main" id="{B8DEC6FF-57F0-5626-1BD8-FAA9AC401E61}"/>
              </a:ext>
            </a:extLst>
          </p:cNvPr>
          <p:cNvSpPr/>
          <p:nvPr/>
        </p:nvSpPr>
        <p:spPr>
          <a:xfrm>
            <a:off x="16117824" y="4040429"/>
            <a:ext cx="24384" cy="914400"/>
          </a:xfrm>
          <a:prstGeom prst="rect">
            <a:avLst/>
          </a:prstGeom>
          <a:solidFill>
            <a:srgbClr val="DAEAF7"/>
          </a:solidFill>
          <a:ln w="12700">
            <a:solidFill>
              <a:srgbClr val="DAEAF7"/>
            </a:solidFill>
            <a:prstDash val="solid"/>
          </a:ln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PK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9" name="Text 59">
            <a:extLst>
              <a:ext uri="{FF2B5EF4-FFF2-40B4-BE49-F238E27FC236}">
                <a16:creationId xmlns:a16="http://schemas.microsoft.com/office/drawing/2014/main" id="{E0AD4FE1-B106-C231-4DDD-D1D458F329A8}"/>
              </a:ext>
            </a:extLst>
          </p:cNvPr>
          <p:cNvSpPr/>
          <p:nvPr/>
        </p:nvSpPr>
        <p:spPr>
          <a:xfrm>
            <a:off x="16361664" y="3796589"/>
            <a:ext cx="7851648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r>
              <a:rPr lang="en-US" sz="2347" kern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 Analytics  ·  Data Warehouse  ·  Data Lake  ·  KPI Data Marts</a:t>
            </a:r>
            <a:endParaRPr lang="en-US" sz="2347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0" name="Shape 60">
            <a:extLst>
              <a:ext uri="{FF2B5EF4-FFF2-40B4-BE49-F238E27FC236}">
                <a16:creationId xmlns:a16="http://schemas.microsoft.com/office/drawing/2014/main" id="{8262503A-7693-89BB-225A-B288FED7B88E}"/>
              </a:ext>
            </a:extLst>
          </p:cNvPr>
          <p:cNvSpPr/>
          <p:nvPr/>
        </p:nvSpPr>
        <p:spPr>
          <a:xfrm>
            <a:off x="12752832" y="5301083"/>
            <a:ext cx="11509248" cy="1402080"/>
          </a:xfrm>
          <a:prstGeom prst="rect">
            <a:avLst/>
          </a:prstGeom>
          <a:solidFill>
            <a:srgbClr val="F7FAFF"/>
          </a:solidFill>
          <a:ln w="12700">
            <a:solidFill>
              <a:srgbClr val="DAEAF7"/>
            </a:solidFill>
            <a:prstDash val="solid"/>
          </a:ln>
          <a:effectLst>
            <a:outerShdw blurRad="63500" dist="25400" dir="8100000" algn="bl" rotWithShape="0">
              <a:srgbClr val="94A3B8">
                <a:alpha val="13000"/>
              </a:srgbClr>
            </a:outerShdw>
          </a:effectLst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PK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1" name="Shape 61">
            <a:extLst>
              <a:ext uri="{FF2B5EF4-FFF2-40B4-BE49-F238E27FC236}">
                <a16:creationId xmlns:a16="http://schemas.microsoft.com/office/drawing/2014/main" id="{81959341-A3C9-AE5C-1C96-0902A0546093}"/>
              </a:ext>
            </a:extLst>
          </p:cNvPr>
          <p:cNvSpPr/>
          <p:nvPr/>
        </p:nvSpPr>
        <p:spPr>
          <a:xfrm>
            <a:off x="12752832" y="5301083"/>
            <a:ext cx="146304" cy="140208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PK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2" name="Shape 62">
            <a:extLst>
              <a:ext uri="{FF2B5EF4-FFF2-40B4-BE49-F238E27FC236}">
                <a16:creationId xmlns:a16="http://schemas.microsoft.com/office/drawing/2014/main" id="{6DA99D90-05F3-9B3F-56BF-DD48684A58A3}"/>
              </a:ext>
            </a:extLst>
          </p:cNvPr>
          <p:cNvSpPr/>
          <p:nvPr/>
        </p:nvSpPr>
        <p:spPr>
          <a:xfrm>
            <a:off x="12899136" y="5301083"/>
            <a:ext cx="3218688" cy="1402080"/>
          </a:xfrm>
          <a:prstGeom prst="rect">
            <a:avLst/>
          </a:prstGeom>
          <a:solidFill>
            <a:srgbClr val="EBF4FF">
              <a:alpha val="70000"/>
            </a:srgbClr>
          </a:solidFill>
          <a:ln w="12700">
            <a:solidFill>
              <a:srgbClr val="DAEAF7"/>
            </a:solidFill>
            <a:prstDash val="solid"/>
          </a:ln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PK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3" name="Text 63">
            <a:extLst>
              <a:ext uri="{FF2B5EF4-FFF2-40B4-BE49-F238E27FC236}">
                <a16:creationId xmlns:a16="http://schemas.microsoft.com/office/drawing/2014/main" id="{3E33A7A6-B254-2D5B-29E4-77639216DEC9}"/>
              </a:ext>
            </a:extLst>
          </p:cNvPr>
          <p:cNvSpPr/>
          <p:nvPr/>
        </p:nvSpPr>
        <p:spPr>
          <a:xfrm>
            <a:off x="13045440" y="5301083"/>
            <a:ext cx="3072384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r>
              <a:rPr lang="en-US" sz="2533" b="1" kern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BI</a:t>
            </a:r>
            <a:endParaRPr lang="en-US" sz="2533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4" name="Shape 64">
            <a:extLst>
              <a:ext uri="{FF2B5EF4-FFF2-40B4-BE49-F238E27FC236}">
                <a16:creationId xmlns:a16="http://schemas.microsoft.com/office/drawing/2014/main" id="{0A8E72BE-ECC0-D953-617B-D68488A01E79}"/>
              </a:ext>
            </a:extLst>
          </p:cNvPr>
          <p:cNvSpPr/>
          <p:nvPr/>
        </p:nvSpPr>
        <p:spPr>
          <a:xfrm>
            <a:off x="16117824" y="5544923"/>
            <a:ext cx="24384" cy="914400"/>
          </a:xfrm>
          <a:prstGeom prst="rect">
            <a:avLst/>
          </a:prstGeom>
          <a:solidFill>
            <a:srgbClr val="DAEAF7"/>
          </a:solidFill>
          <a:ln w="12700">
            <a:solidFill>
              <a:srgbClr val="DAEAF7"/>
            </a:solidFill>
            <a:prstDash val="solid"/>
          </a:ln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PK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5" name="Text 65">
            <a:extLst>
              <a:ext uri="{FF2B5EF4-FFF2-40B4-BE49-F238E27FC236}">
                <a16:creationId xmlns:a16="http://schemas.microsoft.com/office/drawing/2014/main" id="{2879313D-9391-FE16-C2CC-333F6215FB67}"/>
              </a:ext>
            </a:extLst>
          </p:cNvPr>
          <p:cNvSpPr/>
          <p:nvPr/>
        </p:nvSpPr>
        <p:spPr>
          <a:xfrm>
            <a:off x="16361664" y="5301083"/>
            <a:ext cx="7851648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r>
              <a:rPr lang="en-US" sz="2347" kern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SSRS  ·  Crystal Reports  · Operational Dashboards  ·  Executive Scorecards</a:t>
            </a:r>
            <a:endParaRPr lang="en-US" sz="2347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6" name="Shape 66">
            <a:extLst>
              <a:ext uri="{FF2B5EF4-FFF2-40B4-BE49-F238E27FC236}">
                <a16:creationId xmlns:a16="http://schemas.microsoft.com/office/drawing/2014/main" id="{BA726502-2789-4FB4-FFF8-8C4BEE868392}"/>
              </a:ext>
            </a:extLst>
          </p:cNvPr>
          <p:cNvSpPr/>
          <p:nvPr/>
        </p:nvSpPr>
        <p:spPr>
          <a:xfrm>
            <a:off x="12752832" y="6805573"/>
            <a:ext cx="11509248" cy="1402080"/>
          </a:xfrm>
          <a:prstGeom prst="rect">
            <a:avLst/>
          </a:prstGeom>
          <a:solidFill>
            <a:srgbClr val="F7FAFF"/>
          </a:solidFill>
          <a:ln w="12700">
            <a:solidFill>
              <a:srgbClr val="DAEAF7"/>
            </a:solidFill>
            <a:prstDash val="solid"/>
          </a:ln>
          <a:effectLst>
            <a:outerShdw blurRad="63500" dist="25400" dir="8100000" algn="bl" rotWithShape="0">
              <a:srgbClr val="94A3B8">
                <a:alpha val="13000"/>
              </a:srgbClr>
            </a:outerShdw>
          </a:effectLst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PK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7" name="Shape 67">
            <a:extLst>
              <a:ext uri="{FF2B5EF4-FFF2-40B4-BE49-F238E27FC236}">
                <a16:creationId xmlns:a16="http://schemas.microsoft.com/office/drawing/2014/main" id="{54168DF9-74DD-5F1C-2546-A8494C91E534}"/>
              </a:ext>
            </a:extLst>
          </p:cNvPr>
          <p:cNvSpPr/>
          <p:nvPr/>
        </p:nvSpPr>
        <p:spPr>
          <a:xfrm>
            <a:off x="12752832" y="6805573"/>
            <a:ext cx="146304" cy="14020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PK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8" name="Shape 68">
            <a:extLst>
              <a:ext uri="{FF2B5EF4-FFF2-40B4-BE49-F238E27FC236}">
                <a16:creationId xmlns:a16="http://schemas.microsoft.com/office/drawing/2014/main" id="{08A0B69A-6633-C1A6-A7FC-9B76CA8C752A}"/>
              </a:ext>
            </a:extLst>
          </p:cNvPr>
          <p:cNvSpPr/>
          <p:nvPr/>
        </p:nvSpPr>
        <p:spPr>
          <a:xfrm>
            <a:off x="12899136" y="6805573"/>
            <a:ext cx="3218688" cy="1402080"/>
          </a:xfrm>
          <a:prstGeom prst="rect">
            <a:avLst/>
          </a:prstGeom>
          <a:solidFill>
            <a:srgbClr val="EBF4FF">
              <a:alpha val="70000"/>
            </a:srgbClr>
          </a:solidFill>
          <a:ln w="12700">
            <a:solidFill>
              <a:srgbClr val="DAEAF7"/>
            </a:solidFill>
            <a:prstDash val="solid"/>
          </a:ln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PK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9" name="Text 69">
            <a:extLst>
              <a:ext uri="{FF2B5EF4-FFF2-40B4-BE49-F238E27FC236}">
                <a16:creationId xmlns:a16="http://schemas.microsoft.com/office/drawing/2014/main" id="{DE7D0035-A803-DCF4-212A-2C37C77538BE}"/>
              </a:ext>
            </a:extLst>
          </p:cNvPr>
          <p:cNvSpPr/>
          <p:nvPr/>
        </p:nvSpPr>
        <p:spPr>
          <a:xfrm>
            <a:off x="13045440" y="6805573"/>
            <a:ext cx="3072384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r>
              <a:rPr lang="en-US" sz="2533" b="1" kern="12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2533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0" name="Shape 70">
            <a:extLst>
              <a:ext uri="{FF2B5EF4-FFF2-40B4-BE49-F238E27FC236}">
                <a16:creationId xmlns:a16="http://schemas.microsoft.com/office/drawing/2014/main" id="{8E7F8532-E552-E39B-CEB5-AA0AAE0D665B}"/>
              </a:ext>
            </a:extLst>
          </p:cNvPr>
          <p:cNvSpPr/>
          <p:nvPr/>
        </p:nvSpPr>
        <p:spPr>
          <a:xfrm>
            <a:off x="16117824" y="7049413"/>
            <a:ext cx="24384" cy="914400"/>
          </a:xfrm>
          <a:prstGeom prst="rect">
            <a:avLst/>
          </a:prstGeom>
          <a:solidFill>
            <a:srgbClr val="DAEAF7"/>
          </a:solidFill>
          <a:ln w="12700">
            <a:solidFill>
              <a:srgbClr val="DAEAF7"/>
            </a:solidFill>
            <a:prstDash val="solid"/>
          </a:ln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PK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1" name="Text 71">
            <a:extLst>
              <a:ext uri="{FF2B5EF4-FFF2-40B4-BE49-F238E27FC236}">
                <a16:creationId xmlns:a16="http://schemas.microsoft.com/office/drawing/2014/main" id="{3FEEEC3D-0767-239C-8C9D-3DBDB5D1693C}"/>
              </a:ext>
            </a:extLst>
          </p:cNvPr>
          <p:cNvSpPr/>
          <p:nvPr/>
        </p:nvSpPr>
        <p:spPr>
          <a:xfrm>
            <a:off x="16361664" y="6805573"/>
            <a:ext cx="7851648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r>
              <a:rPr lang="en-US" sz="2347" kern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  ·  GraphQL  ·  Webhooks  ·  API Gateway  ·  ESB / Middleware  ·  BSS Adapters</a:t>
            </a:r>
            <a:endParaRPr lang="en-US" sz="2347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2" name="Shape 72">
            <a:extLst>
              <a:ext uri="{FF2B5EF4-FFF2-40B4-BE49-F238E27FC236}">
                <a16:creationId xmlns:a16="http://schemas.microsoft.com/office/drawing/2014/main" id="{5EA9570D-0F37-1A01-40A2-7038E8192051}"/>
              </a:ext>
            </a:extLst>
          </p:cNvPr>
          <p:cNvSpPr/>
          <p:nvPr/>
        </p:nvSpPr>
        <p:spPr>
          <a:xfrm>
            <a:off x="12752832" y="8310067"/>
            <a:ext cx="11509248" cy="1402080"/>
          </a:xfrm>
          <a:prstGeom prst="rect">
            <a:avLst/>
          </a:prstGeom>
          <a:solidFill>
            <a:srgbClr val="F7FAFF"/>
          </a:solidFill>
          <a:ln w="12700">
            <a:solidFill>
              <a:srgbClr val="DAEAF7"/>
            </a:solidFill>
            <a:prstDash val="solid"/>
          </a:ln>
          <a:effectLst>
            <a:outerShdw blurRad="63500" dist="25400" dir="8100000" algn="bl" rotWithShape="0">
              <a:srgbClr val="94A3B8">
                <a:alpha val="13000"/>
              </a:srgbClr>
            </a:outerShdw>
          </a:effectLst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PK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3" name="Shape 73">
            <a:extLst>
              <a:ext uri="{FF2B5EF4-FFF2-40B4-BE49-F238E27FC236}">
                <a16:creationId xmlns:a16="http://schemas.microsoft.com/office/drawing/2014/main" id="{49C612B6-48A1-FEF8-639A-AB7920BFF836}"/>
              </a:ext>
            </a:extLst>
          </p:cNvPr>
          <p:cNvSpPr/>
          <p:nvPr/>
        </p:nvSpPr>
        <p:spPr>
          <a:xfrm>
            <a:off x="12752832" y="8310067"/>
            <a:ext cx="146304" cy="140208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PK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4" name="Shape 74">
            <a:extLst>
              <a:ext uri="{FF2B5EF4-FFF2-40B4-BE49-F238E27FC236}">
                <a16:creationId xmlns:a16="http://schemas.microsoft.com/office/drawing/2014/main" id="{5A156808-A71E-0E7F-7AC9-FF0715B502B5}"/>
              </a:ext>
            </a:extLst>
          </p:cNvPr>
          <p:cNvSpPr/>
          <p:nvPr/>
        </p:nvSpPr>
        <p:spPr>
          <a:xfrm>
            <a:off x="12899136" y="8310067"/>
            <a:ext cx="3218688" cy="1402080"/>
          </a:xfrm>
          <a:prstGeom prst="rect">
            <a:avLst/>
          </a:prstGeom>
          <a:solidFill>
            <a:srgbClr val="EBF4FF">
              <a:alpha val="70000"/>
            </a:srgbClr>
          </a:solidFill>
          <a:ln w="12700">
            <a:solidFill>
              <a:srgbClr val="DAEAF7"/>
            </a:solidFill>
            <a:prstDash val="solid"/>
          </a:ln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PK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5" name="Text 75">
            <a:extLst>
              <a:ext uri="{FF2B5EF4-FFF2-40B4-BE49-F238E27FC236}">
                <a16:creationId xmlns:a16="http://schemas.microsoft.com/office/drawing/2014/main" id="{7F02D0F9-EDEB-C1BC-DDFC-CE5447B9DA5B}"/>
              </a:ext>
            </a:extLst>
          </p:cNvPr>
          <p:cNvSpPr/>
          <p:nvPr/>
        </p:nvSpPr>
        <p:spPr>
          <a:xfrm>
            <a:off x="13045440" y="8310067"/>
            <a:ext cx="3072384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r>
              <a:rPr lang="en-US" sz="2533" b="1" kern="12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2533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6" name="Shape 76">
            <a:extLst>
              <a:ext uri="{FF2B5EF4-FFF2-40B4-BE49-F238E27FC236}">
                <a16:creationId xmlns:a16="http://schemas.microsoft.com/office/drawing/2014/main" id="{15149B55-9791-65BB-F580-2995A13A9732}"/>
              </a:ext>
            </a:extLst>
          </p:cNvPr>
          <p:cNvSpPr/>
          <p:nvPr/>
        </p:nvSpPr>
        <p:spPr>
          <a:xfrm>
            <a:off x="16117824" y="8553907"/>
            <a:ext cx="24384" cy="914400"/>
          </a:xfrm>
          <a:prstGeom prst="rect">
            <a:avLst/>
          </a:prstGeom>
          <a:solidFill>
            <a:srgbClr val="DAEAF7"/>
          </a:solidFill>
          <a:ln w="12700">
            <a:solidFill>
              <a:srgbClr val="DAEAF7"/>
            </a:solidFill>
            <a:prstDash val="solid"/>
          </a:ln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PK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7" name="Text 77">
            <a:extLst>
              <a:ext uri="{FF2B5EF4-FFF2-40B4-BE49-F238E27FC236}">
                <a16:creationId xmlns:a16="http://schemas.microsoft.com/office/drawing/2014/main" id="{CBA9CAB4-A0B5-4B21-6223-110E9DD7AC20}"/>
              </a:ext>
            </a:extLst>
          </p:cNvPr>
          <p:cNvSpPr/>
          <p:nvPr/>
        </p:nvSpPr>
        <p:spPr>
          <a:xfrm>
            <a:off x="16361664" y="8310067"/>
            <a:ext cx="7851648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r>
              <a:rPr lang="en-US" sz="2347" kern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 ·  OpenID Connect  ·  SAML  ·  LDAP  ·  SSO  ·  JWT  ·  RBAC  ·  MFA</a:t>
            </a:r>
            <a:endParaRPr lang="en-US" sz="2347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8" name="Shape 78">
            <a:extLst>
              <a:ext uri="{FF2B5EF4-FFF2-40B4-BE49-F238E27FC236}">
                <a16:creationId xmlns:a16="http://schemas.microsoft.com/office/drawing/2014/main" id="{E107E43F-44EC-320D-92A0-732751230242}"/>
              </a:ext>
            </a:extLst>
          </p:cNvPr>
          <p:cNvSpPr/>
          <p:nvPr/>
        </p:nvSpPr>
        <p:spPr>
          <a:xfrm>
            <a:off x="12752832" y="9814560"/>
            <a:ext cx="11509248" cy="1402080"/>
          </a:xfrm>
          <a:prstGeom prst="rect">
            <a:avLst/>
          </a:prstGeom>
          <a:solidFill>
            <a:srgbClr val="F7FAFF"/>
          </a:solidFill>
          <a:ln w="12700">
            <a:solidFill>
              <a:srgbClr val="DAEAF7"/>
            </a:solidFill>
            <a:prstDash val="solid"/>
          </a:ln>
          <a:effectLst>
            <a:outerShdw blurRad="63500" dist="25400" dir="8100000" algn="bl" rotWithShape="0">
              <a:srgbClr val="94A3B8">
                <a:alpha val="13000"/>
              </a:srgbClr>
            </a:outerShdw>
          </a:effectLst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PK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9" name="Shape 79">
            <a:extLst>
              <a:ext uri="{FF2B5EF4-FFF2-40B4-BE49-F238E27FC236}">
                <a16:creationId xmlns:a16="http://schemas.microsoft.com/office/drawing/2014/main" id="{58F66C70-C193-F7F8-9843-11C86348F2D3}"/>
              </a:ext>
            </a:extLst>
          </p:cNvPr>
          <p:cNvSpPr/>
          <p:nvPr/>
        </p:nvSpPr>
        <p:spPr>
          <a:xfrm>
            <a:off x="12752832" y="9814560"/>
            <a:ext cx="146304" cy="1402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PK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0" name="Shape 80">
            <a:extLst>
              <a:ext uri="{FF2B5EF4-FFF2-40B4-BE49-F238E27FC236}">
                <a16:creationId xmlns:a16="http://schemas.microsoft.com/office/drawing/2014/main" id="{8F42484E-7EE8-7C28-9FFD-7D11E99E6537}"/>
              </a:ext>
            </a:extLst>
          </p:cNvPr>
          <p:cNvSpPr/>
          <p:nvPr/>
        </p:nvSpPr>
        <p:spPr>
          <a:xfrm>
            <a:off x="12899136" y="9814560"/>
            <a:ext cx="3218688" cy="1402080"/>
          </a:xfrm>
          <a:prstGeom prst="rect">
            <a:avLst/>
          </a:prstGeom>
          <a:solidFill>
            <a:srgbClr val="EBF4FF">
              <a:alpha val="70000"/>
            </a:srgbClr>
          </a:solidFill>
          <a:ln w="12700">
            <a:solidFill>
              <a:srgbClr val="DAEAF7"/>
            </a:solidFill>
            <a:prstDash val="solid"/>
          </a:ln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PK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1" name="Text 81">
            <a:extLst>
              <a:ext uri="{FF2B5EF4-FFF2-40B4-BE49-F238E27FC236}">
                <a16:creationId xmlns:a16="http://schemas.microsoft.com/office/drawing/2014/main" id="{B52C0687-33E4-27A9-CC32-195D1786B772}"/>
              </a:ext>
            </a:extLst>
          </p:cNvPr>
          <p:cNvSpPr/>
          <p:nvPr/>
        </p:nvSpPr>
        <p:spPr>
          <a:xfrm>
            <a:off x="13045440" y="9814560"/>
            <a:ext cx="3072384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r>
              <a:rPr lang="en-US" sz="2533" b="1" kern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2533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2" name="Shape 82">
            <a:extLst>
              <a:ext uri="{FF2B5EF4-FFF2-40B4-BE49-F238E27FC236}">
                <a16:creationId xmlns:a16="http://schemas.microsoft.com/office/drawing/2014/main" id="{05691EA9-6BC1-4F25-6CB2-BCDF07EDC69B}"/>
              </a:ext>
            </a:extLst>
          </p:cNvPr>
          <p:cNvSpPr/>
          <p:nvPr/>
        </p:nvSpPr>
        <p:spPr>
          <a:xfrm>
            <a:off x="16117824" y="10058400"/>
            <a:ext cx="24384" cy="914400"/>
          </a:xfrm>
          <a:prstGeom prst="rect">
            <a:avLst/>
          </a:prstGeom>
          <a:solidFill>
            <a:srgbClr val="DAEAF7"/>
          </a:solidFill>
          <a:ln w="12700">
            <a:solidFill>
              <a:srgbClr val="DAEAF7"/>
            </a:solidFill>
            <a:prstDash val="solid"/>
          </a:ln>
        </p:spPr>
        <p:txBody>
          <a:bodyPr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endParaRPr lang="en-PK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3" name="Text 83">
            <a:extLst>
              <a:ext uri="{FF2B5EF4-FFF2-40B4-BE49-F238E27FC236}">
                <a16:creationId xmlns:a16="http://schemas.microsoft.com/office/drawing/2014/main" id="{FE957892-C3FA-5C2A-E9D5-E2A0B32F7FE3}"/>
              </a:ext>
            </a:extLst>
          </p:cNvPr>
          <p:cNvSpPr/>
          <p:nvPr/>
        </p:nvSpPr>
        <p:spPr>
          <a:xfrm>
            <a:off x="16361664" y="9814560"/>
            <a:ext cx="7851648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2438430" hangingPunct="1">
              <a:lnSpc>
                <a:spcPct val="100000"/>
              </a:lnSpc>
              <a:spcBef>
                <a:spcPts val="0"/>
              </a:spcBef>
            </a:pPr>
            <a:r>
              <a:rPr lang="en-US" sz="2347" kern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 ·  Azure / AWS / GCP  ·  Docker / Kubernetes  ·  Cloudflare  ·  CI/CD  ·  Nginx · IIS</a:t>
            </a:r>
            <a:endParaRPr lang="en-US" sz="2347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986698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6304" y="1623568"/>
            <a:ext cx="97536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━ EXPERIENCE LAYER</a:t>
            </a:r>
            <a:endParaRPr lang="en-US" sz="1333" dirty="0">
              <a:solidFill>
                <a:schemeClr val="accent5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072640" y="1916176"/>
            <a:ext cx="2560320" cy="438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560320" y="1916176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3741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Web Portal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169408" y="1916176"/>
            <a:ext cx="2560320" cy="438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657088" y="1916176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3741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Mobile App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66176" y="1916176"/>
            <a:ext cx="2560320" cy="438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753856" y="1916176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3741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Admin Console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1362944" y="1916176"/>
            <a:ext cx="2560320" cy="438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850624" y="1916176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3741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Self-Service Portal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4459712" y="1916176"/>
            <a:ext cx="2560320" cy="438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4947392" y="1916176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3741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Field App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7556480" y="1916176"/>
            <a:ext cx="2560320" cy="438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8044160" y="1916176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3741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IoT Integrations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0653248" y="1916176"/>
            <a:ext cx="2560320" cy="438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1140928" y="1916176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3741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External Partners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46304" y="2428240"/>
            <a:ext cx="97536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━ CORE PLATFORM MODULES</a:t>
            </a:r>
            <a:endParaRPr lang="en-US" sz="1333" dirty="0">
              <a:solidFill>
                <a:schemeClr val="accent5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95072" y="2720848"/>
            <a:ext cx="4992624" cy="14142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95072" y="2720848"/>
            <a:ext cx="4992624" cy="316992"/>
          </a:xfrm>
          <a:prstGeom prst="round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02735" y="2769616"/>
            <a:ext cx="4411811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E40A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CUSTOMER &amp; SALES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68224" y="3086448"/>
            <a:ext cx="4846320" cy="231648"/>
          </a:xfrm>
          <a:prstGeom prst="round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68224" y="3086448"/>
            <a:ext cx="484632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3741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CRM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68224" y="3342480"/>
            <a:ext cx="4846320" cy="231648"/>
          </a:xfrm>
          <a:prstGeom prst="round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268224" y="3342480"/>
            <a:ext cx="484632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3741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Account Mgmt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268224" y="3598512"/>
            <a:ext cx="4846320" cy="231648"/>
          </a:xfrm>
          <a:prstGeom prst="round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268224" y="3598512"/>
            <a:ext cx="484632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3741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Order Mgmt (CPQ)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268224" y="3854544"/>
            <a:ext cx="4846320" cy="231648"/>
          </a:xfrm>
          <a:prstGeom prst="round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268224" y="3854544"/>
            <a:ext cx="484632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3741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Products &amp; Catalog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309616" y="2720848"/>
            <a:ext cx="4992624" cy="14142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5309616" y="2720848"/>
            <a:ext cx="4992624" cy="316992"/>
          </a:xfrm>
          <a:prstGeom prst="roundRect">
            <a:avLst/>
          </a:prstGeom>
          <a:solidFill>
            <a:srgbClr val="FEF3C7"/>
          </a:solidFill>
          <a:ln w="635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754624" y="2720848"/>
            <a:ext cx="4474464" cy="300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92400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OPERATIONS &amp; PROJECTS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382768" y="3086448"/>
            <a:ext cx="4846320" cy="231648"/>
          </a:xfrm>
          <a:prstGeom prst="round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382768" y="3086448"/>
            <a:ext cx="484632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3741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Project Mgmt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5382768" y="3342480"/>
            <a:ext cx="4846320" cy="231648"/>
          </a:xfrm>
          <a:prstGeom prst="round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382768" y="3342480"/>
            <a:ext cx="484632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3741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Ticket Mgmt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5382768" y="3598512"/>
            <a:ext cx="4846320" cy="231648"/>
          </a:xfrm>
          <a:prstGeom prst="round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5382768" y="3598512"/>
            <a:ext cx="484632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3741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Event Mgmt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5382768" y="3854544"/>
            <a:ext cx="4846320" cy="231648"/>
          </a:xfrm>
          <a:prstGeom prst="round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5382768" y="3854544"/>
            <a:ext cx="484632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3741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Diagnostics &amp; Fault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10424160" y="2720848"/>
            <a:ext cx="4992624" cy="14142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10424160" y="2720848"/>
            <a:ext cx="4992624" cy="316992"/>
          </a:xfrm>
          <a:prstGeom prst="roundRect">
            <a:avLst/>
          </a:prstGeom>
          <a:solidFill>
            <a:srgbClr val="D1FAE5"/>
          </a:solidFill>
          <a:ln w="635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10826496" y="2720848"/>
            <a:ext cx="4517136" cy="300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065F4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FIELD &amp; ASSETS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10497312" y="3086448"/>
            <a:ext cx="4846320" cy="231648"/>
          </a:xfrm>
          <a:prstGeom prst="round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10497312" y="3086448"/>
            <a:ext cx="484632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3741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Field Force Automation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10497312" y="3342480"/>
            <a:ext cx="4846320" cy="231648"/>
          </a:xfrm>
          <a:prstGeom prst="round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10497312" y="3342480"/>
            <a:ext cx="484632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3741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Inventory Mgmt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10497312" y="3598512"/>
            <a:ext cx="4846320" cy="231648"/>
          </a:xfrm>
          <a:prstGeom prst="round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10497312" y="3598512"/>
            <a:ext cx="484632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3741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IoT Tracking/Telemetry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10497312" y="3854544"/>
            <a:ext cx="4846320" cy="231648"/>
          </a:xfrm>
          <a:prstGeom prst="round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10497312" y="3854544"/>
            <a:ext cx="484632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3741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Roster/Team Mgmt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15538704" y="2720848"/>
            <a:ext cx="4992624" cy="14142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5B4FC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15538704" y="2720848"/>
            <a:ext cx="4992624" cy="316992"/>
          </a:xfrm>
          <a:prstGeom prst="roundRect">
            <a:avLst/>
          </a:prstGeom>
          <a:solidFill>
            <a:srgbClr val="E0E7FF"/>
          </a:solidFill>
          <a:ln w="6350">
            <a:solidFill>
              <a:srgbClr val="A5B4FC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15922752" y="2720848"/>
            <a:ext cx="4535424" cy="300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3730A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SPATIAL &amp; TOPOLOGY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15611856" y="3086448"/>
            <a:ext cx="4846320" cy="231648"/>
          </a:xfrm>
          <a:prstGeom prst="round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15611856" y="3086448"/>
            <a:ext cx="484632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3741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GIS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15611856" y="3342480"/>
            <a:ext cx="4846320" cy="231648"/>
          </a:xfrm>
          <a:prstGeom prst="round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15611856" y="3342480"/>
            <a:ext cx="484632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3741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Network Diagrams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15611856" y="3598512"/>
            <a:ext cx="4846320" cy="231648"/>
          </a:xfrm>
          <a:prstGeom prst="round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15611856" y="3598512"/>
            <a:ext cx="484632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3741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Coverage Maps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15611856" y="3854544"/>
            <a:ext cx="4846320" cy="231648"/>
          </a:xfrm>
          <a:prstGeom prst="round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15611856" y="3854544"/>
            <a:ext cx="484632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3741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Asset Locations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20653248" y="2720848"/>
            <a:ext cx="3535680" cy="14142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B4FE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20653248" y="2720848"/>
            <a:ext cx="3535680" cy="316992"/>
          </a:xfrm>
          <a:prstGeom prst="roundRect">
            <a:avLst/>
          </a:prstGeom>
          <a:solidFill>
            <a:srgbClr val="F3E8FF"/>
          </a:solidFill>
          <a:ln w="6350">
            <a:solidFill>
              <a:srgbClr val="D8B4FE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21116544" y="2720848"/>
            <a:ext cx="299923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6B21A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MASTER DATA &amp; DOCS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20726400" y="3086448"/>
            <a:ext cx="3389376" cy="316992"/>
          </a:xfrm>
          <a:prstGeom prst="round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8" name="Text 76"/>
          <p:cNvSpPr/>
          <p:nvPr/>
        </p:nvSpPr>
        <p:spPr>
          <a:xfrm>
            <a:off x="20726400" y="3086448"/>
            <a:ext cx="338937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3741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Entity Mgmt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9" name="Shape 77"/>
          <p:cNvSpPr/>
          <p:nvPr/>
        </p:nvSpPr>
        <p:spPr>
          <a:xfrm>
            <a:off x="20726400" y="3427824"/>
            <a:ext cx="3389376" cy="316992"/>
          </a:xfrm>
          <a:prstGeom prst="round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20726400" y="3427824"/>
            <a:ext cx="338937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3741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Document Mgmt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1" name="Shape 79"/>
          <p:cNvSpPr/>
          <p:nvPr/>
        </p:nvSpPr>
        <p:spPr>
          <a:xfrm>
            <a:off x="20726400" y="3769200"/>
            <a:ext cx="3389376" cy="316992"/>
          </a:xfrm>
          <a:prstGeom prst="round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2" name="Text 80"/>
          <p:cNvSpPr/>
          <p:nvPr/>
        </p:nvSpPr>
        <p:spPr>
          <a:xfrm>
            <a:off x="20726400" y="3769200"/>
            <a:ext cx="338937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3741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Checklists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146304" y="4208272"/>
            <a:ext cx="97536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━ CONTROL PLANE / EXECUTION LAYER</a:t>
            </a:r>
            <a:endParaRPr lang="en-US" sz="1333" dirty="0">
              <a:solidFill>
                <a:schemeClr val="accent5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4" name="Shape 82"/>
          <p:cNvSpPr/>
          <p:nvPr/>
        </p:nvSpPr>
        <p:spPr>
          <a:xfrm>
            <a:off x="195072" y="4500880"/>
            <a:ext cx="23993856" cy="975360"/>
          </a:xfrm>
          <a:prstGeom prst="roundRect">
            <a:avLst/>
          </a:prstGeom>
          <a:solidFill>
            <a:srgbClr val="0C4A6E"/>
          </a:solidFill>
          <a:ln w="1905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438912" y="4566581"/>
            <a:ext cx="2487168" cy="853440"/>
          </a:xfrm>
          <a:prstGeom prst="roundRect">
            <a:avLst/>
          </a:prstGeom>
          <a:solidFill>
            <a:srgbClr val="075985"/>
          </a:solidFill>
          <a:ln w="63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7" name="Text 85"/>
          <p:cNvSpPr/>
          <p:nvPr/>
        </p:nvSpPr>
        <p:spPr>
          <a:xfrm>
            <a:off x="438912" y="5005493"/>
            <a:ext cx="2487168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E0F2F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Orchestration</a:t>
            </a:r>
            <a:endParaRPr lang="en-US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3072384" y="4566581"/>
            <a:ext cx="2487168" cy="853440"/>
          </a:xfrm>
          <a:prstGeom prst="roundRect">
            <a:avLst/>
          </a:prstGeom>
          <a:solidFill>
            <a:srgbClr val="075985"/>
          </a:solidFill>
          <a:ln w="63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0" name="Text 88"/>
          <p:cNvSpPr/>
          <p:nvPr/>
        </p:nvSpPr>
        <p:spPr>
          <a:xfrm>
            <a:off x="3072384" y="5005493"/>
            <a:ext cx="2487168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E0F2F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SLA Engine</a:t>
            </a:r>
            <a:endParaRPr lang="en-US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1" name="Shape 89"/>
          <p:cNvSpPr/>
          <p:nvPr/>
        </p:nvSpPr>
        <p:spPr>
          <a:xfrm>
            <a:off x="5705856" y="4566581"/>
            <a:ext cx="2487168" cy="853440"/>
          </a:xfrm>
          <a:prstGeom prst="roundRect">
            <a:avLst/>
          </a:prstGeom>
          <a:solidFill>
            <a:srgbClr val="075985"/>
          </a:solidFill>
          <a:ln w="63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3" name="Text 91"/>
          <p:cNvSpPr/>
          <p:nvPr/>
        </p:nvSpPr>
        <p:spPr>
          <a:xfrm>
            <a:off x="5705856" y="5005493"/>
            <a:ext cx="2487168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E0F2F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Unified Rules</a:t>
            </a:r>
            <a:endParaRPr lang="en-US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4" name="Shape 92"/>
          <p:cNvSpPr/>
          <p:nvPr/>
        </p:nvSpPr>
        <p:spPr>
          <a:xfrm>
            <a:off x="8339328" y="4566581"/>
            <a:ext cx="2487168" cy="853440"/>
          </a:xfrm>
          <a:prstGeom prst="roundRect">
            <a:avLst/>
          </a:prstGeom>
          <a:solidFill>
            <a:srgbClr val="075985"/>
          </a:solidFill>
          <a:ln w="63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6" name="Text 94"/>
          <p:cNvSpPr/>
          <p:nvPr/>
        </p:nvSpPr>
        <p:spPr>
          <a:xfrm>
            <a:off x="8339328" y="5005493"/>
            <a:ext cx="2487168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E0F2F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AI Decisioning</a:t>
            </a:r>
            <a:endParaRPr lang="en-US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7" name="Shape 95"/>
          <p:cNvSpPr/>
          <p:nvPr/>
        </p:nvSpPr>
        <p:spPr>
          <a:xfrm>
            <a:off x="10972800" y="4566581"/>
            <a:ext cx="2487168" cy="853440"/>
          </a:xfrm>
          <a:prstGeom prst="roundRect">
            <a:avLst/>
          </a:prstGeom>
          <a:solidFill>
            <a:srgbClr val="075985"/>
          </a:solidFill>
          <a:ln w="63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9" name="Text 97"/>
          <p:cNvSpPr/>
          <p:nvPr/>
        </p:nvSpPr>
        <p:spPr>
          <a:xfrm>
            <a:off x="10972800" y="5005493"/>
            <a:ext cx="2487168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E0F2F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Scheduling</a:t>
            </a:r>
            <a:endParaRPr lang="en-US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0" name="Shape 98"/>
          <p:cNvSpPr/>
          <p:nvPr/>
        </p:nvSpPr>
        <p:spPr>
          <a:xfrm>
            <a:off x="13606272" y="4566581"/>
            <a:ext cx="2487168" cy="853440"/>
          </a:xfrm>
          <a:prstGeom prst="roundRect">
            <a:avLst/>
          </a:prstGeom>
          <a:solidFill>
            <a:srgbClr val="075985"/>
          </a:solidFill>
          <a:ln w="63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2" name="Text 100"/>
          <p:cNvSpPr/>
          <p:nvPr/>
        </p:nvSpPr>
        <p:spPr>
          <a:xfrm>
            <a:off x="13606272" y="5005493"/>
            <a:ext cx="2487168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E0F2F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Approvals</a:t>
            </a:r>
            <a:endParaRPr lang="en-US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3" name="Shape 101"/>
          <p:cNvSpPr/>
          <p:nvPr/>
        </p:nvSpPr>
        <p:spPr>
          <a:xfrm>
            <a:off x="16239744" y="4566581"/>
            <a:ext cx="2487168" cy="853440"/>
          </a:xfrm>
          <a:prstGeom prst="roundRect">
            <a:avLst/>
          </a:prstGeom>
          <a:solidFill>
            <a:srgbClr val="075985"/>
          </a:solidFill>
          <a:ln w="63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5" name="Text 103"/>
          <p:cNvSpPr/>
          <p:nvPr/>
        </p:nvSpPr>
        <p:spPr>
          <a:xfrm>
            <a:off x="16239744" y="5005493"/>
            <a:ext cx="2487168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E0F2F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Queue Mgmt</a:t>
            </a:r>
            <a:endParaRPr lang="en-US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6" name="Shape 104"/>
          <p:cNvSpPr/>
          <p:nvPr/>
        </p:nvSpPr>
        <p:spPr>
          <a:xfrm>
            <a:off x="18873216" y="4566581"/>
            <a:ext cx="2487168" cy="853440"/>
          </a:xfrm>
          <a:prstGeom prst="roundRect">
            <a:avLst/>
          </a:prstGeom>
          <a:solidFill>
            <a:srgbClr val="075985"/>
          </a:solidFill>
          <a:ln w="63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8" name="Text 106"/>
          <p:cNvSpPr/>
          <p:nvPr/>
        </p:nvSpPr>
        <p:spPr>
          <a:xfrm>
            <a:off x="18873216" y="5005493"/>
            <a:ext cx="2487168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E0F2F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Policy Engine</a:t>
            </a:r>
            <a:endParaRPr lang="en-US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9" name="Shape 107"/>
          <p:cNvSpPr/>
          <p:nvPr/>
        </p:nvSpPr>
        <p:spPr>
          <a:xfrm>
            <a:off x="21506688" y="4566581"/>
            <a:ext cx="2487168" cy="853440"/>
          </a:xfrm>
          <a:prstGeom prst="roundRect">
            <a:avLst/>
          </a:prstGeom>
          <a:solidFill>
            <a:srgbClr val="7C2D12"/>
          </a:solidFill>
          <a:ln w="63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1" name="Text 109"/>
          <p:cNvSpPr/>
          <p:nvPr/>
        </p:nvSpPr>
        <p:spPr>
          <a:xfrm>
            <a:off x="21506688" y="5005493"/>
            <a:ext cx="2487168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ED7A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Notifications</a:t>
            </a:r>
            <a:endParaRPr lang="en-US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2" name="Text 110"/>
          <p:cNvSpPr/>
          <p:nvPr/>
        </p:nvSpPr>
        <p:spPr>
          <a:xfrm>
            <a:off x="146304" y="5573776"/>
            <a:ext cx="97536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━ AUTOMATION &amp; INTELLIGENCE LAYER</a:t>
            </a:r>
            <a:endParaRPr lang="en-US" sz="1333" dirty="0">
              <a:solidFill>
                <a:schemeClr val="accent5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3" name="Shape 111"/>
          <p:cNvSpPr/>
          <p:nvPr/>
        </p:nvSpPr>
        <p:spPr>
          <a:xfrm>
            <a:off x="195072" y="5866384"/>
            <a:ext cx="7851648" cy="1341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 sz="12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4" name="Shape 112"/>
          <p:cNvSpPr/>
          <p:nvPr/>
        </p:nvSpPr>
        <p:spPr>
          <a:xfrm>
            <a:off x="195072" y="5866384"/>
            <a:ext cx="7851648" cy="316992"/>
          </a:xfrm>
          <a:prstGeom prst="roundRect">
            <a:avLst/>
          </a:prstGeom>
          <a:solidFill>
            <a:srgbClr val="FEF3C7"/>
          </a:solidFill>
          <a:ln w="635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6" name="Text 114"/>
          <p:cNvSpPr/>
          <p:nvPr/>
        </p:nvSpPr>
        <p:spPr>
          <a:xfrm>
            <a:off x="536448" y="5866384"/>
            <a:ext cx="741273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92400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BUSINESS PROCESS AUTOMATION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7" name="Shape 115"/>
          <p:cNvSpPr/>
          <p:nvPr/>
        </p:nvSpPr>
        <p:spPr>
          <a:xfrm>
            <a:off x="268224" y="6240059"/>
            <a:ext cx="3779520" cy="268224"/>
          </a:xfrm>
          <a:prstGeom prst="round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8" name="Text 116"/>
          <p:cNvSpPr/>
          <p:nvPr/>
        </p:nvSpPr>
        <p:spPr>
          <a:xfrm>
            <a:off x="268224" y="6240059"/>
            <a:ext cx="37795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3741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BPMN Designer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9" name="Shape 117"/>
          <p:cNvSpPr/>
          <p:nvPr/>
        </p:nvSpPr>
        <p:spPr>
          <a:xfrm>
            <a:off x="4145280" y="6240059"/>
            <a:ext cx="3779520" cy="268224"/>
          </a:xfrm>
          <a:prstGeom prst="round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0" name="Text 118"/>
          <p:cNvSpPr/>
          <p:nvPr/>
        </p:nvSpPr>
        <p:spPr>
          <a:xfrm>
            <a:off x="4145280" y="6240059"/>
            <a:ext cx="37795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3741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Workflow Engine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1" name="Shape 119"/>
          <p:cNvSpPr/>
          <p:nvPr/>
        </p:nvSpPr>
        <p:spPr>
          <a:xfrm>
            <a:off x="268224" y="6557051"/>
            <a:ext cx="3779520" cy="268224"/>
          </a:xfrm>
          <a:prstGeom prst="round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2" name="Text 120"/>
          <p:cNvSpPr/>
          <p:nvPr/>
        </p:nvSpPr>
        <p:spPr>
          <a:xfrm>
            <a:off x="268224" y="6557051"/>
            <a:ext cx="37795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3741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Human in-loop Approval Flows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3" name="Shape 121"/>
          <p:cNvSpPr/>
          <p:nvPr/>
        </p:nvSpPr>
        <p:spPr>
          <a:xfrm>
            <a:off x="4145280" y="6557051"/>
            <a:ext cx="3779520" cy="268224"/>
          </a:xfrm>
          <a:prstGeom prst="round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4" name="Text 122"/>
          <p:cNvSpPr/>
          <p:nvPr/>
        </p:nvSpPr>
        <p:spPr>
          <a:xfrm>
            <a:off x="4145280" y="6557051"/>
            <a:ext cx="37795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3741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Event Listener &amp;Triggers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5" name="Shape 123"/>
          <p:cNvSpPr/>
          <p:nvPr/>
        </p:nvSpPr>
        <p:spPr>
          <a:xfrm>
            <a:off x="268224" y="6874043"/>
            <a:ext cx="3779520" cy="268224"/>
          </a:xfrm>
          <a:prstGeom prst="round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6" name="Text 124"/>
          <p:cNvSpPr/>
          <p:nvPr/>
        </p:nvSpPr>
        <p:spPr>
          <a:xfrm>
            <a:off x="268224" y="6874043"/>
            <a:ext cx="37795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3741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Rule Engine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7" name="Shape 125"/>
          <p:cNvSpPr/>
          <p:nvPr/>
        </p:nvSpPr>
        <p:spPr>
          <a:xfrm>
            <a:off x="4145280" y="6874043"/>
            <a:ext cx="3779520" cy="268224"/>
          </a:xfrm>
          <a:prstGeom prst="round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8" name="Text 126"/>
          <p:cNvSpPr/>
          <p:nvPr/>
        </p:nvSpPr>
        <p:spPr>
          <a:xfrm>
            <a:off x="4145280" y="6874043"/>
            <a:ext cx="37795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3741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Process Analytics &amp; Audit Trails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9" name="Shape 127"/>
          <p:cNvSpPr/>
          <p:nvPr/>
        </p:nvSpPr>
        <p:spPr>
          <a:xfrm>
            <a:off x="8193024" y="5866384"/>
            <a:ext cx="7851648" cy="1341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DA4AF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0" name="Shape 128"/>
          <p:cNvSpPr/>
          <p:nvPr/>
        </p:nvSpPr>
        <p:spPr>
          <a:xfrm>
            <a:off x="8193024" y="5866384"/>
            <a:ext cx="7851648" cy="316992"/>
          </a:xfrm>
          <a:prstGeom prst="roundRect">
            <a:avLst/>
          </a:prstGeom>
          <a:solidFill>
            <a:srgbClr val="FFE4E6"/>
          </a:solidFill>
          <a:ln w="6350">
            <a:solidFill>
              <a:srgbClr val="FDA4AF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2" name="Text 130"/>
          <p:cNvSpPr/>
          <p:nvPr/>
        </p:nvSpPr>
        <p:spPr>
          <a:xfrm>
            <a:off x="8534400" y="5866384"/>
            <a:ext cx="741273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9F123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RPA &amp; AUTOMATION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3" name="Shape 131"/>
          <p:cNvSpPr/>
          <p:nvPr/>
        </p:nvSpPr>
        <p:spPr>
          <a:xfrm>
            <a:off x="8266176" y="6240059"/>
            <a:ext cx="3779520" cy="268224"/>
          </a:xfrm>
          <a:prstGeom prst="round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4" name="Text 132"/>
          <p:cNvSpPr/>
          <p:nvPr/>
        </p:nvSpPr>
        <p:spPr>
          <a:xfrm>
            <a:off x="8266176" y="6240059"/>
            <a:ext cx="37795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3741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RPA/BOT Orchestrations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5" name="Shape 133"/>
          <p:cNvSpPr/>
          <p:nvPr/>
        </p:nvSpPr>
        <p:spPr>
          <a:xfrm>
            <a:off x="12143232" y="6240059"/>
            <a:ext cx="3779520" cy="268224"/>
          </a:xfrm>
          <a:prstGeom prst="round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6" name="Text 134"/>
          <p:cNvSpPr/>
          <p:nvPr/>
        </p:nvSpPr>
        <p:spPr>
          <a:xfrm>
            <a:off x="12143232" y="6240059"/>
            <a:ext cx="37795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3741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Task Automation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7" name="Shape 135"/>
          <p:cNvSpPr/>
          <p:nvPr/>
        </p:nvSpPr>
        <p:spPr>
          <a:xfrm>
            <a:off x="8266176" y="6557051"/>
            <a:ext cx="3779520" cy="268224"/>
          </a:xfrm>
          <a:prstGeom prst="round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8" name="Text 136"/>
          <p:cNvSpPr/>
          <p:nvPr/>
        </p:nvSpPr>
        <p:spPr>
          <a:xfrm>
            <a:off x="8266176" y="6557051"/>
            <a:ext cx="37795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3741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 Extraction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9" name="Shape 137"/>
          <p:cNvSpPr/>
          <p:nvPr/>
        </p:nvSpPr>
        <p:spPr>
          <a:xfrm>
            <a:off x="12143232" y="6557051"/>
            <a:ext cx="3779520" cy="268224"/>
          </a:xfrm>
          <a:prstGeom prst="round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0" name="Text 138"/>
          <p:cNvSpPr/>
          <p:nvPr/>
        </p:nvSpPr>
        <p:spPr>
          <a:xfrm>
            <a:off x="12143232" y="6557051"/>
            <a:ext cx="37795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3741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System Integration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1" name="Shape 139"/>
          <p:cNvSpPr/>
          <p:nvPr/>
        </p:nvSpPr>
        <p:spPr>
          <a:xfrm>
            <a:off x="8266176" y="6874043"/>
            <a:ext cx="3779520" cy="268224"/>
          </a:xfrm>
          <a:prstGeom prst="round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2" name="Text 140"/>
          <p:cNvSpPr/>
          <p:nvPr/>
        </p:nvSpPr>
        <p:spPr>
          <a:xfrm>
            <a:off x="8266176" y="6874043"/>
            <a:ext cx="37795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3741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Scheduled Jobs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3" name="Shape 141"/>
          <p:cNvSpPr/>
          <p:nvPr/>
        </p:nvSpPr>
        <p:spPr>
          <a:xfrm>
            <a:off x="12143232" y="6874043"/>
            <a:ext cx="3779520" cy="268224"/>
          </a:xfrm>
          <a:prstGeom prst="round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4" name="Text 142"/>
          <p:cNvSpPr/>
          <p:nvPr/>
        </p:nvSpPr>
        <p:spPr>
          <a:xfrm>
            <a:off x="12143232" y="6874043"/>
            <a:ext cx="37795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3741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Auto-Assignment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5" name="Shape 143"/>
          <p:cNvSpPr/>
          <p:nvPr/>
        </p:nvSpPr>
        <p:spPr>
          <a:xfrm>
            <a:off x="16190976" y="5866384"/>
            <a:ext cx="7851648" cy="1341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6" name="Shape 144"/>
          <p:cNvSpPr/>
          <p:nvPr/>
        </p:nvSpPr>
        <p:spPr>
          <a:xfrm>
            <a:off x="16190976" y="5866384"/>
            <a:ext cx="7851648" cy="316992"/>
          </a:xfrm>
          <a:prstGeom prst="roundRect">
            <a:avLst/>
          </a:prstGeom>
          <a:solidFill>
            <a:srgbClr val="D1FAE5"/>
          </a:solidFill>
          <a:ln w="635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8" name="Text 146"/>
          <p:cNvSpPr/>
          <p:nvPr/>
        </p:nvSpPr>
        <p:spPr>
          <a:xfrm>
            <a:off x="16532352" y="5866384"/>
            <a:ext cx="741273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065F4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AI &amp; ML INTEGRATION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9" name="Shape 147"/>
          <p:cNvSpPr/>
          <p:nvPr/>
        </p:nvSpPr>
        <p:spPr>
          <a:xfrm>
            <a:off x="16264128" y="6240059"/>
            <a:ext cx="3779520" cy="268224"/>
          </a:xfrm>
          <a:prstGeom prst="round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0" name="Text 148"/>
          <p:cNvSpPr/>
          <p:nvPr/>
        </p:nvSpPr>
        <p:spPr>
          <a:xfrm>
            <a:off x="16264128" y="6240059"/>
            <a:ext cx="37795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3741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Predictive Analytics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1" name="Shape 149"/>
          <p:cNvSpPr/>
          <p:nvPr/>
        </p:nvSpPr>
        <p:spPr>
          <a:xfrm>
            <a:off x="20141184" y="6240059"/>
            <a:ext cx="3779520" cy="268224"/>
          </a:xfrm>
          <a:prstGeom prst="round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2" name="Text 150"/>
          <p:cNvSpPr/>
          <p:nvPr/>
        </p:nvSpPr>
        <p:spPr>
          <a:xfrm>
            <a:off x="20141184" y="6240059"/>
            <a:ext cx="37795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3741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Smart Routing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3" name="Shape 151"/>
          <p:cNvSpPr/>
          <p:nvPr/>
        </p:nvSpPr>
        <p:spPr>
          <a:xfrm>
            <a:off x="16264128" y="6557051"/>
            <a:ext cx="3779520" cy="268224"/>
          </a:xfrm>
          <a:prstGeom prst="round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4" name="Text 152"/>
          <p:cNvSpPr/>
          <p:nvPr/>
        </p:nvSpPr>
        <p:spPr>
          <a:xfrm>
            <a:off x="16264128" y="6557051"/>
            <a:ext cx="37795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3741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AI Chatbot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5" name="Shape 153"/>
          <p:cNvSpPr/>
          <p:nvPr/>
        </p:nvSpPr>
        <p:spPr>
          <a:xfrm>
            <a:off x="20141184" y="6557051"/>
            <a:ext cx="3779520" cy="268224"/>
          </a:xfrm>
          <a:prstGeom prst="round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6" name="Text 154"/>
          <p:cNvSpPr/>
          <p:nvPr/>
        </p:nvSpPr>
        <p:spPr>
          <a:xfrm>
            <a:off x="20141184" y="6557051"/>
            <a:ext cx="37795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3741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Anomaly Detection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7" name="Shape 155"/>
          <p:cNvSpPr/>
          <p:nvPr/>
        </p:nvSpPr>
        <p:spPr>
          <a:xfrm>
            <a:off x="16264128" y="6874043"/>
            <a:ext cx="3779520" cy="268224"/>
          </a:xfrm>
          <a:prstGeom prst="round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8" name="Text 156"/>
          <p:cNvSpPr/>
          <p:nvPr/>
        </p:nvSpPr>
        <p:spPr>
          <a:xfrm>
            <a:off x="16264128" y="6874043"/>
            <a:ext cx="37795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3741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NLP Processing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9" name="Shape 157"/>
          <p:cNvSpPr/>
          <p:nvPr/>
        </p:nvSpPr>
        <p:spPr>
          <a:xfrm>
            <a:off x="20141184" y="6874043"/>
            <a:ext cx="3779520" cy="268224"/>
          </a:xfrm>
          <a:prstGeom prst="round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0" name="Text 158"/>
          <p:cNvSpPr/>
          <p:nvPr/>
        </p:nvSpPr>
        <p:spPr>
          <a:xfrm>
            <a:off x="20141184" y="6874043"/>
            <a:ext cx="37795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3741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Recommendation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1" name="Text 159"/>
          <p:cNvSpPr/>
          <p:nvPr/>
        </p:nvSpPr>
        <p:spPr>
          <a:xfrm>
            <a:off x="146304" y="7305040"/>
            <a:ext cx="97536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━ ANALYTICS &amp; DATA PIPELINE</a:t>
            </a:r>
            <a:endParaRPr lang="en-US" sz="1333" dirty="0">
              <a:solidFill>
                <a:schemeClr val="accent5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2" name="Shape 160"/>
          <p:cNvSpPr/>
          <p:nvPr/>
        </p:nvSpPr>
        <p:spPr>
          <a:xfrm>
            <a:off x="195072" y="7573264"/>
            <a:ext cx="8778240" cy="975360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3" name="Text 161"/>
          <p:cNvSpPr/>
          <p:nvPr/>
        </p:nvSpPr>
        <p:spPr>
          <a:xfrm>
            <a:off x="603843" y="7573264"/>
            <a:ext cx="29260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6653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DATA PIPELINE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4" name="Shape 162"/>
          <p:cNvSpPr/>
          <p:nvPr/>
        </p:nvSpPr>
        <p:spPr>
          <a:xfrm>
            <a:off x="341376" y="7914640"/>
            <a:ext cx="1999488" cy="536448"/>
          </a:xfrm>
          <a:prstGeom prst="roundRect">
            <a:avLst/>
          </a:prstGeom>
          <a:solidFill>
            <a:srgbClr val="DCFCE7"/>
          </a:solidFill>
          <a:ln w="635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5" name="Text 163"/>
          <p:cNvSpPr/>
          <p:nvPr/>
        </p:nvSpPr>
        <p:spPr>
          <a:xfrm>
            <a:off x="341376" y="7914640"/>
            <a:ext cx="1999488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16653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Event Streaming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6" name="Shape 164"/>
          <p:cNvSpPr/>
          <p:nvPr/>
        </p:nvSpPr>
        <p:spPr>
          <a:xfrm>
            <a:off x="2462784" y="7914640"/>
            <a:ext cx="1999488" cy="536448"/>
          </a:xfrm>
          <a:prstGeom prst="roundRect">
            <a:avLst/>
          </a:prstGeom>
          <a:solidFill>
            <a:srgbClr val="DCFCE7"/>
          </a:solidFill>
          <a:ln w="635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7" name="Text 165"/>
          <p:cNvSpPr/>
          <p:nvPr/>
        </p:nvSpPr>
        <p:spPr>
          <a:xfrm>
            <a:off x="2462784" y="7914640"/>
            <a:ext cx="1999488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16653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ETL/ELT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8" name="Shape 166"/>
          <p:cNvSpPr/>
          <p:nvPr/>
        </p:nvSpPr>
        <p:spPr>
          <a:xfrm>
            <a:off x="4584192" y="7914640"/>
            <a:ext cx="1999488" cy="536448"/>
          </a:xfrm>
          <a:prstGeom prst="roundRect">
            <a:avLst/>
          </a:prstGeom>
          <a:solidFill>
            <a:srgbClr val="DCFCE7"/>
          </a:solidFill>
          <a:ln w="635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9" name="Text 167"/>
          <p:cNvSpPr/>
          <p:nvPr/>
        </p:nvSpPr>
        <p:spPr>
          <a:xfrm>
            <a:off x="4584192" y="7914640"/>
            <a:ext cx="1999488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16653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CDC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0" name="Shape 168"/>
          <p:cNvSpPr/>
          <p:nvPr/>
        </p:nvSpPr>
        <p:spPr>
          <a:xfrm>
            <a:off x="6705600" y="7914640"/>
            <a:ext cx="1999488" cy="536448"/>
          </a:xfrm>
          <a:prstGeom prst="roundRect">
            <a:avLst/>
          </a:prstGeom>
          <a:solidFill>
            <a:srgbClr val="DCFCE7"/>
          </a:solidFill>
          <a:ln w="635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1" name="Text 169"/>
          <p:cNvSpPr/>
          <p:nvPr/>
        </p:nvSpPr>
        <p:spPr>
          <a:xfrm>
            <a:off x="6705600" y="7914640"/>
            <a:ext cx="1999488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16653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 Lake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2" name="Shape 170"/>
          <p:cNvSpPr/>
          <p:nvPr/>
        </p:nvSpPr>
        <p:spPr>
          <a:xfrm>
            <a:off x="9217152" y="7573264"/>
            <a:ext cx="14971776" cy="975360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A5B4FC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3" name="Text 171"/>
          <p:cNvSpPr/>
          <p:nvPr/>
        </p:nvSpPr>
        <p:spPr>
          <a:xfrm>
            <a:off x="9676723" y="7573264"/>
            <a:ext cx="29260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3730A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ANALYTICS &amp; BI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4" name="Shape 172"/>
          <p:cNvSpPr/>
          <p:nvPr/>
        </p:nvSpPr>
        <p:spPr>
          <a:xfrm>
            <a:off x="9460992" y="7914640"/>
            <a:ext cx="2316480" cy="536448"/>
          </a:xfrm>
          <a:prstGeom prst="roundRect">
            <a:avLst/>
          </a:prstGeom>
          <a:solidFill>
            <a:srgbClr val="E0E7FF"/>
          </a:solidFill>
          <a:ln w="6350">
            <a:solidFill>
              <a:srgbClr val="A5B4FC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5" name="Text 173"/>
          <p:cNvSpPr/>
          <p:nvPr/>
        </p:nvSpPr>
        <p:spPr>
          <a:xfrm>
            <a:off x="9460992" y="7914640"/>
            <a:ext cx="231648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3730A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Dashboards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6" name="Shape 174"/>
          <p:cNvSpPr/>
          <p:nvPr/>
        </p:nvSpPr>
        <p:spPr>
          <a:xfrm>
            <a:off x="11875008" y="7914640"/>
            <a:ext cx="2316480" cy="536448"/>
          </a:xfrm>
          <a:prstGeom prst="roundRect">
            <a:avLst/>
          </a:prstGeom>
          <a:solidFill>
            <a:srgbClr val="E0E7FF"/>
          </a:solidFill>
          <a:ln w="6350">
            <a:solidFill>
              <a:srgbClr val="A5B4FC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7" name="Text 175"/>
          <p:cNvSpPr/>
          <p:nvPr/>
        </p:nvSpPr>
        <p:spPr>
          <a:xfrm>
            <a:off x="11875008" y="7914640"/>
            <a:ext cx="231648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3730A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KPI Monitoring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8" name="Shape 176"/>
          <p:cNvSpPr/>
          <p:nvPr/>
        </p:nvSpPr>
        <p:spPr>
          <a:xfrm>
            <a:off x="14289024" y="7914640"/>
            <a:ext cx="2316480" cy="536448"/>
          </a:xfrm>
          <a:prstGeom prst="roundRect">
            <a:avLst/>
          </a:prstGeom>
          <a:solidFill>
            <a:srgbClr val="E0E7FF"/>
          </a:solidFill>
          <a:ln w="6350">
            <a:solidFill>
              <a:srgbClr val="A5B4FC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9" name="Text 177"/>
          <p:cNvSpPr/>
          <p:nvPr/>
        </p:nvSpPr>
        <p:spPr>
          <a:xfrm>
            <a:off x="14289024" y="7914640"/>
            <a:ext cx="231648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3730A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Custom Reports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0" name="Shape 178"/>
          <p:cNvSpPr/>
          <p:nvPr/>
        </p:nvSpPr>
        <p:spPr>
          <a:xfrm>
            <a:off x="16703040" y="7914640"/>
            <a:ext cx="2316480" cy="536448"/>
          </a:xfrm>
          <a:prstGeom prst="roundRect">
            <a:avLst/>
          </a:prstGeom>
          <a:solidFill>
            <a:srgbClr val="E0E7FF"/>
          </a:solidFill>
          <a:ln w="6350">
            <a:solidFill>
              <a:srgbClr val="A5B4FC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1" name="Text 179"/>
          <p:cNvSpPr/>
          <p:nvPr/>
        </p:nvSpPr>
        <p:spPr>
          <a:xfrm>
            <a:off x="16703040" y="7914640"/>
            <a:ext cx="231648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3730A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Query Builder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2" name="Shape 180"/>
          <p:cNvSpPr/>
          <p:nvPr/>
        </p:nvSpPr>
        <p:spPr>
          <a:xfrm>
            <a:off x="19117056" y="7914640"/>
            <a:ext cx="2316480" cy="536448"/>
          </a:xfrm>
          <a:prstGeom prst="roundRect">
            <a:avLst/>
          </a:prstGeom>
          <a:solidFill>
            <a:srgbClr val="E0E7FF"/>
          </a:solidFill>
          <a:ln w="6350">
            <a:solidFill>
              <a:srgbClr val="A5B4FC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3" name="Text 181"/>
          <p:cNvSpPr/>
          <p:nvPr/>
        </p:nvSpPr>
        <p:spPr>
          <a:xfrm>
            <a:off x="19117056" y="7914640"/>
            <a:ext cx="231648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3730A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Parsing Engine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4" name="Shape 182"/>
          <p:cNvSpPr/>
          <p:nvPr/>
        </p:nvSpPr>
        <p:spPr>
          <a:xfrm>
            <a:off x="21531072" y="7914640"/>
            <a:ext cx="2316480" cy="536448"/>
          </a:xfrm>
          <a:prstGeom prst="roundRect">
            <a:avLst/>
          </a:prstGeom>
          <a:solidFill>
            <a:srgbClr val="E0E7FF"/>
          </a:solidFill>
          <a:ln w="6350">
            <a:solidFill>
              <a:srgbClr val="A5B4FC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5" name="Text 183"/>
          <p:cNvSpPr/>
          <p:nvPr/>
        </p:nvSpPr>
        <p:spPr>
          <a:xfrm>
            <a:off x="21531072" y="7914640"/>
            <a:ext cx="231648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3730A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Insights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6" name="Text 184"/>
          <p:cNvSpPr/>
          <p:nvPr/>
        </p:nvSpPr>
        <p:spPr>
          <a:xfrm>
            <a:off x="146304" y="8646160"/>
            <a:ext cx="97536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━ INTEGRATION &amp; SECURITY LAYER</a:t>
            </a:r>
            <a:endParaRPr lang="en-US" sz="1333" dirty="0">
              <a:solidFill>
                <a:schemeClr val="accent5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7" name="Shape 185"/>
          <p:cNvSpPr/>
          <p:nvPr/>
        </p:nvSpPr>
        <p:spPr>
          <a:xfrm>
            <a:off x="195072" y="8938768"/>
            <a:ext cx="12679680" cy="1341120"/>
          </a:xfrm>
          <a:prstGeom prst="roundRect">
            <a:avLst/>
          </a:prstGeom>
          <a:solidFill>
            <a:srgbClr val="1E293B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9" name="Text 187"/>
          <p:cNvSpPr/>
          <p:nvPr/>
        </p:nvSpPr>
        <p:spPr>
          <a:xfrm>
            <a:off x="585216" y="8963152"/>
            <a:ext cx="121920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API &amp; Integration Services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0" name="Shape 188"/>
          <p:cNvSpPr/>
          <p:nvPr/>
        </p:nvSpPr>
        <p:spPr>
          <a:xfrm>
            <a:off x="341376" y="9255760"/>
            <a:ext cx="2682240" cy="92659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1" name="Text 189"/>
          <p:cNvSpPr/>
          <p:nvPr/>
        </p:nvSpPr>
        <p:spPr>
          <a:xfrm>
            <a:off x="341376" y="9255760"/>
            <a:ext cx="2682240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CCFBF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API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/>
            <a:r>
              <a:rPr lang="en-US" sz="1333" b="1" dirty="0">
                <a:solidFill>
                  <a:srgbClr val="CCFBF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Gateway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2" name="Shape 190"/>
          <p:cNvSpPr/>
          <p:nvPr/>
        </p:nvSpPr>
        <p:spPr>
          <a:xfrm>
            <a:off x="3485149" y="9255760"/>
            <a:ext cx="2926080" cy="292608"/>
          </a:xfrm>
          <a:prstGeom prst="roundRect">
            <a:avLst/>
          </a:prstGeom>
          <a:solidFill>
            <a:srgbClr val="334155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3" name="Text 191"/>
          <p:cNvSpPr/>
          <p:nvPr/>
        </p:nvSpPr>
        <p:spPr>
          <a:xfrm>
            <a:off x="3485149" y="92557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E2E8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REST APIs</a:t>
            </a:r>
            <a:endParaRPr lang="en-US" sz="1067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4" name="Shape 192"/>
          <p:cNvSpPr/>
          <p:nvPr/>
        </p:nvSpPr>
        <p:spPr>
          <a:xfrm>
            <a:off x="6508765" y="9255760"/>
            <a:ext cx="2926080" cy="292608"/>
          </a:xfrm>
          <a:prstGeom prst="roundRect">
            <a:avLst/>
          </a:prstGeom>
          <a:solidFill>
            <a:srgbClr val="334155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5" name="Text 193"/>
          <p:cNvSpPr/>
          <p:nvPr/>
        </p:nvSpPr>
        <p:spPr>
          <a:xfrm>
            <a:off x="6508765" y="92557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E2E8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Webhooks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6" name="Shape 194"/>
          <p:cNvSpPr/>
          <p:nvPr/>
        </p:nvSpPr>
        <p:spPr>
          <a:xfrm>
            <a:off x="9532381" y="9255760"/>
            <a:ext cx="2926080" cy="292608"/>
          </a:xfrm>
          <a:prstGeom prst="roundRect">
            <a:avLst/>
          </a:prstGeom>
          <a:solidFill>
            <a:srgbClr val="334155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7" name="Text 195"/>
          <p:cNvSpPr/>
          <p:nvPr/>
        </p:nvSpPr>
        <p:spPr>
          <a:xfrm>
            <a:off x="9532381" y="92557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E2E8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ESB/MQ</a:t>
            </a:r>
            <a:endParaRPr lang="en-US" sz="1067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8" name="Shape 196"/>
          <p:cNvSpPr/>
          <p:nvPr/>
        </p:nvSpPr>
        <p:spPr>
          <a:xfrm>
            <a:off x="3485149" y="9597136"/>
            <a:ext cx="2926080" cy="292608"/>
          </a:xfrm>
          <a:prstGeom prst="roundRect">
            <a:avLst/>
          </a:prstGeom>
          <a:solidFill>
            <a:srgbClr val="334155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9" name="Text 197"/>
          <p:cNvSpPr/>
          <p:nvPr/>
        </p:nvSpPr>
        <p:spPr>
          <a:xfrm>
            <a:off x="3485149" y="959713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E2E8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SSO/LDAP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0" name="Shape 198"/>
          <p:cNvSpPr/>
          <p:nvPr/>
        </p:nvSpPr>
        <p:spPr>
          <a:xfrm>
            <a:off x="6508765" y="9597136"/>
            <a:ext cx="2926080" cy="292608"/>
          </a:xfrm>
          <a:prstGeom prst="roundRect">
            <a:avLst/>
          </a:prstGeom>
          <a:solidFill>
            <a:srgbClr val="334155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1" name="Text 199"/>
          <p:cNvSpPr/>
          <p:nvPr/>
        </p:nvSpPr>
        <p:spPr>
          <a:xfrm>
            <a:off x="6508765" y="959713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E2E8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MuleSoft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2" name="Shape 200"/>
          <p:cNvSpPr/>
          <p:nvPr/>
        </p:nvSpPr>
        <p:spPr>
          <a:xfrm>
            <a:off x="9532381" y="9597136"/>
            <a:ext cx="2926080" cy="292608"/>
          </a:xfrm>
          <a:prstGeom prst="roundRect">
            <a:avLst/>
          </a:prstGeom>
          <a:solidFill>
            <a:srgbClr val="334155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3" name="Text 201"/>
          <p:cNvSpPr/>
          <p:nvPr/>
        </p:nvSpPr>
        <p:spPr>
          <a:xfrm>
            <a:off x="9532381" y="959713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E2E8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Event Bus</a:t>
            </a:r>
            <a:endParaRPr lang="en-US" sz="1067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4" name="Shape 202"/>
          <p:cNvSpPr/>
          <p:nvPr/>
        </p:nvSpPr>
        <p:spPr>
          <a:xfrm>
            <a:off x="3485149" y="9938512"/>
            <a:ext cx="2926080" cy="292608"/>
          </a:xfrm>
          <a:prstGeom prst="roundRect">
            <a:avLst/>
          </a:prstGeom>
          <a:solidFill>
            <a:srgbClr val="334155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5" name="Text 203"/>
          <p:cNvSpPr/>
          <p:nvPr/>
        </p:nvSpPr>
        <p:spPr>
          <a:xfrm>
            <a:off x="3485149" y="9938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E2E8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OAuth 2.0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6" name="Shape 204"/>
          <p:cNvSpPr/>
          <p:nvPr/>
        </p:nvSpPr>
        <p:spPr>
          <a:xfrm>
            <a:off x="6508765" y="9938512"/>
            <a:ext cx="2926080" cy="292608"/>
          </a:xfrm>
          <a:prstGeom prst="roundRect">
            <a:avLst/>
          </a:prstGeom>
          <a:solidFill>
            <a:srgbClr val="334155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7" name="Text 205"/>
          <p:cNvSpPr/>
          <p:nvPr/>
        </p:nvSpPr>
        <p:spPr>
          <a:xfrm>
            <a:off x="6508765" y="9938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E2E8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GraphQL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8" name="Shape 206"/>
          <p:cNvSpPr/>
          <p:nvPr/>
        </p:nvSpPr>
        <p:spPr>
          <a:xfrm>
            <a:off x="9532381" y="9938512"/>
            <a:ext cx="2926080" cy="292608"/>
          </a:xfrm>
          <a:prstGeom prst="roundRect">
            <a:avLst/>
          </a:prstGeom>
          <a:solidFill>
            <a:srgbClr val="334155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9" name="Text 207"/>
          <p:cNvSpPr/>
          <p:nvPr/>
        </p:nvSpPr>
        <p:spPr>
          <a:xfrm>
            <a:off x="9532381" y="9938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E2E8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gRPC</a:t>
            </a:r>
            <a:endParaRPr lang="en-US" sz="1067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0" name="Shape 208"/>
          <p:cNvSpPr/>
          <p:nvPr/>
        </p:nvSpPr>
        <p:spPr>
          <a:xfrm>
            <a:off x="13118592" y="8938768"/>
            <a:ext cx="11070336" cy="1341120"/>
          </a:xfrm>
          <a:prstGeom prst="roundRect">
            <a:avLst/>
          </a:prstGeom>
          <a:solidFill>
            <a:srgbClr val="7F1D1D"/>
          </a:solidFill>
          <a:ln w="9525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2" name="Text 210"/>
          <p:cNvSpPr/>
          <p:nvPr/>
        </p:nvSpPr>
        <p:spPr>
          <a:xfrm>
            <a:off x="13508736" y="8963152"/>
            <a:ext cx="10582656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Security &amp; Compliance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3" name="Shape 211"/>
          <p:cNvSpPr/>
          <p:nvPr/>
        </p:nvSpPr>
        <p:spPr>
          <a:xfrm>
            <a:off x="14226381" y="9263211"/>
            <a:ext cx="3218688" cy="292608"/>
          </a:xfrm>
          <a:prstGeom prst="roundRect">
            <a:avLst/>
          </a:prstGeom>
          <a:solidFill>
            <a:srgbClr val="991B1B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4" name="Text 212"/>
          <p:cNvSpPr/>
          <p:nvPr/>
        </p:nvSpPr>
        <p:spPr>
          <a:xfrm>
            <a:off x="14226381" y="9263211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FECAC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RBAC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5" name="Shape 213"/>
          <p:cNvSpPr/>
          <p:nvPr/>
        </p:nvSpPr>
        <p:spPr>
          <a:xfrm>
            <a:off x="17518221" y="9263211"/>
            <a:ext cx="3218688" cy="292608"/>
          </a:xfrm>
          <a:prstGeom prst="roundRect">
            <a:avLst/>
          </a:prstGeom>
          <a:solidFill>
            <a:srgbClr val="991B1B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6" name="Text 214"/>
          <p:cNvSpPr/>
          <p:nvPr/>
        </p:nvSpPr>
        <p:spPr>
          <a:xfrm>
            <a:off x="17518221" y="9263211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FECAC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Encryption</a:t>
            </a:r>
            <a:endParaRPr lang="en-US" sz="1067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7" name="Shape 215"/>
          <p:cNvSpPr/>
          <p:nvPr/>
        </p:nvSpPr>
        <p:spPr>
          <a:xfrm>
            <a:off x="20810061" y="9263211"/>
            <a:ext cx="3218688" cy="292608"/>
          </a:xfrm>
          <a:prstGeom prst="roundRect">
            <a:avLst/>
          </a:prstGeom>
          <a:solidFill>
            <a:srgbClr val="991B1B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8" name="Text 216"/>
          <p:cNvSpPr/>
          <p:nvPr/>
        </p:nvSpPr>
        <p:spPr>
          <a:xfrm>
            <a:off x="20810061" y="9263211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FECAC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Audit Logs</a:t>
            </a:r>
            <a:endParaRPr lang="en-US" sz="1067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9" name="Shape 217"/>
          <p:cNvSpPr/>
          <p:nvPr/>
        </p:nvSpPr>
        <p:spPr>
          <a:xfrm>
            <a:off x="14226381" y="9604587"/>
            <a:ext cx="3218688" cy="292608"/>
          </a:xfrm>
          <a:prstGeom prst="roundRect">
            <a:avLst/>
          </a:prstGeom>
          <a:solidFill>
            <a:srgbClr val="991B1B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20" name="Text 218"/>
          <p:cNvSpPr/>
          <p:nvPr/>
        </p:nvSpPr>
        <p:spPr>
          <a:xfrm>
            <a:off x="14226381" y="9604587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FECAC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MFA</a:t>
            </a:r>
            <a:endParaRPr lang="en-US" sz="1067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21" name="Shape 219"/>
          <p:cNvSpPr/>
          <p:nvPr/>
        </p:nvSpPr>
        <p:spPr>
          <a:xfrm>
            <a:off x="17518221" y="9604587"/>
            <a:ext cx="3218688" cy="292608"/>
          </a:xfrm>
          <a:prstGeom prst="roundRect">
            <a:avLst/>
          </a:prstGeom>
          <a:solidFill>
            <a:srgbClr val="991B1B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22" name="Text 220"/>
          <p:cNvSpPr/>
          <p:nvPr/>
        </p:nvSpPr>
        <p:spPr>
          <a:xfrm>
            <a:off x="17518221" y="9604587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FECAC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 Privacy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23" name="Shape 221"/>
          <p:cNvSpPr/>
          <p:nvPr/>
        </p:nvSpPr>
        <p:spPr>
          <a:xfrm>
            <a:off x="20810061" y="9604587"/>
            <a:ext cx="3218688" cy="292608"/>
          </a:xfrm>
          <a:prstGeom prst="roundRect">
            <a:avLst/>
          </a:prstGeom>
          <a:solidFill>
            <a:srgbClr val="991B1B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24" name="Text 222"/>
          <p:cNvSpPr/>
          <p:nvPr/>
        </p:nvSpPr>
        <p:spPr>
          <a:xfrm>
            <a:off x="20810061" y="9604587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FECAC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WAF</a:t>
            </a:r>
            <a:endParaRPr lang="en-US" sz="1067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25" name="Shape 223"/>
          <p:cNvSpPr/>
          <p:nvPr/>
        </p:nvSpPr>
        <p:spPr>
          <a:xfrm>
            <a:off x="14226381" y="9945963"/>
            <a:ext cx="3218688" cy="292608"/>
          </a:xfrm>
          <a:prstGeom prst="roundRect">
            <a:avLst/>
          </a:prstGeom>
          <a:solidFill>
            <a:srgbClr val="991B1B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26" name="Text 224"/>
          <p:cNvSpPr/>
          <p:nvPr/>
        </p:nvSpPr>
        <p:spPr>
          <a:xfrm>
            <a:off x="14226381" y="9945963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FECAC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SOC 2</a:t>
            </a:r>
            <a:endParaRPr lang="en-US" sz="1067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27" name="Shape 225"/>
          <p:cNvSpPr/>
          <p:nvPr/>
        </p:nvSpPr>
        <p:spPr>
          <a:xfrm>
            <a:off x="17518221" y="9945963"/>
            <a:ext cx="3218688" cy="292608"/>
          </a:xfrm>
          <a:prstGeom prst="roundRect">
            <a:avLst/>
          </a:prstGeom>
          <a:solidFill>
            <a:srgbClr val="991B1B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28" name="Text 226"/>
          <p:cNvSpPr/>
          <p:nvPr/>
        </p:nvSpPr>
        <p:spPr>
          <a:xfrm>
            <a:off x="17518221" y="9945963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FECAC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GDPR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29" name="Shape 227"/>
          <p:cNvSpPr/>
          <p:nvPr/>
        </p:nvSpPr>
        <p:spPr>
          <a:xfrm>
            <a:off x="20810061" y="9945963"/>
            <a:ext cx="3218688" cy="292608"/>
          </a:xfrm>
          <a:prstGeom prst="roundRect">
            <a:avLst/>
          </a:prstGeom>
          <a:solidFill>
            <a:srgbClr val="991B1B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0" name="Text 228"/>
          <p:cNvSpPr/>
          <p:nvPr/>
        </p:nvSpPr>
        <p:spPr>
          <a:xfrm>
            <a:off x="20810061" y="9945963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FECAC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ISO 27001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1" name="Text 229"/>
          <p:cNvSpPr/>
          <p:nvPr/>
        </p:nvSpPr>
        <p:spPr>
          <a:xfrm>
            <a:off x="146304" y="10353040"/>
            <a:ext cx="97536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━ EXTERNAL SYSTEM INTEGRATIONS</a:t>
            </a:r>
            <a:endParaRPr lang="en-US" sz="1333" dirty="0">
              <a:solidFill>
                <a:schemeClr val="accent5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2" name="Shape 230"/>
          <p:cNvSpPr/>
          <p:nvPr/>
        </p:nvSpPr>
        <p:spPr>
          <a:xfrm>
            <a:off x="438912" y="10645648"/>
            <a:ext cx="1901952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3" name="Text 231"/>
          <p:cNvSpPr/>
          <p:nvPr/>
        </p:nvSpPr>
        <p:spPr>
          <a:xfrm>
            <a:off x="438912" y="10645648"/>
            <a:ext cx="1901952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47556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Salesforce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4" name="Shape 232"/>
          <p:cNvSpPr/>
          <p:nvPr/>
        </p:nvSpPr>
        <p:spPr>
          <a:xfrm>
            <a:off x="2487168" y="10645648"/>
            <a:ext cx="1901952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5" name="Text 233"/>
          <p:cNvSpPr/>
          <p:nvPr/>
        </p:nvSpPr>
        <p:spPr>
          <a:xfrm>
            <a:off x="2487168" y="10645648"/>
            <a:ext cx="1901952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47556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Jira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6" name="Shape 234"/>
          <p:cNvSpPr/>
          <p:nvPr/>
        </p:nvSpPr>
        <p:spPr>
          <a:xfrm>
            <a:off x="4535424" y="10645648"/>
            <a:ext cx="1901952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7" name="Text 235"/>
          <p:cNvSpPr/>
          <p:nvPr/>
        </p:nvSpPr>
        <p:spPr>
          <a:xfrm>
            <a:off x="4535424" y="10645648"/>
            <a:ext cx="1901952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47556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Cerillion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8" name="Shape 236"/>
          <p:cNvSpPr/>
          <p:nvPr/>
        </p:nvSpPr>
        <p:spPr>
          <a:xfrm>
            <a:off x="6583680" y="10645648"/>
            <a:ext cx="1901952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9" name="Text 237"/>
          <p:cNvSpPr/>
          <p:nvPr/>
        </p:nvSpPr>
        <p:spPr>
          <a:xfrm>
            <a:off x="6583680" y="10645648"/>
            <a:ext cx="1901952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47556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SAP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40" name="Shape 238"/>
          <p:cNvSpPr/>
          <p:nvPr/>
        </p:nvSpPr>
        <p:spPr>
          <a:xfrm>
            <a:off x="8631936" y="10645648"/>
            <a:ext cx="1901952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41" name="Text 239"/>
          <p:cNvSpPr/>
          <p:nvPr/>
        </p:nvSpPr>
        <p:spPr>
          <a:xfrm>
            <a:off x="8631936" y="10645648"/>
            <a:ext cx="1901952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47556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Genesys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42" name="Shape 240"/>
          <p:cNvSpPr/>
          <p:nvPr/>
        </p:nvSpPr>
        <p:spPr>
          <a:xfrm>
            <a:off x="10680192" y="10645648"/>
            <a:ext cx="1901952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43" name="Text 241"/>
          <p:cNvSpPr/>
          <p:nvPr/>
        </p:nvSpPr>
        <p:spPr>
          <a:xfrm>
            <a:off x="10680192" y="10645648"/>
            <a:ext cx="1901952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47556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Twilio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44" name="Shape 242"/>
          <p:cNvSpPr/>
          <p:nvPr/>
        </p:nvSpPr>
        <p:spPr>
          <a:xfrm>
            <a:off x="12728448" y="10645648"/>
            <a:ext cx="1901952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45" name="Text 243"/>
          <p:cNvSpPr/>
          <p:nvPr/>
        </p:nvSpPr>
        <p:spPr>
          <a:xfrm>
            <a:off x="12728448" y="10645648"/>
            <a:ext cx="1901952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47556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ServiceNow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46" name="Shape 244"/>
          <p:cNvSpPr/>
          <p:nvPr/>
        </p:nvSpPr>
        <p:spPr>
          <a:xfrm>
            <a:off x="14776704" y="10645648"/>
            <a:ext cx="1901952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47" name="Text 245"/>
          <p:cNvSpPr/>
          <p:nvPr/>
        </p:nvSpPr>
        <p:spPr>
          <a:xfrm>
            <a:off x="14776704" y="10645648"/>
            <a:ext cx="1901952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47556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ArcGIS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48" name="Shape 246"/>
          <p:cNvSpPr/>
          <p:nvPr/>
        </p:nvSpPr>
        <p:spPr>
          <a:xfrm>
            <a:off x="16824960" y="10645648"/>
            <a:ext cx="1901952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49" name="Text 247"/>
          <p:cNvSpPr/>
          <p:nvPr/>
        </p:nvSpPr>
        <p:spPr>
          <a:xfrm>
            <a:off x="16824960" y="10645648"/>
            <a:ext cx="1901952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47556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Google Cloud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50" name="Shape 248"/>
          <p:cNvSpPr/>
          <p:nvPr/>
        </p:nvSpPr>
        <p:spPr>
          <a:xfrm>
            <a:off x="18873216" y="10645648"/>
            <a:ext cx="1901952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51" name="Text 249"/>
          <p:cNvSpPr/>
          <p:nvPr/>
        </p:nvSpPr>
        <p:spPr>
          <a:xfrm>
            <a:off x="18873216" y="10645648"/>
            <a:ext cx="1901952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47556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Azure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52" name="Shape 250"/>
          <p:cNvSpPr/>
          <p:nvPr/>
        </p:nvSpPr>
        <p:spPr>
          <a:xfrm>
            <a:off x="20921472" y="10645648"/>
            <a:ext cx="1901952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53" name="Text 251"/>
          <p:cNvSpPr/>
          <p:nvPr/>
        </p:nvSpPr>
        <p:spPr>
          <a:xfrm>
            <a:off x="20921472" y="10645648"/>
            <a:ext cx="1901952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47556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AWS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54" name="Shape 252"/>
          <p:cNvSpPr/>
          <p:nvPr/>
        </p:nvSpPr>
        <p:spPr>
          <a:xfrm>
            <a:off x="23042880" y="10596880"/>
            <a:ext cx="1170432" cy="7315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sz="1333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55" name="Text 253"/>
          <p:cNvSpPr/>
          <p:nvPr/>
        </p:nvSpPr>
        <p:spPr>
          <a:xfrm>
            <a:off x="23042880" y="10596880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+ more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56" name="Text 254"/>
          <p:cNvSpPr/>
          <p:nvPr/>
        </p:nvSpPr>
        <p:spPr>
          <a:xfrm>
            <a:off x="146304" y="11377168"/>
            <a:ext cx="97536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━ DATA &amp; INFRASTRUCTURE LAYER</a:t>
            </a:r>
            <a:endParaRPr lang="en-US" sz="1333" dirty="0">
              <a:solidFill>
                <a:schemeClr val="accent5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57" name="Shape 255"/>
          <p:cNvSpPr/>
          <p:nvPr/>
        </p:nvSpPr>
        <p:spPr>
          <a:xfrm>
            <a:off x="2194560" y="11669776"/>
            <a:ext cx="19994880" cy="12679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58" name="Shape 256"/>
          <p:cNvSpPr/>
          <p:nvPr/>
        </p:nvSpPr>
        <p:spPr>
          <a:xfrm>
            <a:off x="2883784" y="11767312"/>
            <a:ext cx="2877312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61" name="Shape 259"/>
          <p:cNvSpPr/>
          <p:nvPr/>
        </p:nvSpPr>
        <p:spPr>
          <a:xfrm>
            <a:off x="6004936" y="11767312"/>
            <a:ext cx="2877312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64" name="Shape 262"/>
          <p:cNvSpPr/>
          <p:nvPr/>
        </p:nvSpPr>
        <p:spPr>
          <a:xfrm>
            <a:off x="9126088" y="11767312"/>
            <a:ext cx="2877312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 sz="12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66" name="Text 264"/>
          <p:cNvSpPr/>
          <p:nvPr/>
        </p:nvSpPr>
        <p:spPr>
          <a:xfrm>
            <a:off x="9126088" y="12401296"/>
            <a:ext cx="2877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1E293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PostgreSQL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67" name="Shape 265"/>
          <p:cNvSpPr/>
          <p:nvPr/>
        </p:nvSpPr>
        <p:spPr>
          <a:xfrm>
            <a:off x="12247240" y="11767312"/>
            <a:ext cx="2877312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70" name="Shape 268"/>
          <p:cNvSpPr/>
          <p:nvPr/>
        </p:nvSpPr>
        <p:spPr>
          <a:xfrm>
            <a:off x="15368392" y="11767312"/>
            <a:ext cx="2877312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72" name="Text 270"/>
          <p:cNvSpPr/>
          <p:nvPr/>
        </p:nvSpPr>
        <p:spPr>
          <a:xfrm>
            <a:off x="15368396" y="12557764"/>
            <a:ext cx="2755053" cy="121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1E293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S3/MinIO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73" name="Shape 271"/>
          <p:cNvSpPr/>
          <p:nvPr/>
        </p:nvSpPr>
        <p:spPr>
          <a:xfrm>
            <a:off x="18489544" y="11767312"/>
            <a:ext cx="2877312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75" name="Text 273"/>
          <p:cNvSpPr/>
          <p:nvPr/>
        </p:nvSpPr>
        <p:spPr>
          <a:xfrm>
            <a:off x="18489544" y="12401296"/>
            <a:ext cx="2877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1E293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KAFKA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76" name="Text 274"/>
          <p:cNvSpPr/>
          <p:nvPr/>
        </p:nvSpPr>
        <p:spPr>
          <a:xfrm>
            <a:off x="585220" y="13330497"/>
            <a:ext cx="7903603" cy="35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Flow: Catalog → CPQ → Order Mgmt → BPMN → RPA → Provisioning</a:t>
            </a:r>
            <a:endParaRPr lang="en-US" sz="933" dirty="0"/>
          </a:p>
        </p:txBody>
      </p:sp>
      <p:pic>
        <p:nvPicPr>
          <p:cNvPr id="278" name="Graphic 277">
            <a:extLst>
              <a:ext uri="{FF2B5EF4-FFF2-40B4-BE49-F238E27FC236}">
                <a16:creationId xmlns:a16="http://schemas.microsoft.com/office/drawing/2014/main" id="{5C219A34-E19F-11D7-B7BE-3EC1E2997F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17653" y="1972056"/>
            <a:ext cx="352891" cy="352891"/>
          </a:xfrm>
          <a:prstGeom prst="rect">
            <a:avLst/>
          </a:prstGeom>
        </p:spPr>
      </p:pic>
      <p:pic>
        <p:nvPicPr>
          <p:cNvPr id="280" name="Graphic 279">
            <a:extLst>
              <a:ext uri="{FF2B5EF4-FFF2-40B4-BE49-F238E27FC236}">
                <a16:creationId xmlns:a16="http://schemas.microsoft.com/office/drawing/2014/main" id="{252A7A28-10C8-590F-71FA-D5840F44FB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09893" y="1964944"/>
            <a:ext cx="352891" cy="352891"/>
          </a:xfrm>
          <a:prstGeom prst="rect">
            <a:avLst/>
          </a:prstGeom>
        </p:spPr>
      </p:pic>
      <p:pic>
        <p:nvPicPr>
          <p:cNvPr id="282" name="Graphic 281">
            <a:extLst>
              <a:ext uri="{FF2B5EF4-FFF2-40B4-BE49-F238E27FC236}">
                <a16:creationId xmlns:a16="http://schemas.microsoft.com/office/drawing/2014/main" id="{C2803DC6-8E5D-7431-01A1-716E72AA2E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81600" y="1972056"/>
            <a:ext cx="352891" cy="352891"/>
          </a:xfrm>
          <a:prstGeom prst="rect">
            <a:avLst/>
          </a:prstGeom>
        </p:spPr>
      </p:pic>
      <p:pic>
        <p:nvPicPr>
          <p:cNvPr id="284" name="Graphic 283">
            <a:extLst>
              <a:ext uri="{FF2B5EF4-FFF2-40B4-BE49-F238E27FC236}">
                <a16:creationId xmlns:a16="http://schemas.microsoft.com/office/drawing/2014/main" id="{924D554C-4296-99E0-10A7-ABEE2DF930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62944" y="1940560"/>
            <a:ext cx="352891" cy="352891"/>
          </a:xfrm>
          <a:prstGeom prst="rect">
            <a:avLst/>
          </a:prstGeom>
        </p:spPr>
      </p:pic>
      <p:pic>
        <p:nvPicPr>
          <p:cNvPr id="286" name="Graphic 285">
            <a:extLst>
              <a:ext uri="{FF2B5EF4-FFF2-40B4-BE49-F238E27FC236}">
                <a16:creationId xmlns:a16="http://schemas.microsoft.com/office/drawing/2014/main" id="{E0FA3F2B-1704-E9A3-80B3-8C6E702918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459712" y="1940560"/>
            <a:ext cx="352891" cy="352891"/>
          </a:xfrm>
          <a:prstGeom prst="rect">
            <a:avLst/>
          </a:prstGeom>
        </p:spPr>
      </p:pic>
      <p:pic>
        <p:nvPicPr>
          <p:cNvPr id="288" name="Graphic 287">
            <a:extLst>
              <a:ext uri="{FF2B5EF4-FFF2-40B4-BE49-F238E27FC236}">
                <a16:creationId xmlns:a16="http://schemas.microsoft.com/office/drawing/2014/main" id="{EE1913C0-E2AF-23C7-3588-65D4BAC85E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593733" y="1940560"/>
            <a:ext cx="352891" cy="352891"/>
          </a:xfrm>
          <a:prstGeom prst="rect">
            <a:avLst/>
          </a:prstGeom>
        </p:spPr>
      </p:pic>
      <p:pic>
        <p:nvPicPr>
          <p:cNvPr id="290" name="Graphic 289">
            <a:extLst>
              <a:ext uri="{FF2B5EF4-FFF2-40B4-BE49-F238E27FC236}">
                <a16:creationId xmlns:a16="http://schemas.microsoft.com/office/drawing/2014/main" id="{E191E5A9-5A77-F196-43F0-1E7A45932E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696259" y="1972056"/>
            <a:ext cx="352891" cy="352891"/>
          </a:xfrm>
          <a:prstGeom prst="rect">
            <a:avLst/>
          </a:prstGeom>
        </p:spPr>
      </p:pic>
      <p:pic>
        <p:nvPicPr>
          <p:cNvPr id="294" name="Graphic 293">
            <a:extLst>
              <a:ext uri="{FF2B5EF4-FFF2-40B4-BE49-F238E27FC236}">
                <a16:creationId xmlns:a16="http://schemas.microsoft.com/office/drawing/2014/main" id="{F24F5F8C-E77A-1941-0B5B-BC0F1BE875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41216" y="4651925"/>
            <a:ext cx="365760" cy="365760"/>
          </a:xfrm>
          <a:prstGeom prst="rect">
            <a:avLst/>
          </a:prstGeom>
        </p:spPr>
      </p:pic>
      <p:pic>
        <p:nvPicPr>
          <p:cNvPr id="296" name="Graphic 295">
            <a:extLst>
              <a:ext uri="{FF2B5EF4-FFF2-40B4-BE49-F238E27FC236}">
                <a16:creationId xmlns:a16="http://schemas.microsoft.com/office/drawing/2014/main" id="{2BA1264A-C749-2851-15E7-0143628689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05600" y="4651925"/>
            <a:ext cx="365760" cy="365760"/>
          </a:xfrm>
          <a:prstGeom prst="rect">
            <a:avLst/>
          </a:prstGeom>
        </p:spPr>
      </p:pic>
      <p:pic>
        <p:nvPicPr>
          <p:cNvPr id="298" name="Graphic 297">
            <a:extLst>
              <a:ext uri="{FF2B5EF4-FFF2-40B4-BE49-F238E27FC236}">
                <a16:creationId xmlns:a16="http://schemas.microsoft.com/office/drawing/2014/main" id="{DA732804-E8E3-1276-B87A-AE60BEE40D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429221" y="4639733"/>
            <a:ext cx="365760" cy="365760"/>
          </a:xfrm>
          <a:prstGeom prst="rect">
            <a:avLst/>
          </a:prstGeom>
        </p:spPr>
      </p:pic>
      <p:pic>
        <p:nvPicPr>
          <p:cNvPr id="300" name="Graphic 299">
            <a:extLst>
              <a:ext uri="{FF2B5EF4-FFF2-40B4-BE49-F238E27FC236}">
                <a16:creationId xmlns:a16="http://schemas.microsoft.com/office/drawing/2014/main" id="{1FCA8F62-A960-36B3-9879-7A8DCF2E19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024021" y="4651928"/>
            <a:ext cx="365760" cy="365760"/>
          </a:xfrm>
          <a:prstGeom prst="rect">
            <a:avLst/>
          </a:prstGeom>
        </p:spPr>
      </p:pic>
      <p:pic>
        <p:nvPicPr>
          <p:cNvPr id="302" name="Graphic 301">
            <a:extLst>
              <a:ext uri="{FF2B5EF4-FFF2-40B4-BE49-F238E27FC236}">
                <a16:creationId xmlns:a16="http://schemas.microsoft.com/office/drawing/2014/main" id="{FFC37996-2540-A831-1A3A-8A5C76DA27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4714051" y="4622800"/>
            <a:ext cx="365760" cy="365760"/>
          </a:xfrm>
          <a:prstGeom prst="rect">
            <a:avLst/>
          </a:prstGeom>
        </p:spPr>
      </p:pic>
      <p:pic>
        <p:nvPicPr>
          <p:cNvPr id="304" name="Graphic 303">
            <a:extLst>
              <a:ext uri="{FF2B5EF4-FFF2-40B4-BE49-F238E27FC236}">
                <a16:creationId xmlns:a16="http://schemas.microsoft.com/office/drawing/2014/main" id="{2F1216DF-AD0A-2A52-3920-91A99911F9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7290627" y="4622800"/>
            <a:ext cx="365760" cy="365760"/>
          </a:xfrm>
          <a:prstGeom prst="rect">
            <a:avLst/>
          </a:prstGeom>
        </p:spPr>
      </p:pic>
      <p:pic>
        <p:nvPicPr>
          <p:cNvPr id="306" name="Graphic 305">
            <a:extLst>
              <a:ext uri="{FF2B5EF4-FFF2-40B4-BE49-F238E27FC236}">
                <a16:creationId xmlns:a16="http://schemas.microsoft.com/office/drawing/2014/main" id="{6F286BD1-BF08-B0FB-846C-70836D47F1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9946112" y="4651925"/>
            <a:ext cx="365760" cy="365760"/>
          </a:xfrm>
          <a:prstGeom prst="rect">
            <a:avLst/>
          </a:prstGeom>
        </p:spPr>
      </p:pic>
      <p:pic>
        <p:nvPicPr>
          <p:cNvPr id="308" name="Graphic 307">
            <a:extLst>
              <a:ext uri="{FF2B5EF4-FFF2-40B4-BE49-F238E27FC236}">
                <a16:creationId xmlns:a16="http://schemas.microsoft.com/office/drawing/2014/main" id="{D1735F0A-BC5E-2A8C-B971-7D1AF29E9D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2543008" y="4664117"/>
            <a:ext cx="365760" cy="365760"/>
          </a:xfrm>
          <a:prstGeom prst="rect">
            <a:avLst/>
          </a:prstGeom>
        </p:spPr>
      </p:pic>
      <p:pic>
        <p:nvPicPr>
          <p:cNvPr id="310" name="Graphic 309">
            <a:extLst>
              <a:ext uri="{FF2B5EF4-FFF2-40B4-BE49-F238E27FC236}">
                <a16:creationId xmlns:a16="http://schemas.microsoft.com/office/drawing/2014/main" id="{5914B210-A582-081D-23D2-B3F3C857F9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479296" y="4651928"/>
            <a:ext cx="365760" cy="365760"/>
          </a:xfrm>
          <a:prstGeom prst="rect">
            <a:avLst/>
          </a:prstGeom>
        </p:spPr>
      </p:pic>
      <p:pic>
        <p:nvPicPr>
          <p:cNvPr id="320" name="Graphic 319">
            <a:extLst>
              <a:ext uri="{FF2B5EF4-FFF2-40B4-BE49-F238E27FC236}">
                <a16:creationId xmlns:a16="http://schemas.microsoft.com/office/drawing/2014/main" id="{F755A009-7C73-13FF-E6B6-F5D834C74E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12344" y="5898219"/>
            <a:ext cx="256032" cy="256032"/>
          </a:xfrm>
          <a:prstGeom prst="rect">
            <a:avLst/>
          </a:prstGeom>
        </p:spPr>
      </p:pic>
      <p:pic>
        <p:nvPicPr>
          <p:cNvPr id="322" name="Graphic 321">
            <a:extLst>
              <a:ext uri="{FF2B5EF4-FFF2-40B4-BE49-F238E27FC236}">
                <a16:creationId xmlns:a16="http://schemas.microsoft.com/office/drawing/2014/main" id="{D20A9264-A4CA-E1A6-72E7-31BAE15641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225201" y="5890772"/>
            <a:ext cx="260435" cy="260435"/>
          </a:xfrm>
          <a:prstGeom prst="rect">
            <a:avLst/>
          </a:prstGeom>
        </p:spPr>
      </p:pic>
      <p:pic>
        <p:nvPicPr>
          <p:cNvPr id="324" name="Graphic 323">
            <a:extLst>
              <a:ext uri="{FF2B5EF4-FFF2-40B4-BE49-F238E27FC236}">
                <a16:creationId xmlns:a16="http://schemas.microsoft.com/office/drawing/2014/main" id="{2781CE0A-B227-7F12-35D6-40E616A637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6195044" y="5898559"/>
            <a:ext cx="255693" cy="255693"/>
          </a:xfrm>
          <a:prstGeom prst="rect">
            <a:avLst/>
          </a:prstGeom>
        </p:spPr>
      </p:pic>
      <p:pic>
        <p:nvPicPr>
          <p:cNvPr id="326" name="Graphic 325">
            <a:extLst>
              <a:ext uri="{FF2B5EF4-FFF2-40B4-BE49-F238E27FC236}">
                <a16:creationId xmlns:a16="http://schemas.microsoft.com/office/drawing/2014/main" id="{9515488A-DEBD-B03A-923C-5A54293316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85216" y="9423400"/>
            <a:ext cx="609600" cy="609600"/>
          </a:xfrm>
          <a:prstGeom prst="rect">
            <a:avLst/>
          </a:prstGeom>
        </p:spPr>
      </p:pic>
      <p:pic>
        <p:nvPicPr>
          <p:cNvPr id="328" name="Graphic 327">
            <a:extLst>
              <a:ext uri="{FF2B5EF4-FFF2-40B4-BE49-F238E27FC236}">
                <a16:creationId xmlns:a16="http://schemas.microsoft.com/office/drawing/2014/main" id="{F7EB516A-18B1-1599-ECDB-B5A70599B9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11577" y="8971959"/>
            <a:ext cx="224536" cy="224536"/>
          </a:xfrm>
          <a:prstGeom prst="rect">
            <a:avLst/>
          </a:prstGeom>
        </p:spPr>
      </p:pic>
      <p:pic>
        <p:nvPicPr>
          <p:cNvPr id="330" name="Graphic 329">
            <a:extLst>
              <a:ext uri="{FF2B5EF4-FFF2-40B4-BE49-F238E27FC236}">
                <a16:creationId xmlns:a16="http://schemas.microsoft.com/office/drawing/2014/main" id="{F3E37BC4-9DEB-D6DD-7F92-80EC5E196E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3262864" y="8974664"/>
            <a:ext cx="245872" cy="245872"/>
          </a:xfrm>
          <a:prstGeom prst="rect">
            <a:avLst/>
          </a:prstGeom>
        </p:spPr>
      </p:pic>
      <p:pic>
        <p:nvPicPr>
          <p:cNvPr id="2052" name="Picture 4" descr="Database Week: Microsoft OEMs Redis Enterprise for Azure | ZDNET">
            <a:extLst>
              <a:ext uri="{FF2B5EF4-FFF2-40B4-BE49-F238E27FC236}">
                <a16:creationId xmlns:a16="http://schemas.microsoft.com/office/drawing/2014/main" id="{C3647048-6736-3BFC-EB4E-F5077A5E4B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0781" y="1179576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0" name="Text 258"/>
          <p:cNvSpPr/>
          <p:nvPr/>
        </p:nvSpPr>
        <p:spPr>
          <a:xfrm>
            <a:off x="2883784" y="12401296"/>
            <a:ext cx="2877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1E293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Redis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054" name="Picture 6" descr="Elastic Search SVG and transparent PNG icons | TechIcons">
            <a:extLst>
              <a:ext uri="{FF2B5EF4-FFF2-40B4-BE49-F238E27FC236}">
                <a16:creationId xmlns:a16="http://schemas.microsoft.com/office/drawing/2014/main" id="{DBD2D7CA-B666-3580-BC28-1D22549F8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492" y="11870609"/>
            <a:ext cx="530691" cy="530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3" name="Text 261"/>
          <p:cNvSpPr/>
          <p:nvPr/>
        </p:nvSpPr>
        <p:spPr>
          <a:xfrm>
            <a:off x="6004936" y="12401296"/>
            <a:ext cx="2877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1E293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Elasticsearch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04756AA7-914B-84F2-2E29-CE85E849F1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2444" y="11870605"/>
            <a:ext cx="520221" cy="536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99730266-731A-C350-A7B4-A6C1599D31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2612" y="11795761"/>
            <a:ext cx="666973" cy="63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9" name="Text 267"/>
          <p:cNvSpPr/>
          <p:nvPr/>
        </p:nvSpPr>
        <p:spPr>
          <a:xfrm>
            <a:off x="12247240" y="12401296"/>
            <a:ext cx="2877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1E293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ClickHouse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060" name="Picture 12" descr="Simple S3 Browser – Apps bei Google Play">
            <a:extLst>
              <a:ext uri="{FF2B5EF4-FFF2-40B4-BE49-F238E27FC236}">
                <a16:creationId xmlns:a16="http://schemas.microsoft.com/office/drawing/2014/main" id="{348D7FA5-5DC2-13FE-CCA0-DEF013D4F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91048" y="11877952"/>
            <a:ext cx="552704" cy="552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2" name="Picture 331" descr="Meet Minio, an S3 server you can self-host">
            <a:extLst>
              <a:ext uri="{FF2B5EF4-FFF2-40B4-BE49-F238E27FC236}">
                <a16:creationId xmlns:a16="http://schemas.microsoft.com/office/drawing/2014/main" id="{61DD23C9-B505-7218-DE1D-60793AA864C5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6953353" y="11840465"/>
            <a:ext cx="656168" cy="656168"/>
          </a:xfrm>
          <a:prstGeom prst="rect">
            <a:avLst/>
          </a:prstGeom>
        </p:spPr>
      </p:pic>
      <p:pic>
        <p:nvPicPr>
          <p:cNvPr id="333" name="Picture 332" descr="Apache Kafka SVG and transparent PNG ...">
            <a:extLst>
              <a:ext uri="{FF2B5EF4-FFF2-40B4-BE49-F238E27FC236}">
                <a16:creationId xmlns:a16="http://schemas.microsoft.com/office/drawing/2014/main" id="{D085323E-B3C7-27E1-2BAC-F5E8BC034103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9617473" y="11868913"/>
            <a:ext cx="578952" cy="578952"/>
          </a:xfrm>
          <a:prstGeom prst="rect">
            <a:avLst/>
          </a:prstGeom>
        </p:spPr>
      </p:pic>
      <p:sp>
        <p:nvSpPr>
          <p:cNvPr id="334" name="Text 0">
            <a:extLst>
              <a:ext uri="{FF2B5EF4-FFF2-40B4-BE49-F238E27FC236}">
                <a16:creationId xmlns:a16="http://schemas.microsoft.com/office/drawing/2014/main" id="{F01F1AD1-3663-DEBB-A5F5-366DC415129B}"/>
              </a:ext>
            </a:extLst>
          </p:cNvPr>
          <p:cNvSpPr/>
          <p:nvPr/>
        </p:nvSpPr>
        <p:spPr>
          <a:xfrm>
            <a:off x="609600" y="243840"/>
            <a:ext cx="2362809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6720"/>
              </a:lnSpc>
            </a:pPr>
            <a:r>
              <a:rPr lang="en-US" sz="4000" b="1" dirty="0">
                <a:solidFill>
                  <a:srgbClr val="1E293B"/>
                </a:solidFill>
                <a:latin typeface="Montserrat Bold" panose="00000800000000000000" pitchFamily="2" charset="0"/>
                <a:cs typeface="Segoe UI" pitchFamily="34" charset="-120"/>
              </a:rPr>
              <a:t>AirViewX Detailed Functional Architecture</a:t>
            </a:r>
          </a:p>
        </p:txBody>
      </p:sp>
      <p:sp>
        <p:nvSpPr>
          <p:cNvPr id="335" name="Text 1">
            <a:extLst>
              <a:ext uri="{FF2B5EF4-FFF2-40B4-BE49-F238E27FC236}">
                <a16:creationId xmlns:a16="http://schemas.microsoft.com/office/drawing/2014/main" id="{D5811FC0-909F-2DAE-EE9E-5BCDE98B70B8}"/>
              </a:ext>
            </a:extLst>
          </p:cNvPr>
          <p:cNvSpPr/>
          <p:nvPr/>
        </p:nvSpPr>
        <p:spPr>
          <a:xfrm>
            <a:off x="609600" y="983631"/>
            <a:ext cx="23628096" cy="284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  <a:spcBef>
                <a:spcPts val="400"/>
              </a:spcBef>
            </a:pPr>
            <a:r>
              <a:rPr lang="en-US" sz="1600" dirty="0">
                <a:solidFill>
                  <a:srgbClr val="64748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Unified Business Operating System (UBOS) — Complete Platform Capabilities</a:t>
            </a:r>
            <a:endParaRPr lang="en-US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337" name="Graphic 336">
            <a:extLst>
              <a:ext uri="{FF2B5EF4-FFF2-40B4-BE49-F238E27FC236}">
                <a16:creationId xmlns:a16="http://schemas.microsoft.com/office/drawing/2014/main" id="{253AA89A-027D-15E5-6F6D-AFEDE8E66F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244176" y="2732363"/>
            <a:ext cx="243840" cy="243840"/>
          </a:xfrm>
          <a:prstGeom prst="rect">
            <a:avLst/>
          </a:prstGeom>
        </p:spPr>
      </p:pic>
      <p:pic>
        <p:nvPicPr>
          <p:cNvPr id="339" name="Graphic 338">
            <a:extLst>
              <a:ext uri="{FF2B5EF4-FFF2-40B4-BE49-F238E27FC236}">
                <a16:creationId xmlns:a16="http://schemas.microsoft.com/office/drawing/2014/main" id="{1D4B4001-27E9-8D41-C3B9-71A9586CF8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5358045" y="2720848"/>
            <a:ext cx="243840" cy="243840"/>
          </a:xfrm>
          <a:prstGeom prst="rect">
            <a:avLst/>
          </a:prstGeom>
        </p:spPr>
      </p:pic>
      <p:pic>
        <p:nvPicPr>
          <p:cNvPr id="349" name="Graphic 348">
            <a:extLst>
              <a:ext uri="{FF2B5EF4-FFF2-40B4-BE49-F238E27FC236}">
                <a16:creationId xmlns:a16="http://schemas.microsoft.com/office/drawing/2014/main" id="{9077B532-F90D-7BBF-BAF6-3FC06E185B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5590520" y="2745235"/>
            <a:ext cx="243840" cy="243840"/>
          </a:xfrm>
          <a:prstGeom prst="rect">
            <a:avLst/>
          </a:prstGeom>
        </p:spPr>
      </p:pic>
      <p:pic>
        <p:nvPicPr>
          <p:cNvPr id="351" name="Graphic 350">
            <a:extLst>
              <a:ext uri="{FF2B5EF4-FFF2-40B4-BE49-F238E27FC236}">
                <a16:creationId xmlns:a16="http://schemas.microsoft.com/office/drawing/2014/main" id="{FD45F4BB-040F-04AC-0C14-B72F2BDDE1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20703200" y="2747264"/>
            <a:ext cx="243840" cy="243840"/>
          </a:xfrm>
          <a:prstGeom prst="rect">
            <a:avLst/>
          </a:prstGeom>
        </p:spPr>
      </p:pic>
      <p:pic>
        <p:nvPicPr>
          <p:cNvPr id="355" name="Graphic 354">
            <a:extLst>
              <a:ext uri="{FF2B5EF4-FFF2-40B4-BE49-F238E27FC236}">
                <a16:creationId xmlns:a16="http://schemas.microsoft.com/office/drawing/2014/main" id="{588AD077-698C-749D-05A9-3DB801B87B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0437368" y="2718477"/>
            <a:ext cx="243840" cy="243840"/>
          </a:xfrm>
          <a:prstGeom prst="rect">
            <a:avLst/>
          </a:prstGeom>
        </p:spPr>
      </p:pic>
      <p:pic>
        <p:nvPicPr>
          <p:cNvPr id="360" name="Graphic 359">
            <a:extLst>
              <a:ext uri="{FF2B5EF4-FFF2-40B4-BE49-F238E27FC236}">
                <a16:creationId xmlns:a16="http://schemas.microsoft.com/office/drawing/2014/main" id="{FEF1DF7B-2F96-6B58-2A30-80E5465B20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9308592" y="7585456"/>
            <a:ext cx="304800" cy="304800"/>
          </a:xfrm>
          <a:prstGeom prst="rect">
            <a:avLst/>
          </a:prstGeom>
        </p:spPr>
      </p:pic>
      <p:pic>
        <p:nvPicPr>
          <p:cNvPr id="362" name="Graphic 361">
            <a:extLst>
              <a:ext uri="{FF2B5EF4-FFF2-40B4-BE49-F238E27FC236}">
                <a16:creationId xmlns:a16="http://schemas.microsoft.com/office/drawing/2014/main" id="{3C4C7638-A09F-F34D-C31A-743F525FA9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280077" y="7620339"/>
            <a:ext cx="256032" cy="256032"/>
          </a:xfrm>
          <a:prstGeom prst="rect">
            <a:avLst/>
          </a:prstGeom>
        </p:spPr>
      </p:pic>
      <p:sp>
        <p:nvSpPr>
          <p:cNvPr id="364" name="Shape 252">
            <a:extLst>
              <a:ext uri="{FF2B5EF4-FFF2-40B4-BE49-F238E27FC236}">
                <a16:creationId xmlns:a16="http://schemas.microsoft.com/office/drawing/2014/main" id="{2E0F082C-C4E0-AD80-201B-A5B575D0B085}"/>
              </a:ext>
            </a:extLst>
          </p:cNvPr>
          <p:cNvSpPr/>
          <p:nvPr/>
        </p:nvSpPr>
        <p:spPr>
          <a:xfrm>
            <a:off x="22323552" y="11948157"/>
            <a:ext cx="1170432" cy="7315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sz="1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65" name="Text 253">
            <a:extLst>
              <a:ext uri="{FF2B5EF4-FFF2-40B4-BE49-F238E27FC236}">
                <a16:creationId xmlns:a16="http://schemas.microsoft.com/office/drawing/2014/main" id="{49DD60EB-3879-50C6-E299-8F4FB3EA16C0}"/>
              </a:ext>
            </a:extLst>
          </p:cNvPr>
          <p:cNvSpPr/>
          <p:nvPr/>
        </p:nvSpPr>
        <p:spPr>
          <a:xfrm>
            <a:off x="22323552" y="11948157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+ more</a:t>
            </a:r>
            <a:endParaRPr lang="en-US" sz="13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" name="Icon.png" descr="Icon.png">
            <a:extLst>
              <a:ext uri="{FF2B5EF4-FFF2-40B4-BE49-F238E27FC236}">
                <a16:creationId xmlns:a16="http://schemas.microsoft.com/office/drawing/2014/main" id="{AC8ED3AF-C311-3621-B42A-020AC497A0F8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23071418" y="508004"/>
            <a:ext cx="804589" cy="825501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689E8B-A270-D2A5-CB3E-CF30A464A887}"/>
              </a:ext>
            </a:extLst>
          </p:cNvPr>
          <p:cNvSpPr txBox="1"/>
          <p:nvPr/>
        </p:nvSpPr>
        <p:spPr>
          <a:xfrm>
            <a:off x="22705680" y="13256825"/>
            <a:ext cx="1628972" cy="3877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33" dirty="0">
                <a:solidFill>
                  <a:srgbClr val="FF0000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Rectangle"/>
          <p:cNvSpPr/>
          <p:nvPr/>
        </p:nvSpPr>
        <p:spPr>
          <a:xfrm>
            <a:off x="-1" y="-25545"/>
            <a:ext cx="24383999" cy="2887415"/>
          </a:xfrm>
          <a:prstGeom prst="rect">
            <a:avLst/>
          </a:prstGeom>
          <a:solidFill>
            <a:srgbClr val="FEFFFF"/>
          </a:solidFill>
          <a:ln w="12700">
            <a:miter lim="400000"/>
          </a:ln>
          <a:effectLst>
            <a:outerShdw blurRad="1270000" dist="508000" dir="5400000" rotWithShape="0">
              <a:srgbClr val="000000">
                <a:alpha val="13000"/>
              </a:srgbClr>
            </a:outerShdw>
          </a:effectLst>
        </p:spPr>
        <p:txBody>
          <a:bodyPr lIns="0" tIns="0" rIns="0" bIns="0" anchor="b"/>
          <a:lstStyle/>
          <a:p>
            <a:pPr defTabSz="1828660">
              <a:lnSpc>
                <a:spcPct val="130000"/>
              </a:lnSpc>
              <a:spcBef>
                <a:spcPts val="1200"/>
              </a:spcBef>
              <a:defRPr sz="3600">
                <a:solidFill>
                  <a:srgbClr val="F0F0F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644" name="Rectangle"/>
          <p:cNvSpPr/>
          <p:nvPr/>
        </p:nvSpPr>
        <p:spPr>
          <a:xfrm>
            <a:off x="0" y="12716645"/>
            <a:ext cx="24384000" cy="999354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646" name="Telecom, utilities, Construction/Facilities, Public Sector estimated 40-45% of global demand"/>
          <p:cNvSpPr txBox="1"/>
          <p:nvPr/>
        </p:nvSpPr>
        <p:spPr>
          <a:xfrm>
            <a:off x="5153689" y="13024335"/>
            <a:ext cx="12191999" cy="4565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ctr" defTabSz="1828660">
              <a:lnSpc>
                <a:spcPct val="100000"/>
              </a:lnSpc>
              <a:spcBef>
                <a:spcPts val="0"/>
              </a:spcBef>
              <a:defRPr sz="2300">
                <a:solidFill>
                  <a:srgbClr val="22222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</a:lstStyle>
          <a:p>
            <a:r>
              <a:rPr dirty="0"/>
              <a:t>Telecom, utilities, Construction/Facilities, Public Sector estimated 40-45% of global demand</a:t>
            </a:r>
            <a:r>
              <a:rPr lang="en-US" dirty="0"/>
              <a:t>. </a:t>
            </a:r>
            <a:endParaRPr dirty="0"/>
          </a:p>
        </p:txBody>
      </p:sp>
      <p:pic>
        <p:nvPicPr>
          <p:cNvPr id="648" name="applan.png" descr="applan.png"/>
          <p:cNvPicPr>
            <a:picLocks noChangeAspect="1"/>
          </p:cNvPicPr>
          <p:nvPr/>
        </p:nvPicPr>
        <p:blipFill>
          <a:blip r:embed="rId2">
            <a:alphaModFix amt="6471"/>
          </a:blip>
          <a:stretch>
            <a:fillRect/>
          </a:stretch>
        </p:blipFill>
        <p:spPr>
          <a:xfrm>
            <a:off x="3831173" y="8627325"/>
            <a:ext cx="1322516" cy="508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49" name="boomi.png" descr="boomi.png"/>
          <p:cNvPicPr>
            <a:picLocks noChangeAspect="1"/>
          </p:cNvPicPr>
          <p:nvPr/>
        </p:nvPicPr>
        <p:blipFill>
          <a:blip r:embed="rId3">
            <a:alphaModFix amt="6471"/>
          </a:blip>
          <a:stretch>
            <a:fillRect/>
          </a:stretch>
        </p:blipFill>
        <p:spPr>
          <a:xfrm>
            <a:off x="2405728" y="4864135"/>
            <a:ext cx="1795464" cy="512552"/>
          </a:xfrm>
          <a:prstGeom prst="rect">
            <a:avLst/>
          </a:prstGeom>
          <a:ln w="12700">
            <a:miter lim="400000"/>
          </a:ln>
        </p:spPr>
      </p:pic>
      <p:pic>
        <p:nvPicPr>
          <p:cNvPr id="650" name="jitterbit.png" descr="jitterbit.png"/>
          <p:cNvPicPr>
            <a:picLocks noChangeAspect="1"/>
          </p:cNvPicPr>
          <p:nvPr/>
        </p:nvPicPr>
        <p:blipFill>
          <a:blip r:embed="rId4">
            <a:alphaModFix amt="6471"/>
          </a:blip>
          <a:stretch>
            <a:fillRect/>
          </a:stretch>
        </p:blipFill>
        <p:spPr>
          <a:xfrm>
            <a:off x="2302911" y="4243763"/>
            <a:ext cx="2001098" cy="386716"/>
          </a:xfrm>
          <a:prstGeom prst="rect">
            <a:avLst/>
          </a:prstGeom>
          <a:ln w="12700">
            <a:miter lim="400000"/>
          </a:ln>
        </p:spPr>
      </p:pic>
      <p:pic>
        <p:nvPicPr>
          <p:cNvPr id="651" name="mendix.png" descr="mendix.png"/>
          <p:cNvPicPr>
            <a:picLocks noChangeAspect="1"/>
          </p:cNvPicPr>
          <p:nvPr/>
        </p:nvPicPr>
        <p:blipFill>
          <a:blip r:embed="rId5">
            <a:alphaModFix amt="6471"/>
          </a:blip>
          <a:stretch>
            <a:fillRect/>
          </a:stretch>
        </p:blipFill>
        <p:spPr>
          <a:xfrm>
            <a:off x="3678920" y="7223060"/>
            <a:ext cx="1627022" cy="508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52" name="odoo.png" descr="odoo.png"/>
          <p:cNvPicPr>
            <a:picLocks noChangeAspect="1"/>
          </p:cNvPicPr>
          <p:nvPr/>
        </p:nvPicPr>
        <p:blipFill>
          <a:blip r:embed="rId6">
            <a:alphaModFix amt="6471"/>
          </a:blip>
          <a:stretch>
            <a:fillRect/>
          </a:stretch>
        </p:blipFill>
        <p:spPr>
          <a:xfrm>
            <a:off x="7191371" y="5280960"/>
            <a:ext cx="1912092" cy="607696"/>
          </a:xfrm>
          <a:prstGeom prst="rect">
            <a:avLst/>
          </a:prstGeom>
          <a:ln w="12700">
            <a:miter lim="400000"/>
          </a:ln>
        </p:spPr>
      </p:pic>
      <p:pic>
        <p:nvPicPr>
          <p:cNvPr id="653" name="oracle.png" descr="oracle.png"/>
          <p:cNvPicPr>
            <a:picLocks noChangeAspect="1"/>
          </p:cNvPicPr>
          <p:nvPr/>
        </p:nvPicPr>
        <p:blipFill>
          <a:blip r:embed="rId7">
            <a:alphaModFix amt="6471"/>
          </a:blip>
          <a:stretch>
            <a:fillRect/>
          </a:stretch>
        </p:blipFill>
        <p:spPr>
          <a:xfrm>
            <a:off x="10305968" y="8251101"/>
            <a:ext cx="1448648" cy="184151"/>
          </a:xfrm>
          <a:prstGeom prst="rect">
            <a:avLst/>
          </a:prstGeom>
          <a:ln w="12700">
            <a:miter lim="400000"/>
          </a:ln>
        </p:spPr>
      </p:pic>
      <p:pic>
        <p:nvPicPr>
          <p:cNvPr id="654" name="outsystems.png" descr="outsystems.png"/>
          <p:cNvPicPr>
            <a:picLocks noChangeAspect="1"/>
          </p:cNvPicPr>
          <p:nvPr/>
        </p:nvPicPr>
        <p:blipFill>
          <a:blip r:embed="rId8">
            <a:alphaModFix amt="6471"/>
          </a:blip>
          <a:stretch>
            <a:fillRect/>
          </a:stretch>
        </p:blipFill>
        <p:spPr>
          <a:xfrm>
            <a:off x="3267833" y="7911504"/>
            <a:ext cx="2449196" cy="475722"/>
          </a:xfrm>
          <a:prstGeom prst="rect">
            <a:avLst/>
          </a:prstGeom>
          <a:ln w="12700">
            <a:miter lim="400000"/>
          </a:ln>
        </p:spPr>
      </p:pic>
      <p:pic>
        <p:nvPicPr>
          <p:cNvPr id="655" name="salesforce.png" descr="salesforce.png"/>
          <p:cNvPicPr>
            <a:picLocks noChangeAspect="1"/>
          </p:cNvPicPr>
          <p:nvPr/>
        </p:nvPicPr>
        <p:blipFill>
          <a:blip r:embed="rId9">
            <a:alphaModFix amt="6471"/>
          </a:blip>
          <a:stretch>
            <a:fillRect/>
          </a:stretch>
        </p:blipFill>
        <p:spPr>
          <a:xfrm>
            <a:off x="9696812" y="6970352"/>
            <a:ext cx="1405680" cy="986183"/>
          </a:xfrm>
          <a:prstGeom prst="rect">
            <a:avLst/>
          </a:prstGeom>
          <a:ln w="12700">
            <a:miter lim="400000"/>
          </a:ln>
        </p:spPr>
      </p:pic>
      <p:pic>
        <p:nvPicPr>
          <p:cNvPr id="656" name="sap.png" descr="sap.png"/>
          <p:cNvPicPr>
            <a:picLocks noChangeAspect="1"/>
          </p:cNvPicPr>
          <p:nvPr/>
        </p:nvPicPr>
        <p:blipFill>
          <a:blip r:embed="rId10">
            <a:alphaModFix amt="6471"/>
          </a:blip>
          <a:stretch>
            <a:fillRect/>
          </a:stretch>
        </p:blipFill>
        <p:spPr>
          <a:xfrm>
            <a:off x="9173671" y="8050300"/>
            <a:ext cx="1179420" cy="585752"/>
          </a:xfrm>
          <a:prstGeom prst="rect">
            <a:avLst/>
          </a:prstGeom>
          <a:ln w="12700">
            <a:miter lim="400000"/>
          </a:ln>
        </p:spPr>
      </p:pic>
      <p:pic>
        <p:nvPicPr>
          <p:cNvPr id="657" name="workday.png" descr="workday.png"/>
          <p:cNvPicPr>
            <a:picLocks noChangeAspect="1"/>
          </p:cNvPicPr>
          <p:nvPr/>
        </p:nvPicPr>
        <p:blipFill>
          <a:blip r:embed="rId11">
            <a:alphaModFix amt="6471"/>
          </a:blip>
          <a:stretch>
            <a:fillRect/>
          </a:stretch>
        </p:blipFill>
        <p:spPr>
          <a:xfrm>
            <a:off x="9643102" y="8706012"/>
            <a:ext cx="1513100" cy="604626"/>
          </a:xfrm>
          <a:prstGeom prst="rect">
            <a:avLst/>
          </a:prstGeom>
          <a:ln w="12700">
            <a:miter lim="400000"/>
          </a:ln>
        </p:spPr>
      </p:pic>
      <p:pic>
        <p:nvPicPr>
          <p:cNvPr id="658" name="zoho.png" descr="zoho.png"/>
          <p:cNvPicPr>
            <a:picLocks noChangeAspect="1"/>
          </p:cNvPicPr>
          <p:nvPr/>
        </p:nvPicPr>
        <p:blipFill>
          <a:blip r:embed="rId12">
            <a:alphaModFix amt="6471"/>
          </a:blip>
          <a:stretch>
            <a:fillRect/>
          </a:stretch>
        </p:blipFill>
        <p:spPr>
          <a:xfrm>
            <a:off x="7331478" y="4308831"/>
            <a:ext cx="1631879" cy="703581"/>
          </a:xfrm>
          <a:prstGeom prst="rect">
            <a:avLst/>
          </a:prstGeom>
          <a:ln w="12700">
            <a:miter lim="400000"/>
          </a:ln>
        </p:spPr>
      </p:pic>
      <p:sp>
        <p:nvSpPr>
          <p:cNvPr id="659" name="Circle"/>
          <p:cNvSpPr/>
          <p:nvPr/>
        </p:nvSpPr>
        <p:spPr>
          <a:xfrm>
            <a:off x="2973185" y="6630120"/>
            <a:ext cx="3038492" cy="3038492"/>
          </a:xfrm>
          <a:prstGeom prst="ellipse">
            <a:avLst/>
          </a:prstGeom>
          <a:ln w="76200">
            <a:solidFill>
              <a:srgbClr val="37739D">
                <a:alpha val="6471"/>
              </a:srgbClr>
            </a:solidFill>
            <a:miter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661" name="Circle"/>
          <p:cNvSpPr/>
          <p:nvPr/>
        </p:nvSpPr>
        <p:spPr>
          <a:xfrm>
            <a:off x="8880406" y="6630120"/>
            <a:ext cx="3038491" cy="3038492"/>
          </a:xfrm>
          <a:prstGeom prst="ellipse">
            <a:avLst/>
          </a:prstGeom>
          <a:ln w="76200">
            <a:solidFill>
              <a:srgbClr val="3A7B7E">
                <a:alpha val="6471"/>
              </a:srgbClr>
            </a:solidFill>
            <a:miter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662" name="Icon.png" descr="Ico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071413" y="508000"/>
            <a:ext cx="804588" cy="825500"/>
          </a:xfrm>
          <a:prstGeom prst="rect">
            <a:avLst/>
          </a:prstGeom>
          <a:ln w="12700">
            <a:miter lim="400000"/>
          </a:ln>
        </p:spPr>
      </p:pic>
      <p:sp>
        <p:nvSpPr>
          <p:cNvPr id="663" name="The Opportunity: Unified, AI powered service management"/>
          <p:cNvSpPr txBox="1"/>
          <p:nvPr/>
        </p:nvSpPr>
        <p:spPr>
          <a:xfrm>
            <a:off x="370292" y="1134757"/>
            <a:ext cx="22768647" cy="78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/>
          <a:p>
            <a:pPr defTabSz="1828636">
              <a:lnSpc>
                <a:spcPct val="80000"/>
              </a:lnSpc>
              <a:spcBef>
                <a:spcPts val="0"/>
              </a:spcBef>
              <a:defRPr sz="6300" b="1" spc="-175">
                <a:solidFill>
                  <a:srgbClr val="222222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pPr>
            <a:r>
              <a:rPr lang="en-US" sz="5500" b="1" dirty="0">
                <a:latin typeface="Montserrat Bold" panose="00000800000000000000" pitchFamily="2" charset="0"/>
                <a:ea typeface="Open Sans" panose="020B0606030504020204" pitchFamily="34" charset="0"/>
                <a:cs typeface="Open Sans" panose="020B0606030504020204" pitchFamily="34" charset="0"/>
                <a:sym typeface="Montserrat Bold"/>
              </a:rPr>
              <a:t>Beyond iPaaS, Low-Code, and Suites — A New  Operating Layer</a:t>
            </a:r>
            <a:endParaRPr sz="5500" b="0" spc="-161" dirty="0">
              <a:latin typeface="Montserrat Bold" panose="00000800000000000000" pitchFamily="2" charset="0"/>
              <a:ea typeface="Open Sans" panose="020B0606030504020204" pitchFamily="34" charset="0"/>
              <a:cs typeface="Open Sans" panose="020B0606030504020204" pitchFamily="34" charset="0"/>
              <a:sym typeface="Helvetica"/>
            </a:endParaRPr>
          </a:p>
        </p:txBody>
      </p:sp>
      <p:sp>
        <p:nvSpPr>
          <p:cNvPr id="664" name="Zero touch automation / Cross Functional workflows /Physical to digital integration"/>
          <p:cNvSpPr txBox="1"/>
          <p:nvPr/>
        </p:nvSpPr>
        <p:spPr>
          <a:xfrm>
            <a:off x="1107355" y="2010317"/>
            <a:ext cx="15647936" cy="615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>
            <a:lvl1pPr defTabSz="1828660">
              <a:lnSpc>
                <a:spcPct val="130000"/>
              </a:lnSpc>
              <a:spcBef>
                <a:spcPts val="2000"/>
              </a:spcBef>
              <a:defRPr sz="2800" b="1">
                <a:solidFill>
                  <a:srgbClr val="22222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dirty="0"/>
              <a:t>Zero touch automation / Cross Functional workflows /Physical to digital integration</a:t>
            </a:r>
          </a:p>
        </p:txBody>
      </p:sp>
      <p:sp>
        <p:nvSpPr>
          <p:cNvPr id="2" name="$47B TAM with critical vertical pain points">
            <a:extLst>
              <a:ext uri="{FF2B5EF4-FFF2-40B4-BE49-F238E27FC236}">
                <a16:creationId xmlns:a16="http://schemas.microsoft.com/office/drawing/2014/main" id="{8551F07D-2259-6AF2-C130-1E6B908EEF40}"/>
              </a:ext>
            </a:extLst>
          </p:cNvPr>
          <p:cNvSpPr txBox="1"/>
          <p:nvPr/>
        </p:nvSpPr>
        <p:spPr>
          <a:xfrm>
            <a:off x="-1" y="11226086"/>
            <a:ext cx="12191998" cy="615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>
            <a:lvl1pPr defTabSz="1828660">
              <a:lnSpc>
                <a:spcPct val="130000"/>
              </a:lnSpc>
              <a:spcBef>
                <a:spcPts val="2000"/>
              </a:spcBef>
              <a:defRPr sz="2800" b="1">
                <a:solidFill>
                  <a:srgbClr val="22222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 algn="ctr"/>
            <a:r>
              <a:rPr dirty="0"/>
              <a:t>$47B</a:t>
            </a:r>
            <a:r>
              <a:rPr lang="en-US" dirty="0"/>
              <a:t>+ (with 40% CAGR through 2030)</a:t>
            </a:r>
            <a:endParaRPr dirty="0"/>
          </a:p>
        </p:txBody>
      </p:sp>
      <p:pic>
        <p:nvPicPr>
          <p:cNvPr id="665" name="Logo.png" descr="Logo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87254" y="5824936"/>
            <a:ext cx="6376127" cy="1598828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Rectangle">
            <a:extLst>
              <a:ext uri="{FF2B5EF4-FFF2-40B4-BE49-F238E27FC236}">
                <a16:creationId xmlns:a16="http://schemas.microsoft.com/office/drawing/2014/main" id="{C4EB5474-9BF4-6D25-74DC-48DBDD91BEA3}"/>
              </a:ext>
            </a:extLst>
          </p:cNvPr>
          <p:cNvSpPr/>
          <p:nvPr/>
        </p:nvSpPr>
        <p:spPr>
          <a:xfrm>
            <a:off x="12192000" y="2861869"/>
            <a:ext cx="12192000" cy="9847441"/>
          </a:xfrm>
          <a:prstGeom prst="rect">
            <a:avLst/>
          </a:prstGeom>
          <a:solidFill>
            <a:srgbClr val="F2FDF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07ABF52E-E777-9B8F-11F5-1E1776B1C479}"/>
              </a:ext>
            </a:extLst>
          </p:cNvPr>
          <p:cNvSpPr/>
          <p:nvPr/>
        </p:nvSpPr>
        <p:spPr>
          <a:xfrm>
            <a:off x="12984519" y="4036955"/>
            <a:ext cx="10606962" cy="198584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1270000" dist="508000" dir="5400000" rotWithShape="0">
              <a:srgbClr val="000000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 defTabSz="1828660">
              <a:lnSpc>
                <a:spcPct val="130000"/>
              </a:lnSpc>
              <a:spcBef>
                <a:spcPts val="2000"/>
              </a:spcBef>
              <a:defRPr sz="3600">
                <a:solidFill>
                  <a:srgbClr val="F0F0F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5D061E7F-13F8-EB14-944B-EEC4B9BE5693}"/>
              </a:ext>
            </a:extLst>
          </p:cNvPr>
          <p:cNvSpPr/>
          <p:nvPr/>
        </p:nvSpPr>
        <p:spPr>
          <a:xfrm>
            <a:off x="12984519" y="10723463"/>
            <a:ext cx="10606962" cy="1985848"/>
          </a:xfrm>
          <a:prstGeom prst="rect">
            <a:avLst/>
          </a:prstGeom>
          <a:solidFill>
            <a:srgbClr val="FEFFFF"/>
          </a:solidFill>
          <a:ln w="12700">
            <a:miter lim="400000"/>
          </a:ln>
          <a:effectLst>
            <a:outerShdw blurRad="1270000" dist="508000" dir="5400000" rotWithShape="0">
              <a:srgbClr val="000000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 defTabSz="1828660">
              <a:lnSpc>
                <a:spcPct val="130000"/>
              </a:lnSpc>
              <a:spcBef>
                <a:spcPts val="2000"/>
              </a:spcBef>
              <a:defRPr sz="3600">
                <a:solidFill>
                  <a:srgbClr val="F0F0F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F6F30DDE-E5A8-30A1-2E83-D0590E34BA0A}"/>
              </a:ext>
            </a:extLst>
          </p:cNvPr>
          <p:cNvSpPr/>
          <p:nvPr/>
        </p:nvSpPr>
        <p:spPr>
          <a:xfrm>
            <a:off x="12984518" y="8494628"/>
            <a:ext cx="10606964" cy="1985848"/>
          </a:xfrm>
          <a:prstGeom prst="rect">
            <a:avLst/>
          </a:prstGeom>
          <a:solidFill>
            <a:srgbClr val="FEFFFF"/>
          </a:solidFill>
          <a:ln w="12700">
            <a:miter lim="400000"/>
          </a:ln>
          <a:effectLst>
            <a:outerShdw blurRad="1270000" dist="508000" dir="5400000" rotWithShape="0">
              <a:srgbClr val="000000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 defTabSz="1828660">
              <a:lnSpc>
                <a:spcPct val="130000"/>
              </a:lnSpc>
              <a:spcBef>
                <a:spcPts val="2000"/>
              </a:spcBef>
              <a:defRPr sz="3600">
                <a:solidFill>
                  <a:srgbClr val="F0F0F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ECE54390-A86E-714A-753E-A3588C9E9493}"/>
              </a:ext>
            </a:extLst>
          </p:cNvPr>
          <p:cNvSpPr/>
          <p:nvPr/>
        </p:nvSpPr>
        <p:spPr>
          <a:xfrm>
            <a:off x="12984519" y="6265791"/>
            <a:ext cx="10606962" cy="1985848"/>
          </a:xfrm>
          <a:prstGeom prst="rect">
            <a:avLst/>
          </a:prstGeom>
          <a:solidFill>
            <a:srgbClr val="FEFFFF"/>
          </a:solidFill>
          <a:ln w="12700">
            <a:miter lim="400000"/>
          </a:ln>
          <a:effectLst>
            <a:outerShdw blurRad="1270000" dist="508000" dir="5400000" rotWithShape="0">
              <a:srgbClr val="000000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 defTabSz="1828660">
              <a:lnSpc>
                <a:spcPct val="130000"/>
              </a:lnSpc>
              <a:spcBef>
                <a:spcPts val="2000"/>
              </a:spcBef>
              <a:defRPr sz="3600">
                <a:solidFill>
                  <a:srgbClr val="F0F0F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BA962BE4-F89F-0089-DC09-F27C294DBA9A}"/>
              </a:ext>
            </a:extLst>
          </p:cNvPr>
          <p:cNvSpPr/>
          <p:nvPr/>
        </p:nvSpPr>
        <p:spPr>
          <a:xfrm rot="16200000">
            <a:off x="17771009" y="-1930777"/>
            <a:ext cx="1033984" cy="10606965"/>
          </a:xfrm>
          <a:prstGeom prst="rect">
            <a:avLst/>
          </a:prstGeom>
          <a:solidFill>
            <a:srgbClr val="50AA5D"/>
          </a:solidFill>
          <a:ln w="12700">
            <a:miter lim="400000"/>
          </a:ln>
          <a:effectLst>
            <a:outerShdw blurRad="1016000" dist="508000" dir="5400000" rotWithShape="0">
              <a:srgbClr val="000000">
                <a:alpha val="30000"/>
              </a:srgbClr>
            </a:outerShdw>
          </a:effectLst>
        </p:spPr>
        <p:txBody>
          <a:bodyPr lIns="0" tIns="0" rIns="0" bIns="0" anchor="b"/>
          <a:lstStyle/>
          <a:p>
            <a:pPr defTabSz="1828660">
              <a:lnSpc>
                <a:spcPct val="100000"/>
              </a:lnSpc>
              <a:spcBef>
                <a:spcPts val="0"/>
              </a:spcBef>
              <a:defRPr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0" name="High-Value Verticals">
            <a:extLst>
              <a:ext uri="{FF2B5EF4-FFF2-40B4-BE49-F238E27FC236}">
                <a16:creationId xmlns:a16="http://schemas.microsoft.com/office/drawing/2014/main" id="{56B886DE-D492-CA71-6017-4550A88E8300}"/>
              </a:ext>
            </a:extLst>
          </p:cNvPr>
          <p:cNvSpPr txBox="1"/>
          <p:nvPr/>
        </p:nvSpPr>
        <p:spPr>
          <a:xfrm>
            <a:off x="12792056" y="3098174"/>
            <a:ext cx="10984628" cy="5490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algn="ctr" defTabSz="1828636">
              <a:lnSpc>
                <a:spcPct val="80000"/>
              </a:lnSpc>
              <a:spcBef>
                <a:spcPts val="0"/>
              </a:spcBef>
              <a:defRPr sz="4000" b="1" spc="-11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r>
              <a:rPr lang="en-US" sz="3600" dirty="0"/>
              <a:t>Beachhead: High-Pain, High-ROI Verticals</a:t>
            </a:r>
            <a:endParaRPr sz="3600" dirty="0"/>
          </a:p>
        </p:txBody>
      </p:sp>
      <p:sp>
        <p:nvSpPr>
          <p:cNvPr id="11" name="Oval 6">
            <a:extLst>
              <a:ext uri="{FF2B5EF4-FFF2-40B4-BE49-F238E27FC236}">
                <a16:creationId xmlns:a16="http://schemas.microsoft.com/office/drawing/2014/main" id="{03B1C691-84D0-6E5D-FBD7-BA0CC5F8FD59}"/>
              </a:ext>
            </a:extLst>
          </p:cNvPr>
          <p:cNvSpPr/>
          <p:nvPr/>
        </p:nvSpPr>
        <p:spPr>
          <a:xfrm>
            <a:off x="13447382" y="4255463"/>
            <a:ext cx="1548832" cy="1548832"/>
          </a:xfrm>
          <a:prstGeom prst="ellipse">
            <a:avLst/>
          </a:prstGeom>
          <a:solidFill>
            <a:srgbClr val="50AA5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182866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0F0F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2" name="Telecom &amp; Managed Services">
            <a:extLst>
              <a:ext uri="{FF2B5EF4-FFF2-40B4-BE49-F238E27FC236}">
                <a16:creationId xmlns:a16="http://schemas.microsoft.com/office/drawing/2014/main" id="{1FFF3CA5-4D51-9592-9F7F-6A803BF1F104}"/>
              </a:ext>
            </a:extLst>
          </p:cNvPr>
          <p:cNvSpPr txBox="1"/>
          <p:nvPr/>
        </p:nvSpPr>
        <p:spPr>
          <a:xfrm>
            <a:off x="15258772" y="4321461"/>
            <a:ext cx="5385827" cy="665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defTabSz="1828660">
              <a:lnSpc>
                <a:spcPct val="100000"/>
              </a:lnSpc>
              <a:spcBef>
                <a:spcPts val="2400"/>
              </a:spcBef>
              <a:defRPr sz="2800" b="1">
                <a:solidFill>
                  <a:srgbClr val="22222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dirty="0"/>
              <a:t>Telecom &amp; Managed Services</a:t>
            </a:r>
          </a:p>
        </p:txBody>
      </p:sp>
      <p:sp>
        <p:nvSpPr>
          <p:cNvPr id="13" name="Pain: Delayed activations, manual provisioning, gig truck rolls…">
            <a:extLst>
              <a:ext uri="{FF2B5EF4-FFF2-40B4-BE49-F238E27FC236}">
                <a16:creationId xmlns:a16="http://schemas.microsoft.com/office/drawing/2014/main" id="{026C0B19-3ED3-004C-2069-2BFFBEB417B0}"/>
              </a:ext>
            </a:extLst>
          </p:cNvPr>
          <p:cNvSpPr txBox="1"/>
          <p:nvPr/>
        </p:nvSpPr>
        <p:spPr>
          <a:xfrm>
            <a:off x="15258772" y="4950896"/>
            <a:ext cx="7969122" cy="787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defTabSz="1828660">
              <a:lnSpc>
                <a:spcPct val="100000"/>
              </a:lnSpc>
              <a:spcBef>
                <a:spcPts val="0"/>
              </a:spcBef>
              <a:defRPr sz="2000">
                <a:solidFill>
                  <a:srgbClr val="22222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pPr>
            <a:r>
              <a:rPr b="1" dirty="0">
                <a:solidFill>
                  <a:srgbClr val="E07344"/>
                </a:solidFill>
                <a:latin typeface="Open Sans"/>
                <a:ea typeface="Open Sans"/>
                <a:cs typeface="Open Sans"/>
                <a:sym typeface="Open Sans"/>
              </a:rPr>
              <a:t>Pain:</a:t>
            </a:r>
            <a:r>
              <a:rPr dirty="0"/>
              <a:t> Delayed activations, manual provisioning, gig truck rolls</a:t>
            </a:r>
          </a:p>
          <a:p>
            <a:pPr defTabSz="1828660">
              <a:lnSpc>
                <a:spcPct val="100000"/>
              </a:lnSpc>
              <a:spcBef>
                <a:spcPts val="0"/>
              </a:spcBef>
              <a:defRPr sz="2000">
                <a:solidFill>
                  <a:srgbClr val="22222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pPr>
            <a:r>
              <a:rPr b="1" dirty="0">
                <a:solidFill>
                  <a:srgbClr val="50AA5D"/>
                </a:solidFill>
                <a:latin typeface="Open Sans"/>
                <a:ea typeface="Open Sans"/>
                <a:cs typeface="Open Sans"/>
                <a:sym typeface="Open Sans"/>
              </a:rPr>
              <a:t>Need:</a:t>
            </a:r>
            <a:r>
              <a:rPr dirty="0"/>
              <a:t> Zero-touch workflows, deployment automation, asset linage</a:t>
            </a:r>
          </a:p>
        </p:txBody>
      </p:sp>
      <p:sp>
        <p:nvSpPr>
          <p:cNvPr id="14" name="Oval 6">
            <a:extLst>
              <a:ext uri="{FF2B5EF4-FFF2-40B4-BE49-F238E27FC236}">
                <a16:creationId xmlns:a16="http://schemas.microsoft.com/office/drawing/2014/main" id="{7972D69D-6711-6E24-5397-1690A0FD1966}"/>
              </a:ext>
            </a:extLst>
          </p:cNvPr>
          <p:cNvSpPr/>
          <p:nvPr/>
        </p:nvSpPr>
        <p:spPr>
          <a:xfrm>
            <a:off x="13447380" y="10941971"/>
            <a:ext cx="1548833" cy="1548832"/>
          </a:xfrm>
          <a:prstGeom prst="ellipse">
            <a:avLst/>
          </a:prstGeom>
          <a:solidFill>
            <a:srgbClr val="50AA5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182866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0F0F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5" name="Public Sector">
            <a:extLst>
              <a:ext uri="{FF2B5EF4-FFF2-40B4-BE49-F238E27FC236}">
                <a16:creationId xmlns:a16="http://schemas.microsoft.com/office/drawing/2014/main" id="{D59A775B-F739-CAE2-B908-27B3FD01BBD8}"/>
              </a:ext>
            </a:extLst>
          </p:cNvPr>
          <p:cNvSpPr txBox="1"/>
          <p:nvPr/>
        </p:nvSpPr>
        <p:spPr>
          <a:xfrm>
            <a:off x="15271470" y="11007970"/>
            <a:ext cx="5385827" cy="665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defTabSz="1828660">
              <a:lnSpc>
                <a:spcPct val="100000"/>
              </a:lnSpc>
              <a:spcBef>
                <a:spcPts val="2400"/>
              </a:spcBef>
              <a:defRPr sz="2800" b="1">
                <a:solidFill>
                  <a:srgbClr val="22222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Public Sector</a:t>
            </a:r>
          </a:p>
        </p:txBody>
      </p:sp>
      <p:sp>
        <p:nvSpPr>
          <p:cNvPr id="16" name="Pain: Fragmented systems, slow service delivery…">
            <a:extLst>
              <a:ext uri="{FF2B5EF4-FFF2-40B4-BE49-F238E27FC236}">
                <a16:creationId xmlns:a16="http://schemas.microsoft.com/office/drawing/2014/main" id="{FB2EBF0C-6D76-01D9-9D0E-D9E1E6A31A75}"/>
              </a:ext>
            </a:extLst>
          </p:cNvPr>
          <p:cNvSpPr txBox="1"/>
          <p:nvPr/>
        </p:nvSpPr>
        <p:spPr>
          <a:xfrm>
            <a:off x="15271470" y="11637404"/>
            <a:ext cx="7548506" cy="787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defTabSz="1828660">
              <a:lnSpc>
                <a:spcPct val="100000"/>
              </a:lnSpc>
              <a:spcBef>
                <a:spcPts val="0"/>
              </a:spcBef>
              <a:defRPr sz="2000">
                <a:solidFill>
                  <a:srgbClr val="22222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pPr>
            <a:r>
              <a:rPr b="1">
                <a:solidFill>
                  <a:srgbClr val="E07344"/>
                </a:solidFill>
                <a:latin typeface="Open Sans"/>
                <a:ea typeface="Open Sans"/>
                <a:cs typeface="Open Sans"/>
                <a:sym typeface="Open Sans"/>
              </a:rPr>
              <a:t>Pain:</a:t>
            </a:r>
            <a:r>
              <a:t> Fragmented systems, slow service delivery</a:t>
            </a:r>
          </a:p>
          <a:p>
            <a:pPr defTabSz="1828660">
              <a:lnSpc>
                <a:spcPct val="100000"/>
              </a:lnSpc>
              <a:spcBef>
                <a:spcPts val="0"/>
              </a:spcBef>
              <a:defRPr sz="2000">
                <a:solidFill>
                  <a:srgbClr val="22222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pPr>
            <a:r>
              <a:rPr b="1">
                <a:solidFill>
                  <a:srgbClr val="50AA5D"/>
                </a:solidFill>
                <a:latin typeface="Open Sans"/>
                <a:ea typeface="Open Sans"/>
                <a:cs typeface="Open Sans"/>
                <a:sym typeface="Open Sans"/>
              </a:rPr>
              <a:t>Need:</a:t>
            </a:r>
            <a:r>
              <a:t> Integrated citizen services, compliance tracking</a:t>
            </a:r>
          </a:p>
        </p:txBody>
      </p:sp>
      <p:sp>
        <p:nvSpPr>
          <p:cNvPr id="17" name="Oval 6">
            <a:extLst>
              <a:ext uri="{FF2B5EF4-FFF2-40B4-BE49-F238E27FC236}">
                <a16:creationId xmlns:a16="http://schemas.microsoft.com/office/drawing/2014/main" id="{97560F00-4005-BE87-300C-7589BD2CEBC6}"/>
              </a:ext>
            </a:extLst>
          </p:cNvPr>
          <p:cNvSpPr/>
          <p:nvPr/>
        </p:nvSpPr>
        <p:spPr>
          <a:xfrm>
            <a:off x="13447382" y="8713136"/>
            <a:ext cx="1548832" cy="1548833"/>
          </a:xfrm>
          <a:prstGeom prst="ellipse">
            <a:avLst/>
          </a:prstGeom>
          <a:solidFill>
            <a:srgbClr val="50AA5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182866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0F0F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8" name="Construction/Facilities">
            <a:extLst>
              <a:ext uri="{FF2B5EF4-FFF2-40B4-BE49-F238E27FC236}">
                <a16:creationId xmlns:a16="http://schemas.microsoft.com/office/drawing/2014/main" id="{564A6FDD-3805-960F-7351-4FB1AADC7785}"/>
              </a:ext>
            </a:extLst>
          </p:cNvPr>
          <p:cNvSpPr txBox="1"/>
          <p:nvPr/>
        </p:nvSpPr>
        <p:spPr>
          <a:xfrm>
            <a:off x="15258772" y="8779135"/>
            <a:ext cx="5385827" cy="665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defTabSz="1828660">
              <a:lnSpc>
                <a:spcPct val="100000"/>
              </a:lnSpc>
              <a:spcBef>
                <a:spcPts val="2400"/>
              </a:spcBef>
              <a:defRPr sz="2800" b="1">
                <a:solidFill>
                  <a:srgbClr val="22222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Construction/Facilities</a:t>
            </a:r>
          </a:p>
        </p:txBody>
      </p:sp>
      <p:sp>
        <p:nvSpPr>
          <p:cNvPr id="19" name="Pain: Disjointed work orders, inspections, vendor coordination…">
            <a:extLst>
              <a:ext uri="{FF2B5EF4-FFF2-40B4-BE49-F238E27FC236}">
                <a16:creationId xmlns:a16="http://schemas.microsoft.com/office/drawing/2014/main" id="{3CDC657D-FD5D-B3D1-33C2-DB6B872DEF7F}"/>
              </a:ext>
            </a:extLst>
          </p:cNvPr>
          <p:cNvSpPr txBox="1"/>
          <p:nvPr/>
        </p:nvSpPr>
        <p:spPr>
          <a:xfrm>
            <a:off x="15258772" y="9408569"/>
            <a:ext cx="7548505" cy="787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defTabSz="1828660">
              <a:lnSpc>
                <a:spcPct val="100000"/>
              </a:lnSpc>
              <a:spcBef>
                <a:spcPts val="0"/>
              </a:spcBef>
              <a:defRPr sz="2000">
                <a:solidFill>
                  <a:srgbClr val="22222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pPr>
            <a:r>
              <a:rPr b="1">
                <a:solidFill>
                  <a:srgbClr val="E07344"/>
                </a:solidFill>
                <a:latin typeface="Open Sans"/>
                <a:ea typeface="Open Sans"/>
                <a:cs typeface="Open Sans"/>
                <a:sym typeface="Open Sans"/>
              </a:rPr>
              <a:t>Pain:</a:t>
            </a:r>
            <a:r>
              <a:t> Disjointed work orders, inspections, vendor coordination </a:t>
            </a:r>
          </a:p>
          <a:p>
            <a:pPr defTabSz="1828660">
              <a:lnSpc>
                <a:spcPct val="100000"/>
              </a:lnSpc>
              <a:spcBef>
                <a:spcPts val="0"/>
              </a:spcBef>
              <a:defRPr sz="2000">
                <a:solidFill>
                  <a:srgbClr val="22222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pPr>
            <a:r>
              <a:rPr b="1">
                <a:solidFill>
                  <a:srgbClr val="50AA5D"/>
                </a:solidFill>
                <a:latin typeface="Open Sans"/>
                <a:ea typeface="Open Sans"/>
                <a:cs typeface="Open Sans"/>
                <a:sym typeface="Open Sans"/>
              </a:rPr>
              <a:t>Need:</a:t>
            </a:r>
            <a:r>
              <a:t> Scheduling, site handovers, CAFM-style reporting</a:t>
            </a:r>
          </a:p>
        </p:txBody>
      </p:sp>
      <p:sp>
        <p:nvSpPr>
          <p:cNvPr id="20" name="Oval 6">
            <a:extLst>
              <a:ext uri="{FF2B5EF4-FFF2-40B4-BE49-F238E27FC236}">
                <a16:creationId xmlns:a16="http://schemas.microsoft.com/office/drawing/2014/main" id="{1AC7E1C4-ECCB-4FB5-D7ED-467B3F1B480F}"/>
              </a:ext>
            </a:extLst>
          </p:cNvPr>
          <p:cNvSpPr/>
          <p:nvPr/>
        </p:nvSpPr>
        <p:spPr>
          <a:xfrm>
            <a:off x="13447382" y="6484298"/>
            <a:ext cx="1548832" cy="1548832"/>
          </a:xfrm>
          <a:prstGeom prst="ellipse">
            <a:avLst/>
          </a:prstGeom>
          <a:solidFill>
            <a:srgbClr val="50AA5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182866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0F0F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1" name="Utilities/ Energy">
            <a:extLst>
              <a:ext uri="{FF2B5EF4-FFF2-40B4-BE49-F238E27FC236}">
                <a16:creationId xmlns:a16="http://schemas.microsoft.com/office/drawing/2014/main" id="{743DB805-CD0D-799A-CCAB-7C93B4872855}"/>
              </a:ext>
            </a:extLst>
          </p:cNvPr>
          <p:cNvSpPr txBox="1"/>
          <p:nvPr/>
        </p:nvSpPr>
        <p:spPr>
          <a:xfrm>
            <a:off x="15271472" y="6550297"/>
            <a:ext cx="5385827" cy="665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defTabSz="1828660">
              <a:lnSpc>
                <a:spcPct val="100000"/>
              </a:lnSpc>
              <a:spcBef>
                <a:spcPts val="2400"/>
              </a:spcBef>
              <a:defRPr sz="2800" b="1">
                <a:solidFill>
                  <a:srgbClr val="22222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dirty="0"/>
              <a:t>Utilities/ Energy</a:t>
            </a:r>
          </a:p>
        </p:txBody>
      </p:sp>
      <p:sp>
        <p:nvSpPr>
          <p:cNvPr id="22" name="Pain: Legacy EAM + separate ITSM, compliance-heavy changes…">
            <a:extLst>
              <a:ext uri="{FF2B5EF4-FFF2-40B4-BE49-F238E27FC236}">
                <a16:creationId xmlns:a16="http://schemas.microsoft.com/office/drawing/2014/main" id="{383B226A-4725-2EE7-0F6E-34EAA92945A2}"/>
              </a:ext>
            </a:extLst>
          </p:cNvPr>
          <p:cNvSpPr txBox="1"/>
          <p:nvPr/>
        </p:nvSpPr>
        <p:spPr>
          <a:xfrm>
            <a:off x="15271472" y="7179732"/>
            <a:ext cx="7548506" cy="787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defTabSz="1828660">
              <a:lnSpc>
                <a:spcPct val="100000"/>
              </a:lnSpc>
              <a:spcBef>
                <a:spcPts val="0"/>
              </a:spcBef>
              <a:defRPr sz="2000">
                <a:solidFill>
                  <a:srgbClr val="22222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pPr>
            <a:r>
              <a:rPr b="1" dirty="0">
                <a:solidFill>
                  <a:srgbClr val="E07344"/>
                </a:solidFill>
                <a:latin typeface="Open Sans"/>
                <a:ea typeface="Open Sans"/>
                <a:cs typeface="Open Sans"/>
                <a:sym typeface="Open Sans"/>
              </a:rPr>
              <a:t>Pain:</a:t>
            </a:r>
            <a:r>
              <a:rPr dirty="0"/>
              <a:t> Legacy EAM + separate ITSM, compliance-heavy changes</a:t>
            </a:r>
          </a:p>
          <a:p>
            <a:pPr defTabSz="1828660">
              <a:lnSpc>
                <a:spcPct val="100000"/>
              </a:lnSpc>
              <a:spcBef>
                <a:spcPts val="0"/>
              </a:spcBef>
              <a:defRPr sz="2000">
                <a:solidFill>
                  <a:srgbClr val="22222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pPr>
            <a:r>
              <a:rPr b="1" dirty="0">
                <a:solidFill>
                  <a:srgbClr val="50AA5D"/>
                </a:solidFill>
                <a:latin typeface="Open Sans"/>
                <a:ea typeface="Open Sans"/>
                <a:cs typeface="Open Sans"/>
                <a:sym typeface="Open Sans"/>
              </a:rPr>
              <a:t>Need:</a:t>
            </a:r>
            <a:r>
              <a:rPr dirty="0"/>
              <a:t> Unified change field maintenance, mobile safety checks</a:t>
            </a:r>
          </a:p>
        </p:txBody>
      </p:sp>
      <p:sp>
        <p:nvSpPr>
          <p:cNvPr id="23" name="Market Size">
            <a:extLst>
              <a:ext uri="{FF2B5EF4-FFF2-40B4-BE49-F238E27FC236}">
                <a16:creationId xmlns:a16="http://schemas.microsoft.com/office/drawing/2014/main" id="{277BC66A-1D73-8045-45EE-4A6CF39F0D6D}"/>
              </a:ext>
            </a:extLst>
          </p:cNvPr>
          <p:cNvSpPr txBox="1"/>
          <p:nvPr/>
        </p:nvSpPr>
        <p:spPr>
          <a:xfrm>
            <a:off x="13647221" y="5083261"/>
            <a:ext cx="1149152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1244600">
              <a:spcBef>
                <a:spcPts val="1100"/>
              </a:spcBef>
              <a:defRPr sz="14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dirty="0"/>
              <a:t>Market Size</a:t>
            </a:r>
          </a:p>
        </p:txBody>
      </p:sp>
      <p:sp>
        <p:nvSpPr>
          <p:cNvPr id="24" name="$15B">
            <a:extLst>
              <a:ext uri="{FF2B5EF4-FFF2-40B4-BE49-F238E27FC236}">
                <a16:creationId xmlns:a16="http://schemas.microsoft.com/office/drawing/2014/main" id="{CA65D7C7-4A24-BDE1-56B3-E4918FA0358C}"/>
              </a:ext>
            </a:extLst>
          </p:cNvPr>
          <p:cNvSpPr txBox="1"/>
          <p:nvPr/>
        </p:nvSpPr>
        <p:spPr>
          <a:xfrm>
            <a:off x="13686974" y="4633596"/>
            <a:ext cx="1069646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1828636">
              <a:lnSpc>
                <a:spcPct val="80000"/>
              </a:lnSpc>
              <a:spcBef>
                <a:spcPts val="0"/>
              </a:spcBef>
              <a:defRPr sz="3300" b="1" spc="-9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r>
              <a:rPr dirty="0"/>
              <a:t>$15B</a:t>
            </a:r>
          </a:p>
        </p:txBody>
      </p:sp>
      <p:sp>
        <p:nvSpPr>
          <p:cNvPr id="25" name="Market Size">
            <a:extLst>
              <a:ext uri="{FF2B5EF4-FFF2-40B4-BE49-F238E27FC236}">
                <a16:creationId xmlns:a16="http://schemas.microsoft.com/office/drawing/2014/main" id="{74C3C9EC-A0E2-A818-232A-6078A2EE7235}"/>
              </a:ext>
            </a:extLst>
          </p:cNvPr>
          <p:cNvSpPr txBox="1"/>
          <p:nvPr/>
        </p:nvSpPr>
        <p:spPr>
          <a:xfrm>
            <a:off x="13647221" y="7312097"/>
            <a:ext cx="1149152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1244600">
              <a:spcBef>
                <a:spcPts val="1100"/>
              </a:spcBef>
              <a:defRPr sz="14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Market Size</a:t>
            </a:r>
          </a:p>
        </p:txBody>
      </p:sp>
      <p:sp>
        <p:nvSpPr>
          <p:cNvPr id="26" name="$12B">
            <a:extLst>
              <a:ext uri="{FF2B5EF4-FFF2-40B4-BE49-F238E27FC236}">
                <a16:creationId xmlns:a16="http://schemas.microsoft.com/office/drawing/2014/main" id="{DA718DD2-38CE-9E01-B729-22BC90DA1013}"/>
              </a:ext>
            </a:extLst>
          </p:cNvPr>
          <p:cNvSpPr txBox="1"/>
          <p:nvPr/>
        </p:nvSpPr>
        <p:spPr>
          <a:xfrm>
            <a:off x="13686974" y="6862432"/>
            <a:ext cx="1069646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1828636">
              <a:lnSpc>
                <a:spcPct val="80000"/>
              </a:lnSpc>
              <a:spcBef>
                <a:spcPts val="0"/>
              </a:spcBef>
              <a:defRPr sz="3300" b="1" spc="-9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r>
              <a:t>$12B</a:t>
            </a:r>
          </a:p>
        </p:txBody>
      </p:sp>
      <p:sp>
        <p:nvSpPr>
          <p:cNvPr id="27" name="Market Size">
            <a:extLst>
              <a:ext uri="{FF2B5EF4-FFF2-40B4-BE49-F238E27FC236}">
                <a16:creationId xmlns:a16="http://schemas.microsoft.com/office/drawing/2014/main" id="{505EBD5F-3455-8BBF-C6C2-B297FBA27CF0}"/>
              </a:ext>
            </a:extLst>
          </p:cNvPr>
          <p:cNvSpPr txBox="1"/>
          <p:nvPr/>
        </p:nvSpPr>
        <p:spPr>
          <a:xfrm>
            <a:off x="13647222" y="9540933"/>
            <a:ext cx="1149153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1244600">
              <a:spcBef>
                <a:spcPts val="1100"/>
              </a:spcBef>
              <a:defRPr sz="14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Market Size</a:t>
            </a:r>
          </a:p>
        </p:txBody>
      </p:sp>
      <p:sp>
        <p:nvSpPr>
          <p:cNvPr id="28" name="$11B">
            <a:extLst>
              <a:ext uri="{FF2B5EF4-FFF2-40B4-BE49-F238E27FC236}">
                <a16:creationId xmlns:a16="http://schemas.microsoft.com/office/drawing/2014/main" id="{4DE4F91A-6EFB-9AB1-6862-EF51ED939327}"/>
              </a:ext>
            </a:extLst>
          </p:cNvPr>
          <p:cNvSpPr txBox="1"/>
          <p:nvPr/>
        </p:nvSpPr>
        <p:spPr>
          <a:xfrm>
            <a:off x="13698436" y="9091269"/>
            <a:ext cx="1046725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1828636">
              <a:lnSpc>
                <a:spcPct val="80000"/>
              </a:lnSpc>
              <a:spcBef>
                <a:spcPts val="0"/>
              </a:spcBef>
              <a:defRPr sz="3300" b="1" spc="-9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r>
              <a:t>$11B</a:t>
            </a:r>
          </a:p>
        </p:txBody>
      </p:sp>
      <p:sp>
        <p:nvSpPr>
          <p:cNvPr id="29" name="Automated">
            <a:extLst>
              <a:ext uri="{FF2B5EF4-FFF2-40B4-BE49-F238E27FC236}">
                <a16:creationId xmlns:a16="http://schemas.microsoft.com/office/drawing/2014/main" id="{2FAB57F2-2321-A3A3-9717-2A0B52565A75}"/>
              </a:ext>
            </a:extLst>
          </p:cNvPr>
          <p:cNvSpPr txBox="1"/>
          <p:nvPr/>
        </p:nvSpPr>
        <p:spPr>
          <a:xfrm>
            <a:off x="13662891" y="11769769"/>
            <a:ext cx="1117812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1244600">
              <a:spcBef>
                <a:spcPts val="1100"/>
              </a:spcBef>
              <a:defRPr sz="14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Automated</a:t>
            </a:r>
          </a:p>
        </p:txBody>
      </p:sp>
      <p:sp>
        <p:nvSpPr>
          <p:cNvPr id="30" name="$9B">
            <a:extLst>
              <a:ext uri="{FF2B5EF4-FFF2-40B4-BE49-F238E27FC236}">
                <a16:creationId xmlns:a16="http://schemas.microsoft.com/office/drawing/2014/main" id="{BBD3971E-A9C8-3E2C-1935-77EF5A06201C}"/>
              </a:ext>
            </a:extLst>
          </p:cNvPr>
          <p:cNvSpPr txBox="1"/>
          <p:nvPr/>
        </p:nvSpPr>
        <p:spPr>
          <a:xfrm>
            <a:off x="13797695" y="11320105"/>
            <a:ext cx="848204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1828636">
              <a:lnSpc>
                <a:spcPct val="80000"/>
              </a:lnSpc>
              <a:spcBef>
                <a:spcPts val="0"/>
              </a:spcBef>
              <a:defRPr sz="3300" b="1" spc="-9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r>
              <a:t>$9B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97071965-B4A6-E0B8-6E18-B94444A1E41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5550" y="3757874"/>
            <a:ext cx="11876449" cy="6186828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32232B95-67D3-1A94-E007-B40B560BBE79}"/>
              </a:ext>
            </a:extLst>
          </p:cNvPr>
          <p:cNvSpPr/>
          <p:nvPr/>
        </p:nvSpPr>
        <p:spPr>
          <a:xfrm>
            <a:off x="-1" y="2663761"/>
            <a:ext cx="12191997" cy="1087477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6" name="Icon.png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71413" y="508000"/>
            <a:ext cx="804588" cy="825500"/>
          </a:xfrm>
          <a:prstGeom prst="rect">
            <a:avLst/>
          </a:prstGeom>
          <a:ln w="12700">
            <a:miter lim="400000"/>
          </a:ln>
        </p:spPr>
      </p:pic>
      <p:sp>
        <p:nvSpPr>
          <p:cNvPr id="807" name="Pilot case study – fortune 500 telco with 40B+ ARR"/>
          <p:cNvSpPr txBox="1"/>
          <p:nvPr/>
        </p:nvSpPr>
        <p:spPr>
          <a:xfrm>
            <a:off x="1199928" y="731091"/>
            <a:ext cx="20969913" cy="9087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defTabSz="1828636">
              <a:lnSpc>
                <a:spcPct val="80000"/>
              </a:lnSpc>
              <a:spcBef>
                <a:spcPts val="0"/>
              </a:spcBef>
              <a:defRPr sz="6500" b="1" spc="-180">
                <a:solidFill>
                  <a:srgbClr val="222222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r>
              <a:rPr lang="en-US" dirty="0"/>
              <a:t>WFM Module Features Example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D9DD82-C284-79BE-6466-487490BCC3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924" y="1639801"/>
            <a:ext cx="21135703" cy="11888833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Rectangle"/>
          <p:cNvSpPr/>
          <p:nvPr/>
        </p:nvSpPr>
        <p:spPr>
          <a:xfrm>
            <a:off x="18128685" y="10698482"/>
            <a:ext cx="5239955" cy="1128091"/>
          </a:xfrm>
          <a:prstGeom prst="rect">
            <a:avLst/>
          </a:prstGeom>
          <a:solidFill>
            <a:srgbClr val="50AA5D"/>
          </a:solidFill>
          <a:ln w="12700">
            <a:miter lim="400000"/>
          </a:ln>
          <a:effectLst>
            <a:outerShdw blurRad="1270000" dist="508000" dir="5400000" rotWithShape="0">
              <a:srgbClr val="000000">
                <a:alpha val="30000"/>
              </a:srgbClr>
            </a:outerShdw>
          </a:effectLst>
        </p:spPr>
        <p:txBody>
          <a:bodyPr lIns="0" tIns="0" rIns="0" bIns="0" anchor="ctr"/>
          <a:lstStyle/>
          <a:p>
            <a:pPr algn="ctr" defTabSz="182866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0F0F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927" name="Rectangle"/>
          <p:cNvSpPr/>
          <p:nvPr/>
        </p:nvSpPr>
        <p:spPr>
          <a:xfrm>
            <a:off x="12436078" y="10698482"/>
            <a:ext cx="5239955" cy="1128091"/>
          </a:xfrm>
          <a:prstGeom prst="rect">
            <a:avLst/>
          </a:prstGeom>
          <a:solidFill>
            <a:srgbClr val="3A7B7E"/>
          </a:solidFill>
          <a:ln w="12700">
            <a:miter lim="400000"/>
          </a:ln>
          <a:effectLst>
            <a:outerShdw blurRad="1270000" dist="508000" dir="5400000" rotWithShape="0">
              <a:srgbClr val="000000">
                <a:alpha val="30000"/>
              </a:srgbClr>
            </a:outerShdw>
          </a:effectLst>
        </p:spPr>
        <p:txBody>
          <a:bodyPr lIns="0" tIns="0" rIns="0" bIns="0" anchor="ctr"/>
          <a:lstStyle/>
          <a:p>
            <a:pPr algn="ctr" defTabSz="182866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0F0F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928" name="Rectangle"/>
          <p:cNvSpPr/>
          <p:nvPr/>
        </p:nvSpPr>
        <p:spPr>
          <a:xfrm>
            <a:off x="1050862" y="10698482"/>
            <a:ext cx="5239955" cy="1128091"/>
          </a:xfrm>
          <a:prstGeom prst="rect">
            <a:avLst/>
          </a:prstGeom>
          <a:solidFill>
            <a:srgbClr val="3E3FF5"/>
          </a:solidFill>
          <a:ln w="12700">
            <a:miter lim="400000"/>
          </a:ln>
          <a:effectLst>
            <a:outerShdw blurRad="1270000" dist="508000" dir="5400000" rotWithShape="0">
              <a:srgbClr val="000000">
                <a:alpha val="30000"/>
              </a:srgbClr>
            </a:outerShdw>
          </a:effectLst>
        </p:spPr>
        <p:txBody>
          <a:bodyPr lIns="0" tIns="0" rIns="0" bIns="0" anchor="ctr"/>
          <a:lstStyle/>
          <a:p>
            <a:pPr algn="ctr" defTabSz="182866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0F0F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929" name="Rectangle"/>
          <p:cNvSpPr/>
          <p:nvPr/>
        </p:nvSpPr>
        <p:spPr>
          <a:xfrm>
            <a:off x="6743470" y="10698482"/>
            <a:ext cx="5239955" cy="1128091"/>
          </a:xfrm>
          <a:prstGeom prst="rect">
            <a:avLst/>
          </a:prstGeom>
          <a:solidFill>
            <a:srgbClr val="37739D"/>
          </a:solidFill>
          <a:ln w="12700">
            <a:miter lim="400000"/>
          </a:ln>
          <a:effectLst>
            <a:outerShdw blurRad="1016000" dist="508000" dir="5400000" rotWithShape="0">
              <a:srgbClr val="000000">
                <a:alpha val="30000"/>
              </a:srgbClr>
            </a:outerShdw>
          </a:effectLst>
        </p:spPr>
        <p:txBody>
          <a:bodyPr lIns="0" tIns="0" rIns="0" bIns="0" anchor="ctr"/>
          <a:lstStyle/>
          <a:p>
            <a:pPr defTabSz="182866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0F0F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930" name="Rectangle"/>
          <p:cNvSpPr/>
          <p:nvPr/>
        </p:nvSpPr>
        <p:spPr>
          <a:xfrm>
            <a:off x="0" y="12716322"/>
            <a:ext cx="24384000" cy="999678"/>
          </a:xfrm>
          <a:prstGeom prst="rect">
            <a:avLst/>
          </a:prstGeom>
          <a:solidFill>
            <a:srgbClr val="22222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931" name="Rectangle"/>
          <p:cNvSpPr/>
          <p:nvPr/>
        </p:nvSpPr>
        <p:spPr>
          <a:xfrm>
            <a:off x="1050862" y="6895935"/>
            <a:ext cx="5239955" cy="3471311"/>
          </a:xfrm>
          <a:prstGeom prst="rect">
            <a:avLst/>
          </a:prstGeom>
          <a:solidFill>
            <a:srgbClr val="ECF2F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932" name="Icon.png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71413" y="508000"/>
            <a:ext cx="804588" cy="825500"/>
          </a:xfrm>
          <a:prstGeom prst="rect">
            <a:avLst/>
          </a:prstGeom>
          <a:ln w="12700">
            <a:miter lim="400000"/>
          </a:ln>
        </p:spPr>
      </p:pic>
      <p:sp>
        <p:nvSpPr>
          <p:cNvPr id="933" name="Roadmap"/>
          <p:cNvSpPr txBox="1"/>
          <p:nvPr/>
        </p:nvSpPr>
        <p:spPr>
          <a:xfrm>
            <a:off x="1107354" y="749606"/>
            <a:ext cx="12813994" cy="1092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defTabSz="1828636">
              <a:lnSpc>
                <a:spcPct val="80000"/>
              </a:lnSpc>
              <a:spcBef>
                <a:spcPts val="0"/>
              </a:spcBef>
              <a:defRPr sz="6500" b="1" spc="-180">
                <a:solidFill>
                  <a:srgbClr val="222222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r>
              <a:rPr dirty="0"/>
              <a:t>Roadmap</a:t>
            </a:r>
          </a:p>
        </p:txBody>
      </p:sp>
      <p:sp>
        <p:nvSpPr>
          <p:cNvPr id="934" name="Progressive journey to full autonomy"/>
          <p:cNvSpPr txBox="1"/>
          <p:nvPr/>
        </p:nvSpPr>
        <p:spPr>
          <a:xfrm>
            <a:off x="1107354" y="1986586"/>
            <a:ext cx="1472516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defTabSz="1828660">
              <a:lnSpc>
                <a:spcPct val="130000"/>
              </a:lnSpc>
              <a:spcBef>
                <a:spcPts val="2000"/>
              </a:spcBef>
              <a:defRPr sz="2800" b="1">
                <a:solidFill>
                  <a:srgbClr val="22222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dirty="0"/>
              <a:t>Progressive journey to full autonomy</a:t>
            </a:r>
          </a:p>
        </p:txBody>
      </p:sp>
      <p:grpSp>
        <p:nvGrpSpPr>
          <p:cNvPr id="980" name="Group"/>
          <p:cNvGrpSpPr/>
          <p:nvPr/>
        </p:nvGrpSpPr>
        <p:grpSpPr>
          <a:xfrm>
            <a:off x="1050862" y="3226141"/>
            <a:ext cx="22282276" cy="3338559"/>
            <a:chOff x="0" y="-7342"/>
            <a:chExt cx="22282275" cy="3338558"/>
          </a:xfrm>
        </p:grpSpPr>
        <p:sp>
          <p:nvSpPr>
            <p:cNvPr id="935" name="Straight Connector 17"/>
            <p:cNvSpPr/>
            <p:nvPr/>
          </p:nvSpPr>
          <p:spPr>
            <a:xfrm>
              <a:off x="712644" y="607081"/>
              <a:ext cx="19887960" cy="1"/>
            </a:xfrm>
            <a:prstGeom prst="line">
              <a:avLst/>
            </a:prstGeom>
            <a:noFill/>
            <a:ln w="12700" cap="flat">
              <a:solidFill>
                <a:srgbClr val="222222">
                  <a:alpha val="10000"/>
                </a:srgbClr>
              </a:solidFill>
              <a:prstDash val="solid"/>
              <a:miter lim="800000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defTabSz="182866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222222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936" name="Oval 20"/>
            <p:cNvSpPr/>
            <p:nvPr/>
          </p:nvSpPr>
          <p:spPr>
            <a:xfrm>
              <a:off x="623417" y="512419"/>
              <a:ext cx="194089" cy="194089"/>
            </a:xfrm>
            <a:prstGeom prst="ellipse">
              <a:avLst/>
            </a:prstGeom>
            <a:solidFill>
              <a:srgbClr val="FFFFFF">
                <a:alpha val="67569"/>
              </a:srgbClr>
            </a:solidFill>
            <a:ln w="25400" cap="flat">
              <a:solidFill>
                <a:srgbClr val="3E3FF5">
                  <a:alpha val="67569"/>
                </a:srgbClr>
              </a:solidFill>
              <a:prstDash val="solid"/>
              <a:miter lim="800000"/>
            </a:ln>
            <a:effectLst>
              <a:outerShdw blurRad="177800" dist="76200" dir="5400000" rotWithShape="0">
                <a:srgbClr val="000000">
                  <a:alpha val="11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 defTabSz="1828660">
                <a:lnSpc>
                  <a:spcPct val="100000"/>
                </a:lnSpc>
                <a:spcBef>
                  <a:spcPts val="0"/>
                </a:spcBef>
                <a:defRPr>
                  <a:solidFill>
                    <a:srgbClr val="F0F0F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937" name="Shape"/>
            <p:cNvSpPr/>
            <p:nvPr/>
          </p:nvSpPr>
          <p:spPr>
            <a:xfrm>
              <a:off x="0" y="1072918"/>
              <a:ext cx="2384307" cy="22582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717"/>
                  </a:moveTo>
                  <a:lnTo>
                    <a:pt x="21600" y="2717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2717"/>
                  </a:lnTo>
                  <a:close/>
                  <a:moveTo>
                    <a:pt x="6688" y="0"/>
                  </a:moveTo>
                  <a:lnTo>
                    <a:pt x="8988" y="2717"/>
                  </a:lnTo>
                  <a:lnTo>
                    <a:pt x="4389" y="2717"/>
                  </a:lnTo>
                  <a:lnTo>
                    <a:pt x="6688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>
              <a:outerShdw blurRad="1270000" dist="508000" dir="5400000" rotWithShape="0">
                <a:srgbClr val="000000">
                  <a:alpha val="20000"/>
                </a:srgbClr>
              </a:outerShdw>
            </a:effectLst>
          </p:spPr>
          <p:txBody>
            <a:bodyPr wrap="square" lIns="0" tIns="0" rIns="0" bIns="0" numCol="1" anchor="b">
              <a:noAutofit/>
            </a:bodyPr>
            <a:lstStyle/>
            <a:p>
              <a:pPr defTabSz="1828660">
                <a:lnSpc>
                  <a:spcPct val="130000"/>
                </a:lnSpc>
                <a:spcBef>
                  <a:spcPts val="2000"/>
                </a:spcBef>
                <a:defRPr sz="3600">
                  <a:solidFill>
                    <a:srgbClr val="F0F0F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grpSp>
          <p:nvGrpSpPr>
            <p:cNvPr id="940" name="Group"/>
            <p:cNvGrpSpPr/>
            <p:nvPr/>
          </p:nvGrpSpPr>
          <p:grpSpPr>
            <a:xfrm>
              <a:off x="70473" y="1678207"/>
              <a:ext cx="2243360" cy="1270001"/>
              <a:chOff x="0" y="0"/>
              <a:chExt cx="2243358" cy="1270000"/>
            </a:xfrm>
          </p:grpSpPr>
          <p:sp>
            <p:nvSpPr>
              <p:cNvPr id="938" name="Conceptualized R&amp;D"/>
              <p:cNvSpPr/>
              <p:nvPr/>
            </p:nvSpPr>
            <p:spPr>
              <a:xfrm>
                <a:off x="0" y="0"/>
                <a:ext cx="1270000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defTabSz="1244600">
                  <a:spcBef>
                    <a:spcPts val="1100"/>
                  </a:spcBef>
                  <a:defRPr sz="1500" b="1">
                    <a:solidFill>
                      <a:srgbClr val="222222"/>
                    </a:solidFill>
                    <a:latin typeface="Open Sans"/>
                    <a:ea typeface="Open Sans"/>
                    <a:cs typeface="Open Sans"/>
                    <a:sym typeface="Open Sans"/>
                  </a:defRPr>
                </a:lvl1pPr>
              </a:lstStyle>
              <a:p>
                <a:r>
                  <a:rPr dirty="0"/>
                  <a:t>Conceptualized R&amp;D</a:t>
                </a:r>
              </a:p>
            </p:txBody>
          </p:sp>
          <p:sp>
            <p:nvSpPr>
              <p:cNvPr id="939" name="Architecture for Telecom, Utilities, Renewable Energy and Smart Cities"/>
              <p:cNvSpPr/>
              <p:nvPr/>
            </p:nvSpPr>
            <p:spPr>
              <a:xfrm>
                <a:off x="0" y="480743"/>
                <a:ext cx="2243359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defTabSz="1828660">
                  <a:spcBef>
                    <a:spcPts val="0"/>
                  </a:spcBef>
                  <a:defRPr sz="1500">
                    <a:solidFill>
                      <a:srgbClr val="222222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defRPr>
                </a:lvl1pPr>
              </a:lstStyle>
              <a:p>
                <a:r>
                  <a:rPr dirty="0"/>
                  <a:t>Architecture for Telecom, Utilities, Renewable Energy and Smart Cities</a:t>
                </a:r>
              </a:p>
            </p:txBody>
          </p:sp>
        </p:grpSp>
        <p:sp>
          <p:nvSpPr>
            <p:cNvPr id="941" name="2017 Q1"/>
            <p:cNvSpPr txBox="1"/>
            <p:nvPr/>
          </p:nvSpPr>
          <p:spPr>
            <a:xfrm>
              <a:off x="291489" y="0"/>
              <a:ext cx="908746" cy="381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 defTabSz="1828660">
                <a:lnSpc>
                  <a:spcPct val="130000"/>
                </a:lnSpc>
                <a:spcBef>
                  <a:spcPts val="2000"/>
                </a:spcBef>
                <a:defRPr sz="1600" b="1">
                  <a:solidFill>
                    <a:srgbClr val="3E3FF5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t>2017 Q1</a:t>
              </a:r>
            </a:p>
          </p:txBody>
        </p:sp>
        <p:sp>
          <p:nvSpPr>
            <p:cNvPr id="942" name="Oval 20"/>
            <p:cNvSpPr/>
            <p:nvPr/>
          </p:nvSpPr>
          <p:spPr>
            <a:xfrm>
              <a:off x="3465984" y="512419"/>
              <a:ext cx="194089" cy="194089"/>
            </a:xfrm>
            <a:prstGeom prst="ellipse">
              <a:avLst/>
            </a:prstGeom>
            <a:solidFill>
              <a:srgbClr val="FFFFFF">
                <a:alpha val="67569"/>
              </a:srgbClr>
            </a:solidFill>
            <a:ln w="25400" cap="flat">
              <a:solidFill>
                <a:srgbClr val="3E3FF5">
                  <a:alpha val="67569"/>
                </a:srgbClr>
              </a:solidFill>
              <a:prstDash val="solid"/>
              <a:miter lim="800000"/>
            </a:ln>
            <a:effectLst>
              <a:outerShdw blurRad="177800" dist="76200" dir="5400000" rotWithShape="0">
                <a:srgbClr val="000000">
                  <a:alpha val="11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 defTabSz="1828660">
                <a:lnSpc>
                  <a:spcPct val="100000"/>
                </a:lnSpc>
                <a:spcBef>
                  <a:spcPts val="0"/>
                </a:spcBef>
                <a:defRPr>
                  <a:solidFill>
                    <a:srgbClr val="F0F0F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943" name="Shape"/>
            <p:cNvSpPr/>
            <p:nvPr/>
          </p:nvSpPr>
          <p:spPr>
            <a:xfrm>
              <a:off x="2842566" y="1072918"/>
              <a:ext cx="2384307" cy="22582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717"/>
                  </a:moveTo>
                  <a:lnTo>
                    <a:pt x="21600" y="2717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2717"/>
                  </a:lnTo>
                  <a:close/>
                  <a:moveTo>
                    <a:pt x="6688" y="0"/>
                  </a:moveTo>
                  <a:lnTo>
                    <a:pt x="8988" y="2717"/>
                  </a:lnTo>
                  <a:lnTo>
                    <a:pt x="4389" y="2717"/>
                  </a:lnTo>
                  <a:lnTo>
                    <a:pt x="6688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>
              <a:outerShdw blurRad="1270000" dist="508000" dir="5400000" rotWithShape="0">
                <a:srgbClr val="000000">
                  <a:alpha val="20000"/>
                </a:srgbClr>
              </a:outerShdw>
            </a:effectLst>
          </p:spPr>
          <p:txBody>
            <a:bodyPr wrap="square" lIns="0" tIns="0" rIns="0" bIns="0" numCol="1" anchor="b">
              <a:noAutofit/>
            </a:bodyPr>
            <a:lstStyle/>
            <a:p>
              <a:pPr defTabSz="1828660">
                <a:lnSpc>
                  <a:spcPct val="130000"/>
                </a:lnSpc>
                <a:spcBef>
                  <a:spcPts val="2000"/>
                </a:spcBef>
                <a:defRPr sz="3600">
                  <a:solidFill>
                    <a:srgbClr val="F0F0F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grpSp>
          <p:nvGrpSpPr>
            <p:cNvPr id="946" name="Group"/>
            <p:cNvGrpSpPr/>
            <p:nvPr/>
          </p:nvGrpSpPr>
          <p:grpSpPr>
            <a:xfrm>
              <a:off x="2913040" y="1678207"/>
              <a:ext cx="2243360" cy="1270001"/>
              <a:chOff x="0" y="0"/>
              <a:chExt cx="2243358" cy="1270000"/>
            </a:xfrm>
          </p:grpSpPr>
          <p:sp>
            <p:nvSpPr>
              <p:cNvPr id="944" name="Deployed as SAAS"/>
              <p:cNvSpPr/>
              <p:nvPr/>
            </p:nvSpPr>
            <p:spPr>
              <a:xfrm>
                <a:off x="0" y="0"/>
                <a:ext cx="1270000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defTabSz="1244600">
                  <a:spcBef>
                    <a:spcPts val="1100"/>
                  </a:spcBef>
                  <a:defRPr sz="1500" b="1">
                    <a:solidFill>
                      <a:srgbClr val="222222"/>
                    </a:solidFill>
                    <a:latin typeface="Open Sans"/>
                    <a:ea typeface="Open Sans"/>
                    <a:cs typeface="Open Sans"/>
                    <a:sym typeface="Open Sans"/>
                  </a:defRPr>
                </a:lvl1pPr>
              </a:lstStyle>
              <a:p>
                <a:r>
                  <a:t>Deployed as SAAS</a:t>
                </a:r>
              </a:p>
            </p:txBody>
          </p:sp>
          <p:sp>
            <p:nvSpPr>
              <p:cNvPr id="945" name="Service Delivery Projects as Internal Tool"/>
              <p:cNvSpPr/>
              <p:nvPr/>
            </p:nvSpPr>
            <p:spPr>
              <a:xfrm>
                <a:off x="0" y="480743"/>
                <a:ext cx="2243359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defTabSz="1828660">
                  <a:spcBef>
                    <a:spcPts val="0"/>
                  </a:spcBef>
                  <a:defRPr sz="1500">
                    <a:solidFill>
                      <a:srgbClr val="222222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defRPr>
                </a:lvl1pPr>
              </a:lstStyle>
              <a:p>
                <a:r>
                  <a:t>Service Delivery Projects as Internal Tool</a:t>
                </a:r>
              </a:p>
            </p:txBody>
          </p:sp>
        </p:grpSp>
        <p:sp>
          <p:nvSpPr>
            <p:cNvPr id="947" name="2018 Q1"/>
            <p:cNvSpPr txBox="1"/>
            <p:nvPr/>
          </p:nvSpPr>
          <p:spPr>
            <a:xfrm>
              <a:off x="3134056" y="0"/>
              <a:ext cx="908745" cy="381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 defTabSz="1828660">
                <a:lnSpc>
                  <a:spcPct val="130000"/>
                </a:lnSpc>
                <a:spcBef>
                  <a:spcPts val="2000"/>
                </a:spcBef>
                <a:defRPr sz="1600" b="1">
                  <a:solidFill>
                    <a:srgbClr val="3E3FF5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t>2018 Q1</a:t>
              </a:r>
            </a:p>
          </p:txBody>
        </p:sp>
        <p:sp>
          <p:nvSpPr>
            <p:cNvPr id="948" name="Oval 20"/>
            <p:cNvSpPr/>
            <p:nvPr/>
          </p:nvSpPr>
          <p:spPr>
            <a:xfrm>
              <a:off x="6308551" y="512419"/>
              <a:ext cx="194089" cy="194089"/>
            </a:xfrm>
            <a:prstGeom prst="ellipse">
              <a:avLst/>
            </a:prstGeom>
            <a:solidFill>
              <a:srgbClr val="FFFFFF">
                <a:alpha val="67569"/>
              </a:srgbClr>
            </a:solidFill>
            <a:ln w="25400" cap="flat">
              <a:solidFill>
                <a:srgbClr val="37739D">
                  <a:alpha val="67569"/>
                </a:srgbClr>
              </a:solidFill>
              <a:prstDash val="solid"/>
              <a:miter lim="800000"/>
            </a:ln>
            <a:effectLst>
              <a:outerShdw blurRad="177800" dist="76200" dir="5400000" rotWithShape="0">
                <a:srgbClr val="000000">
                  <a:alpha val="11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 defTabSz="1828660">
                <a:lnSpc>
                  <a:spcPct val="100000"/>
                </a:lnSpc>
                <a:spcBef>
                  <a:spcPts val="0"/>
                </a:spcBef>
                <a:defRPr>
                  <a:solidFill>
                    <a:srgbClr val="F0F0F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949" name="Shape"/>
            <p:cNvSpPr/>
            <p:nvPr/>
          </p:nvSpPr>
          <p:spPr>
            <a:xfrm>
              <a:off x="5685133" y="1072918"/>
              <a:ext cx="2384308" cy="22582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717"/>
                  </a:moveTo>
                  <a:lnTo>
                    <a:pt x="21600" y="2717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2717"/>
                  </a:lnTo>
                  <a:close/>
                  <a:moveTo>
                    <a:pt x="6688" y="0"/>
                  </a:moveTo>
                  <a:lnTo>
                    <a:pt x="8988" y="2717"/>
                  </a:lnTo>
                  <a:lnTo>
                    <a:pt x="4389" y="2717"/>
                  </a:lnTo>
                  <a:lnTo>
                    <a:pt x="6688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>
              <a:outerShdw blurRad="1270000" dist="508000" dir="5400000" rotWithShape="0">
                <a:srgbClr val="000000">
                  <a:alpha val="20000"/>
                </a:srgbClr>
              </a:outerShdw>
            </a:effectLst>
          </p:spPr>
          <p:txBody>
            <a:bodyPr wrap="square" lIns="0" tIns="0" rIns="0" bIns="0" numCol="1" anchor="b">
              <a:noAutofit/>
            </a:bodyPr>
            <a:lstStyle/>
            <a:p>
              <a:pPr defTabSz="1828660">
                <a:lnSpc>
                  <a:spcPct val="130000"/>
                </a:lnSpc>
                <a:spcBef>
                  <a:spcPts val="2000"/>
                </a:spcBef>
                <a:defRPr sz="3600">
                  <a:solidFill>
                    <a:srgbClr val="F0F0F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950" name="Group"/>
            <p:cNvSpPr/>
            <p:nvPr/>
          </p:nvSpPr>
          <p:spPr>
            <a:xfrm>
              <a:off x="5755607" y="1678207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defTabSz="1244600">
                <a:spcBef>
                  <a:spcPts val="1100"/>
                </a:spcBef>
                <a:defRPr sz="1500" b="1">
                  <a:solidFill>
                    <a:srgbClr val="222222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t>LLMS Integrated</a:t>
              </a:r>
            </a:p>
          </p:txBody>
        </p:sp>
        <p:sp>
          <p:nvSpPr>
            <p:cNvPr id="951" name="2022 Q1"/>
            <p:cNvSpPr txBox="1"/>
            <p:nvPr/>
          </p:nvSpPr>
          <p:spPr>
            <a:xfrm>
              <a:off x="5976623" y="0"/>
              <a:ext cx="908745" cy="381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 defTabSz="1828660">
                <a:lnSpc>
                  <a:spcPct val="130000"/>
                </a:lnSpc>
                <a:spcBef>
                  <a:spcPts val="2000"/>
                </a:spcBef>
                <a:defRPr sz="1600" b="1">
                  <a:solidFill>
                    <a:srgbClr val="37739D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t>2022 Q1</a:t>
              </a:r>
            </a:p>
          </p:txBody>
        </p:sp>
        <p:sp>
          <p:nvSpPr>
            <p:cNvPr id="952" name="Oval 20"/>
            <p:cNvSpPr/>
            <p:nvPr/>
          </p:nvSpPr>
          <p:spPr>
            <a:xfrm>
              <a:off x="9151118" y="512419"/>
              <a:ext cx="194089" cy="194089"/>
            </a:xfrm>
            <a:prstGeom prst="ellipse">
              <a:avLst/>
            </a:prstGeom>
            <a:solidFill>
              <a:srgbClr val="FFFFFF">
                <a:alpha val="67569"/>
              </a:srgbClr>
            </a:solidFill>
            <a:ln w="25400" cap="flat">
              <a:solidFill>
                <a:srgbClr val="37739D">
                  <a:alpha val="67569"/>
                </a:srgbClr>
              </a:solidFill>
              <a:prstDash val="solid"/>
              <a:miter lim="800000"/>
            </a:ln>
            <a:effectLst>
              <a:outerShdw blurRad="177800" dist="76200" dir="5400000" rotWithShape="0">
                <a:srgbClr val="000000">
                  <a:alpha val="11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 defTabSz="1828660">
                <a:lnSpc>
                  <a:spcPct val="100000"/>
                </a:lnSpc>
                <a:spcBef>
                  <a:spcPts val="0"/>
                </a:spcBef>
                <a:defRPr>
                  <a:solidFill>
                    <a:srgbClr val="F0F0F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953" name="Shape"/>
            <p:cNvSpPr/>
            <p:nvPr/>
          </p:nvSpPr>
          <p:spPr>
            <a:xfrm>
              <a:off x="8527701" y="1072918"/>
              <a:ext cx="2384307" cy="22582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717"/>
                  </a:moveTo>
                  <a:lnTo>
                    <a:pt x="21600" y="2717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2717"/>
                  </a:lnTo>
                  <a:close/>
                  <a:moveTo>
                    <a:pt x="6688" y="0"/>
                  </a:moveTo>
                  <a:lnTo>
                    <a:pt x="8988" y="2717"/>
                  </a:lnTo>
                  <a:lnTo>
                    <a:pt x="4389" y="2717"/>
                  </a:lnTo>
                  <a:lnTo>
                    <a:pt x="6688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>
              <a:outerShdw blurRad="1270000" dist="508000" dir="5400000" rotWithShape="0">
                <a:srgbClr val="000000">
                  <a:alpha val="20000"/>
                </a:srgbClr>
              </a:outerShdw>
            </a:effectLst>
          </p:spPr>
          <p:txBody>
            <a:bodyPr wrap="square" lIns="0" tIns="0" rIns="0" bIns="0" numCol="1" anchor="b">
              <a:noAutofit/>
            </a:bodyPr>
            <a:lstStyle/>
            <a:p>
              <a:pPr defTabSz="1828660">
                <a:lnSpc>
                  <a:spcPct val="130000"/>
                </a:lnSpc>
                <a:spcBef>
                  <a:spcPts val="2000"/>
                </a:spcBef>
                <a:defRPr sz="3600">
                  <a:solidFill>
                    <a:srgbClr val="F0F0F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grpSp>
          <p:nvGrpSpPr>
            <p:cNvPr id="956" name="Group"/>
            <p:cNvGrpSpPr/>
            <p:nvPr/>
          </p:nvGrpSpPr>
          <p:grpSpPr>
            <a:xfrm>
              <a:off x="8598174" y="1678207"/>
              <a:ext cx="2243359" cy="1270001"/>
              <a:chOff x="0" y="0"/>
              <a:chExt cx="2243358" cy="1270000"/>
            </a:xfrm>
          </p:grpSpPr>
          <p:sp>
            <p:nvSpPr>
              <p:cNvPr id="954" name="Secured Pilot"/>
              <p:cNvSpPr/>
              <p:nvPr/>
            </p:nvSpPr>
            <p:spPr>
              <a:xfrm>
                <a:off x="0" y="0"/>
                <a:ext cx="1270000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defTabSz="1244600">
                  <a:spcBef>
                    <a:spcPts val="1100"/>
                  </a:spcBef>
                  <a:defRPr sz="1500" b="1">
                    <a:solidFill>
                      <a:srgbClr val="222222"/>
                    </a:solidFill>
                    <a:latin typeface="Open Sans"/>
                    <a:ea typeface="Open Sans"/>
                    <a:cs typeface="Open Sans"/>
                    <a:sym typeface="Open Sans"/>
                  </a:defRPr>
                </a:lvl1pPr>
              </a:lstStyle>
              <a:p>
                <a:r>
                  <a:t>Secured Pilot</a:t>
                </a:r>
              </a:p>
            </p:txBody>
          </p:sp>
          <p:sp>
            <p:nvSpPr>
              <p:cNvPr id="955" name="With Telecom Giant"/>
              <p:cNvSpPr/>
              <p:nvPr/>
            </p:nvSpPr>
            <p:spPr>
              <a:xfrm>
                <a:off x="0" y="480743"/>
                <a:ext cx="2243359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defTabSz="1828660">
                  <a:spcBef>
                    <a:spcPts val="0"/>
                  </a:spcBef>
                  <a:defRPr sz="1500">
                    <a:solidFill>
                      <a:srgbClr val="222222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defRPr>
                </a:lvl1pPr>
              </a:lstStyle>
              <a:p>
                <a:r>
                  <a:t>With Telecom Giant</a:t>
                </a:r>
              </a:p>
            </p:txBody>
          </p:sp>
        </p:grpSp>
        <p:sp>
          <p:nvSpPr>
            <p:cNvPr id="957" name="2023 Q1"/>
            <p:cNvSpPr txBox="1"/>
            <p:nvPr/>
          </p:nvSpPr>
          <p:spPr>
            <a:xfrm>
              <a:off x="8819190" y="0"/>
              <a:ext cx="908745" cy="381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 defTabSz="1828660">
                <a:lnSpc>
                  <a:spcPct val="130000"/>
                </a:lnSpc>
                <a:spcBef>
                  <a:spcPts val="2000"/>
                </a:spcBef>
                <a:defRPr sz="1600" b="1">
                  <a:solidFill>
                    <a:srgbClr val="37739D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t>2023 Q1</a:t>
              </a:r>
            </a:p>
          </p:txBody>
        </p:sp>
        <p:sp>
          <p:nvSpPr>
            <p:cNvPr id="958" name="Oval 20"/>
            <p:cNvSpPr/>
            <p:nvPr/>
          </p:nvSpPr>
          <p:spPr>
            <a:xfrm>
              <a:off x="11993684" y="512419"/>
              <a:ext cx="194089" cy="194089"/>
            </a:xfrm>
            <a:prstGeom prst="ellipse">
              <a:avLst/>
            </a:prstGeom>
            <a:solidFill>
              <a:srgbClr val="FFFFFF">
                <a:alpha val="67569"/>
              </a:srgbClr>
            </a:solidFill>
            <a:ln w="25400" cap="flat">
              <a:solidFill>
                <a:srgbClr val="3A7B7E">
                  <a:alpha val="67569"/>
                </a:srgbClr>
              </a:solidFill>
              <a:prstDash val="solid"/>
              <a:miter lim="800000"/>
            </a:ln>
            <a:effectLst>
              <a:outerShdw blurRad="177800" dist="76200" dir="5400000" rotWithShape="0">
                <a:srgbClr val="000000">
                  <a:alpha val="11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 defTabSz="1828660">
                <a:lnSpc>
                  <a:spcPct val="100000"/>
                </a:lnSpc>
                <a:spcBef>
                  <a:spcPts val="0"/>
                </a:spcBef>
                <a:defRPr>
                  <a:solidFill>
                    <a:srgbClr val="F0F0F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959" name="Shape"/>
            <p:cNvSpPr/>
            <p:nvPr/>
          </p:nvSpPr>
          <p:spPr>
            <a:xfrm>
              <a:off x="11370267" y="1072918"/>
              <a:ext cx="2384307" cy="22582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717"/>
                  </a:moveTo>
                  <a:lnTo>
                    <a:pt x="21600" y="2717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2717"/>
                  </a:lnTo>
                  <a:close/>
                  <a:moveTo>
                    <a:pt x="6688" y="0"/>
                  </a:moveTo>
                  <a:lnTo>
                    <a:pt x="8988" y="2717"/>
                  </a:lnTo>
                  <a:lnTo>
                    <a:pt x="4389" y="2717"/>
                  </a:lnTo>
                  <a:lnTo>
                    <a:pt x="6688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>
              <a:outerShdw blurRad="1270000" dist="508000" dir="5400000" rotWithShape="0">
                <a:srgbClr val="000000">
                  <a:alpha val="20000"/>
                </a:srgbClr>
              </a:outerShdw>
            </a:effectLst>
          </p:spPr>
          <p:txBody>
            <a:bodyPr wrap="square" lIns="0" tIns="0" rIns="0" bIns="0" numCol="1" anchor="b">
              <a:noAutofit/>
            </a:bodyPr>
            <a:lstStyle/>
            <a:p>
              <a:pPr defTabSz="1828660">
                <a:lnSpc>
                  <a:spcPct val="130000"/>
                </a:lnSpc>
                <a:spcBef>
                  <a:spcPts val="2000"/>
                </a:spcBef>
                <a:defRPr sz="3600">
                  <a:solidFill>
                    <a:srgbClr val="F0F0F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960" name="Group"/>
            <p:cNvSpPr/>
            <p:nvPr/>
          </p:nvSpPr>
          <p:spPr>
            <a:xfrm>
              <a:off x="11440741" y="1678207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defTabSz="1244600">
                <a:spcBef>
                  <a:spcPts val="1100"/>
                </a:spcBef>
                <a:defRPr sz="1500" b="1">
                  <a:solidFill>
                    <a:srgbClr val="222222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t>Scaled to 3 Enterprise</a:t>
              </a:r>
            </a:p>
          </p:txBody>
        </p:sp>
        <p:sp>
          <p:nvSpPr>
            <p:cNvPr id="961" name="2024 Q4"/>
            <p:cNvSpPr txBox="1"/>
            <p:nvPr/>
          </p:nvSpPr>
          <p:spPr>
            <a:xfrm>
              <a:off x="11664082" y="-7342"/>
              <a:ext cx="904094" cy="3956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 defTabSz="1828660">
                <a:lnSpc>
                  <a:spcPct val="130000"/>
                </a:lnSpc>
                <a:spcBef>
                  <a:spcPts val="2000"/>
                </a:spcBef>
                <a:defRPr sz="1600" b="1">
                  <a:solidFill>
                    <a:srgbClr val="3A7B7E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dirty="0"/>
                <a:t>202</a:t>
              </a:r>
              <a:r>
                <a:rPr lang="en-US" dirty="0"/>
                <a:t>5</a:t>
              </a:r>
              <a:r>
                <a:rPr dirty="0"/>
                <a:t> Q4</a:t>
              </a:r>
            </a:p>
          </p:txBody>
        </p:sp>
        <p:sp>
          <p:nvSpPr>
            <p:cNvPr id="962" name="Oval 20"/>
            <p:cNvSpPr/>
            <p:nvPr/>
          </p:nvSpPr>
          <p:spPr>
            <a:xfrm>
              <a:off x="14836252" y="512419"/>
              <a:ext cx="194089" cy="194089"/>
            </a:xfrm>
            <a:prstGeom prst="ellipse">
              <a:avLst/>
            </a:prstGeom>
            <a:solidFill>
              <a:srgbClr val="FFFFFF">
                <a:alpha val="67569"/>
              </a:srgbClr>
            </a:solidFill>
            <a:ln w="25400" cap="flat">
              <a:solidFill>
                <a:srgbClr val="3A7B7E">
                  <a:alpha val="67569"/>
                </a:srgbClr>
              </a:solidFill>
              <a:prstDash val="solid"/>
              <a:miter lim="800000"/>
            </a:ln>
            <a:effectLst>
              <a:outerShdw blurRad="177800" dist="76200" dir="5400000" rotWithShape="0">
                <a:srgbClr val="000000">
                  <a:alpha val="11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 defTabSz="1828660">
                <a:lnSpc>
                  <a:spcPct val="100000"/>
                </a:lnSpc>
                <a:spcBef>
                  <a:spcPts val="0"/>
                </a:spcBef>
                <a:defRPr>
                  <a:solidFill>
                    <a:srgbClr val="F0F0F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963" name="Shape"/>
            <p:cNvSpPr/>
            <p:nvPr/>
          </p:nvSpPr>
          <p:spPr>
            <a:xfrm>
              <a:off x="14212834" y="1072918"/>
              <a:ext cx="2384307" cy="22582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717"/>
                  </a:moveTo>
                  <a:lnTo>
                    <a:pt x="21600" y="2717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2717"/>
                  </a:lnTo>
                  <a:close/>
                  <a:moveTo>
                    <a:pt x="6688" y="0"/>
                  </a:moveTo>
                  <a:lnTo>
                    <a:pt x="8988" y="2717"/>
                  </a:lnTo>
                  <a:lnTo>
                    <a:pt x="4389" y="2717"/>
                  </a:lnTo>
                  <a:lnTo>
                    <a:pt x="6688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>
              <a:outerShdw blurRad="1270000" dist="508000" dir="5400000" rotWithShape="0">
                <a:srgbClr val="000000">
                  <a:alpha val="20000"/>
                </a:srgbClr>
              </a:outerShdw>
            </a:effectLst>
          </p:spPr>
          <p:txBody>
            <a:bodyPr wrap="square" lIns="0" tIns="0" rIns="0" bIns="0" numCol="1" anchor="b">
              <a:noAutofit/>
            </a:bodyPr>
            <a:lstStyle/>
            <a:p>
              <a:pPr defTabSz="1828660">
                <a:lnSpc>
                  <a:spcPct val="130000"/>
                </a:lnSpc>
                <a:spcBef>
                  <a:spcPts val="2000"/>
                </a:spcBef>
                <a:defRPr sz="3600">
                  <a:solidFill>
                    <a:srgbClr val="F0F0F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grpSp>
          <p:nvGrpSpPr>
            <p:cNvPr id="966" name="Group"/>
            <p:cNvGrpSpPr/>
            <p:nvPr/>
          </p:nvGrpSpPr>
          <p:grpSpPr>
            <a:xfrm>
              <a:off x="14283308" y="1678207"/>
              <a:ext cx="2243359" cy="1270001"/>
              <a:chOff x="0" y="0"/>
              <a:chExt cx="2243358" cy="1270000"/>
            </a:xfrm>
          </p:grpSpPr>
          <p:sp>
            <p:nvSpPr>
              <p:cNvPr id="964" name="Scale Product Features"/>
              <p:cNvSpPr/>
              <p:nvPr/>
            </p:nvSpPr>
            <p:spPr>
              <a:xfrm>
                <a:off x="0" y="0"/>
                <a:ext cx="1270000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defTabSz="1244600">
                  <a:spcBef>
                    <a:spcPts val="1100"/>
                  </a:spcBef>
                  <a:defRPr sz="1500" b="1">
                    <a:solidFill>
                      <a:srgbClr val="222222"/>
                    </a:solidFill>
                    <a:latin typeface="Open Sans"/>
                    <a:ea typeface="Open Sans"/>
                    <a:cs typeface="Open Sans"/>
                    <a:sym typeface="Open Sans"/>
                  </a:defRPr>
                </a:lvl1pPr>
              </a:lstStyle>
              <a:p>
                <a:r>
                  <a:t>Scale Product Features </a:t>
                </a:r>
              </a:p>
            </p:txBody>
          </p:sp>
          <p:sp>
            <p:nvSpPr>
              <p:cNvPr id="965" name="Across Industries"/>
              <p:cNvSpPr/>
              <p:nvPr/>
            </p:nvSpPr>
            <p:spPr>
              <a:xfrm>
                <a:off x="0" y="480743"/>
                <a:ext cx="2243359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defTabSz="1828660">
                  <a:spcBef>
                    <a:spcPts val="0"/>
                  </a:spcBef>
                  <a:defRPr sz="1500">
                    <a:solidFill>
                      <a:srgbClr val="222222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defRPr>
                </a:lvl1pPr>
              </a:lstStyle>
              <a:p>
                <a:r>
                  <a:t>Across Industries</a:t>
                </a:r>
              </a:p>
            </p:txBody>
          </p:sp>
        </p:grpSp>
        <p:sp>
          <p:nvSpPr>
            <p:cNvPr id="967" name="2026 Q3"/>
            <p:cNvSpPr txBox="1"/>
            <p:nvPr/>
          </p:nvSpPr>
          <p:spPr>
            <a:xfrm>
              <a:off x="14504323" y="0"/>
              <a:ext cx="908746" cy="381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 defTabSz="1828660">
                <a:lnSpc>
                  <a:spcPct val="130000"/>
                </a:lnSpc>
                <a:spcBef>
                  <a:spcPts val="2000"/>
                </a:spcBef>
                <a:defRPr sz="1600" b="1">
                  <a:solidFill>
                    <a:srgbClr val="3A7B7E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t>2026 Q3</a:t>
              </a:r>
            </a:p>
          </p:txBody>
        </p:sp>
        <p:sp>
          <p:nvSpPr>
            <p:cNvPr id="968" name="Oval 20"/>
            <p:cNvSpPr/>
            <p:nvPr/>
          </p:nvSpPr>
          <p:spPr>
            <a:xfrm>
              <a:off x="17678818" y="512419"/>
              <a:ext cx="194089" cy="194089"/>
            </a:xfrm>
            <a:prstGeom prst="ellipse">
              <a:avLst/>
            </a:prstGeom>
            <a:solidFill>
              <a:srgbClr val="FFFFFF">
                <a:alpha val="67569"/>
              </a:srgbClr>
            </a:solidFill>
            <a:ln w="25400" cap="flat">
              <a:solidFill>
                <a:srgbClr val="50AA5D">
                  <a:alpha val="67569"/>
                </a:srgbClr>
              </a:solidFill>
              <a:prstDash val="solid"/>
              <a:miter lim="800000"/>
            </a:ln>
            <a:effectLst>
              <a:outerShdw blurRad="177800" dist="76200" dir="5400000" rotWithShape="0">
                <a:srgbClr val="000000">
                  <a:alpha val="11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 defTabSz="1828660">
                <a:lnSpc>
                  <a:spcPct val="100000"/>
                </a:lnSpc>
                <a:spcBef>
                  <a:spcPts val="0"/>
                </a:spcBef>
                <a:defRPr>
                  <a:solidFill>
                    <a:srgbClr val="F0F0F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969" name="Shape"/>
            <p:cNvSpPr/>
            <p:nvPr/>
          </p:nvSpPr>
          <p:spPr>
            <a:xfrm>
              <a:off x="17055400" y="1072918"/>
              <a:ext cx="2384307" cy="22582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717"/>
                  </a:moveTo>
                  <a:lnTo>
                    <a:pt x="21600" y="2717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2717"/>
                  </a:lnTo>
                  <a:close/>
                  <a:moveTo>
                    <a:pt x="6688" y="0"/>
                  </a:moveTo>
                  <a:lnTo>
                    <a:pt x="8988" y="2717"/>
                  </a:lnTo>
                  <a:lnTo>
                    <a:pt x="4389" y="2717"/>
                  </a:lnTo>
                  <a:lnTo>
                    <a:pt x="6688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>
              <a:outerShdw blurRad="1270000" dist="508000" dir="5400000" rotWithShape="0">
                <a:srgbClr val="000000">
                  <a:alpha val="20000"/>
                </a:srgbClr>
              </a:outerShdw>
            </a:effectLst>
          </p:spPr>
          <p:txBody>
            <a:bodyPr wrap="square" lIns="0" tIns="0" rIns="0" bIns="0" numCol="1" anchor="b">
              <a:noAutofit/>
            </a:bodyPr>
            <a:lstStyle/>
            <a:p>
              <a:pPr defTabSz="1828660">
                <a:lnSpc>
                  <a:spcPct val="130000"/>
                </a:lnSpc>
                <a:spcBef>
                  <a:spcPts val="2000"/>
                </a:spcBef>
                <a:defRPr sz="3600">
                  <a:solidFill>
                    <a:srgbClr val="F0F0F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970" name="Group"/>
            <p:cNvSpPr/>
            <p:nvPr/>
          </p:nvSpPr>
          <p:spPr>
            <a:xfrm>
              <a:off x="17125874" y="1678207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defTabSz="1244600">
                <a:spcBef>
                  <a:spcPts val="1100"/>
                </a:spcBef>
                <a:defRPr sz="1500" b="1">
                  <a:solidFill>
                    <a:srgbClr val="222222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t>5000 SME Customers</a:t>
              </a:r>
            </a:p>
          </p:txBody>
        </p:sp>
        <p:sp>
          <p:nvSpPr>
            <p:cNvPr id="971" name="2027 Q4"/>
            <p:cNvSpPr txBox="1"/>
            <p:nvPr/>
          </p:nvSpPr>
          <p:spPr>
            <a:xfrm>
              <a:off x="17346890" y="0"/>
              <a:ext cx="908745" cy="381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 defTabSz="1828660">
                <a:lnSpc>
                  <a:spcPct val="130000"/>
                </a:lnSpc>
                <a:spcBef>
                  <a:spcPts val="2000"/>
                </a:spcBef>
                <a:defRPr sz="1600" b="1">
                  <a:solidFill>
                    <a:srgbClr val="50AA5D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t>2027 Q4</a:t>
              </a:r>
            </a:p>
          </p:txBody>
        </p:sp>
        <p:sp>
          <p:nvSpPr>
            <p:cNvPr id="972" name="Oval 20"/>
            <p:cNvSpPr/>
            <p:nvPr/>
          </p:nvSpPr>
          <p:spPr>
            <a:xfrm>
              <a:off x="20521386" y="512419"/>
              <a:ext cx="194089" cy="194089"/>
            </a:xfrm>
            <a:prstGeom prst="ellipse">
              <a:avLst/>
            </a:prstGeom>
            <a:solidFill>
              <a:srgbClr val="FFFFFF">
                <a:alpha val="67569"/>
              </a:srgbClr>
            </a:solidFill>
            <a:ln w="25400" cap="flat">
              <a:solidFill>
                <a:srgbClr val="50AA5D">
                  <a:alpha val="67569"/>
                </a:srgbClr>
              </a:solidFill>
              <a:prstDash val="solid"/>
              <a:miter lim="800000"/>
            </a:ln>
            <a:effectLst>
              <a:outerShdw blurRad="177800" dist="76200" dir="5400000" rotWithShape="0">
                <a:srgbClr val="000000">
                  <a:alpha val="11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 defTabSz="1828660">
                <a:lnSpc>
                  <a:spcPct val="100000"/>
                </a:lnSpc>
                <a:spcBef>
                  <a:spcPts val="0"/>
                </a:spcBef>
                <a:defRPr>
                  <a:solidFill>
                    <a:srgbClr val="F0F0F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973" name="Shape"/>
            <p:cNvSpPr/>
            <p:nvPr/>
          </p:nvSpPr>
          <p:spPr>
            <a:xfrm>
              <a:off x="19897968" y="1072918"/>
              <a:ext cx="2384307" cy="22582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717"/>
                  </a:moveTo>
                  <a:lnTo>
                    <a:pt x="21600" y="2717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2717"/>
                  </a:lnTo>
                  <a:close/>
                  <a:moveTo>
                    <a:pt x="6688" y="0"/>
                  </a:moveTo>
                  <a:lnTo>
                    <a:pt x="8988" y="2717"/>
                  </a:lnTo>
                  <a:lnTo>
                    <a:pt x="4389" y="2717"/>
                  </a:lnTo>
                  <a:lnTo>
                    <a:pt x="6688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>
              <a:outerShdw blurRad="1270000" dist="508000" dir="5400000" rotWithShape="0">
                <a:srgbClr val="000000">
                  <a:alpha val="20000"/>
                </a:srgbClr>
              </a:outerShdw>
            </a:effectLst>
          </p:spPr>
          <p:txBody>
            <a:bodyPr wrap="square" lIns="0" tIns="0" rIns="0" bIns="0" numCol="1" anchor="b">
              <a:noAutofit/>
            </a:bodyPr>
            <a:lstStyle/>
            <a:p>
              <a:pPr defTabSz="1828660">
                <a:lnSpc>
                  <a:spcPct val="130000"/>
                </a:lnSpc>
                <a:spcBef>
                  <a:spcPts val="2000"/>
                </a:spcBef>
                <a:defRPr sz="3600">
                  <a:solidFill>
                    <a:srgbClr val="F0F0F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974" name="Group"/>
            <p:cNvSpPr/>
            <p:nvPr/>
          </p:nvSpPr>
          <p:spPr>
            <a:xfrm>
              <a:off x="19968441" y="1678207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defTabSz="1244600">
                <a:spcBef>
                  <a:spcPts val="1100"/>
                </a:spcBef>
                <a:defRPr sz="1500" b="1">
                  <a:solidFill>
                    <a:srgbClr val="222222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t>Conceptualized R&amp;D</a:t>
              </a:r>
            </a:p>
          </p:txBody>
        </p:sp>
        <p:sp>
          <p:nvSpPr>
            <p:cNvPr id="975" name="2028/2029 Q2"/>
            <p:cNvSpPr txBox="1"/>
            <p:nvPr/>
          </p:nvSpPr>
          <p:spPr>
            <a:xfrm>
              <a:off x="19915514" y="0"/>
              <a:ext cx="1456632" cy="381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 defTabSz="1828660">
                <a:lnSpc>
                  <a:spcPct val="130000"/>
                </a:lnSpc>
                <a:spcBef>
                  <a:spcPts val="2000"/>
                </a:spcBef>
                <a:defRPr sz="1600" b="1">
                  <a:solidFill>
                    <a:srgbClr val="50AA5D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t>2028/2029 Q2</a:t>
              </a:r>
            </a:p>
          </p:txBody>
        </p:sp>
        <p:sp>
          <p:nvSpPr>
            <p:cNvPr id="976" name="Rounded Rectangle"/>
            <p:cNvSpPr/>
            <p:nvPr/>
          </p:nvSpPr>
          <p:spPr>
            <a:xfrm>
              <a:off x="11892009" y="2171584"/>
              <a:ext cx="1340823" cy="558801"/>
            </a:xfrm>
            <a:prstGeom prst="roundRect">
              <a:avLst>
                <a:gd name="adj" fmla="val 29841"/>
              </a:avLst>
            </a:prstGeom>
            <a:solidFill>
              <a:srgbClr val="EAF7F4"/>
            </a:solidFill>
            <a:ln w="25400" cap="flat">
              <a:solidFill>
                <a:srgbClr val="3A7B7E"/>
              </a:solidFill>
              <a:prstDash val="solid"/>
              <a:miter lim="8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977" name="$3M APR"/>
            <p:cNvSpPr txBox="1"/>
            <p:nvPr/>
          </p:nvSpPr>
          <p:spPr>
            <a:xfrm>
              <a:off x="12093575" y="2295814"/>
              <a:ext cx="937757" cy="3103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defTabSz="1244600">
                <a:spcBef>
                  <a:spcPts val="1100"/>
                </a:spcBef>
                <a:defRPr sz="1500" b="1">
                  <a:solidFill>
                    <a:srgbClr val="3A7B7E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dirty="0"/>
                <a:t>$3M A</a:t>
              </a:r>
              <a:r>
                <a:rPr lang="en-US" dirty="0"/>
                <a:t>R</a:t>
              </a:r>
              <a:r>
                <a:rPr dirty="0"/>
                <a:t>R</a:t>
              </a:r>
            </a:p>
          </p:txBody>
        </p:sp>
        <p:sp>
          <p:nvSpPr>
            <p:cNvPr id="978" name="Rounded Rectangle"/>
            <p:cNvSpPr/>
            <p:nvPr/>
          </p:nvSpPr>
          <p:spPr>
            <a:xfrm>
              <a:off x="20419710" y="2171584"/>
              <a:ext cx="1340824" cy="558801"/>
            </a:xfrm>
            <a:prstGeom prst="roundRect">
              <a:avLst>
                <a:gd name="adj" fmla="val 29841"/>
              </a:avLst>
            </a:prstGeom>
            <a:solidFill>
              <a:srgbClr val="F2FDF6"/>
            </a:solidFill>
            <a:ln w="25400" cap="flat">
              <a:solidFill>
                <a:srgbClr val="50AA5D"/>
              </a:solidFill>
              <a:prstDash val="solid"/>
              <a:miter lim="8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979" name="~$2B+"/>
            <p:cNvSpPr txBox="1"/>
            <p:nvPr/>
          </p:nvSpPr>
          <p:spPr>
            <a:xfrm>
              <a:off x="20751500" y="2273184"/>
              <a:ext cx="677244" cy="355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defTabSz="1244600">
                <a:spcBef>
                  <a:spcPts val="1100"/>
                </a:spcBef>
                <a:defRPr sz="1500" b="1">
                  <a:solidFill>
                    <a:srgbClr val="50AA5D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t>~$2B+</a:t>
              </a:r>
            </a:p>
          </p:txBody>
        </p:sp>
      </p:grpSp>
      <p:sp>
        <p:nvSpPr>
          <p:cNvPr id="981" name="Concept and R&amp;D"/>
          <p:cNvSpPr txBox="1"/>
          <p:nvPr/>
        </p:nvSpPr>
        <p:spPr>
          <a:xfrm>
            <a:off x="1207316" y="7088564"/>
            <a:ext cx="2530947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defTabSz="1244600">
              <a:spcBef>
                <a:spcPts val="1100"/>
              </a:spcBef>
              <a:defRPr sz="2200" b="1">
                <a:solidFill>
                  <a:srgbClr val="22222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dirty="0"/>
              <a:t>Concept and R&amp;D</a:t>
            </a:r>
          </a:p>
        </p:txBody>
      </p:sp>
      <p:sp>
        <p:nvSpPr>
          <p:cNvPr id="982" name="Telecom, Utilities, Renewable energy and smart cities background…"/>
          <p:cNvSpPr txBox="1"/>
          <p:nvPr/>
        </p:nvSpPr>
        <p:spPr>
          <a:xfrm>
            <a:off x="1207316" y="8204059"/>
            <a:ext cx="4759510" cy="162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254000" indent="-254000" defTabSz="1828660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1800">
                <a:solidFill>
                  <a:srgbClr val="22222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pPr>
            <a:r>
              <a:t>Telecom, Utilities, Renewable energy and smart cities background</a:t>
            </a:r>
          </a:p>
          <a:p>
            <a:pPr marL="254000" indent="-254000" defTabSz="1828660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1800">
                <a:solidFill>
                  <a:srgbClr val="22222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pPr>
            <a:r>
              <a:t>Gaps of the industry</a:t>
            </a:r>
          </a:p>
          <a:p>
            <a:pPr marL="254000" indent="-254000" defTabSz="1828660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1800">
                <a:solidFill>
                  <a:srgbClr val="22222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pPr>
            <a:r>
              <a:t>UBOS vision</a:t>
            </a:r>
          </a:p>
          <a:p>
            <a:pPr marL="254000" indent="-254000" defTabSz="1828660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1800">
                <a:solidFill>
                  <a:srgbClr val="22222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pPr>
            <a:r>
              <a:t>BPMN,RPA, AI/ML &amp; BI core</a:t>
            </a:r>
          </a:p>
        </p:txBody>
      </p:sp>
      <p:sp>
        <p:nvSpPr>
          <p:cNvPr id="983" name="The Vision"/>
          <p:cNvSpPr txBox="1"/>
          <p:nvPr/>
        </p:nvSpPr>
        <p:spPr>
          <a:xfrm>
            <a:off x="1207316" y="7607159"/>
            <a:ext cx="1414935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defTabSz="1244600">
              <a:spcBef>
                <a:spcPts val="1100"/>
              </a:spcBef>
              <a:defRPr sz="2000" b="1">
                <a:solidFill>
                  <a:srgbClr val="3E3FF5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The Vision</a:t>
            </a:r>
          </a:p>
        </p:txBody>
      </p:sp>
      <p:sp>
        <p:nvSpPr>
          <p:cNvPr id="984" name="Rectangle"/>
          <p:cNvSpPr/>
          <p:nvPr/>
        </p:nvSpPr>
        <p:spPr>
          <a:xfrm>
            <a:off x="6743470" y="6895935"/>
            <a:ext cx="5239955" cy="3471311"/>
          </a:xfrm>
          <a:prstGeom prst="rect">
            <a:avLst/>
          </a:prstGeom>
          <a:solidFill>
            <a:srgbClr val="F2FAF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985" name="Foundation Building"/>
          <p:cNvSpPr txBox="1"/>
          <p:nvPr/>
        </p:nvSpPr>
        <p:spPr>
          <a:xfrm>
            <a:off x="6899923" y="7088564"/>
            <a:ext cx="2934631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defTabSz="1244600">
              <a:spcBef>
                <a:spcPts val="1100"/>
              </a:spcBef>
              <a:defRPr sz="2200" b="1">
                <a:solidFill>
                  <a:srgbClr val="22222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Foundation Building</a:t>
            </a:r>
          </a:p>
        </p:txBody>
      </p:sp>
      <p:sp>
        <p:nvSpPr>
          <p:cNvPr id="986" name="Decision points &amp; data flows…"/>
          <p:cNvSpPr txBox="1"/>
          <p:nvPr/>
        </p:nvSpPr>
        <p:spPr>
          <a:xfrm>
            <a:off x="6899923" y="8204059"/>
            <a:ext cx="4927048" cy="193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254000" indent="-254000" defTabSz="1828660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1800">
                <a:solidFill>
                  <a:srgbClr val="22222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pPr>
            <a:r>
              <a:t>Decision points &amp; data flows</a:t>
            </a:r>
          </a:p>
          <a:p>
            <a:pPr marL="254000" indent="-254000" defTabSz="1828660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1800">
                <a:solidFill>
                  <a:srgbClr val="22222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pPr>
            <a:r>
              <a:t>Launch pilot orchestrations across consulting enterprise as an internal and external tool</a:t>
            </a:r>
          </a:p>
          <a:p>
            <a:pPr marL="254000" indent="-254000" defTabSz="1828660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1800">
                <a:solidFill>
                  <a:srgbClr val="22222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pPr>
            <a:r>
              <a:t>Deploy real-time data infrastructure</a:t>
            </a:r>
          </a:p>
          <a:p>
            <a:pPr marL="254000" indent="-254000" defTabSz="1828660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1800">
                <a:solidFill>
                  <a:srgbClr val="22222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pPr>
            <a:r>
              <a:t>Build AI ready workflow execution plans</a:t>
            </a:r>
          </a:p>
        </p:txBody>
      </p:sp>
      <p:sp>
        <p:nvSpPr>
          <p:cNvPr id="987" name="Soft Launch"/>
          <p:cNvSpPr txBox="1"/>
          <p:nvPr/>
        </p:nvSpPr>
        <p:spPr>
          <a:xfrm>
            <a:off x="6899923" y="7607159"/>
            <a:ext cx="1614365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defTabSz="1244600">
              <a:spcBef>
                <a:spcPts val="1100"/>
              </a:spcBef>
              <a:defRPr sz="2000" b="1">
                <a:solidFill>
                  <a:srgbClr val="37739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Soft Launch</a:t>
            </a:r>
          </a:p>
        </p:txBody>
      </p:sp>
      <p:sp>
        <p:nvSpPr>
          <p:cNvPr id="988" name="Rectangle"/>
          <p:cNvSpPr/>
          <p:nvPr/>
        </p:nvSpPr>
        <p:spPr>
          <a:xfrm>
            <a:off x="12436078" y="6895935"/>
            <a:ext cx="5239955" cy="3471311"/>
          </a:xfrm>
          <a:prstGeom prst="rect">
            <a:avLst/>
          </a:prstGeom>
          <a:solidFill>
            <a:srgbClr val="EAF7F4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989" name="Current Stage"/>
          <p:cNvSpPr txBox="1"/>
          <p:nvPr/>
        </p:nvSpPr>
        <p:spPr>
          <a:xfrm>
            <a:off x="12592531" y="7088564"/>
            <a:ext cx="2033539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defTabSz="1244600">
              <a:spcBef>
                <a:spcPts val="1100"/>
              </a:spcBef>
              <a:defRPr sz="2200" b="1">
                <a:solidFill>
                  <a:srgbClr val="22222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Current Stage</a:t>
            </a:r>
          </a:p>
        </p:txBody>
      </p:sp>
      <p:sp>
        <p:nvSpPr>
          <p:cNvPr id="990" name="Build composable architecture…"/>
          <p:cNvSpPr txBox="1"/>
          <p:nvPr/>
        </p:nvSpPr>
        <p:spPr>
          <a:xfrm>
            <a:off x="12592531" y="8204059"/>
            <a:ext cx="4927048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254000" indent="-254000" defTabSz="1828660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1800">
                <a:solidFill>
                  <a:srgbClr val="22222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pPr>
            <a:r>
              <a:t>Build composable architecture</a:t>
            </a:r>
          </a:p>
          <a:p>
            <a:pPr marL="254000" indent="-254000" defTabSz="1828660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1800">
                <a:solidFill>
                  <a:srgbClr val="22222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pPr>
            <a:r>
              <a:t>Deploy Agentic workflows</a:t>
            </a:r>
          </a:p>
          <a:p>
            <a:pPr marL="254000" indent="-254000" defTabSz="1828660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1800">
                <a:solidFill>
                  <a:srgbClr val="22222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pPr>
            <a:r>
              <a:t>Human in loop controls</a:t>
            </a:r>
          </a:p>
        </p:txBody>
      </p:sp>
      <p:sp>
        <p:nvSpPr>
          <p:cNvPr id="991" name="Orchestration Layer"/>
          <p:cNvSpPr txBox="1"/>
          <p:nvPr/>
        </p:nvSpPr>
        <p:spPr>
          <a:xfrm>
            <a:off x="12592531" y="7607159"/>
            <a:ext cx="2659262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defTabSz="1244600">
              <a:spcBef>
                <a:spcPts val="1100"/>
              </a:spcBef>
              <a:defRPr sz="2000" b="1">
                <a:solidFill>
                  <a:srgbClr val="3A7B7E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Orchestration Layer</a:t>
            </a:r>
          </a:p>
        </p:txBody>
      </p:sp>
      <p:sp>
        <p:nvSpPr>
          <p:cNvPr id="992" name="Rectangle"/>
          <p:cNvSpPr/>
          <p:nvPr/>
        </p:nvSpPr>
        <p:spPr>
          <a:xfrm>
            <a:off x="18128685" y="6895935"/>
            <a:ext cx="5239955" cy="3471311"/>
          </a:xfrm>
          <a:prstGeom prst="rect">
            <a:avLst/>
          </a:prstGeom>
          <a:solidFill>
            <a:srgbClr val="F2FDF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993" name="The Future Ahead"/>
          <p:cNvSpPr txBox="1"/>
          <p:nvPr/>
        </p:nvSpPr>
        <p:spPr>
          <a:xfrm>
            <a:off x="18285139" y="7088564"/>
            <a:ext cx="2585245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defTabSz="1244600">
              <a:spcBef>
                <a:spcPts val="1100"/>
              </a:spcBef>
              <a:defRPr sz="2200" b="1">
                <a:solidFill>
                  <a:srgbClr val="22222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The Future Ahead</a:t>
            </a:r>
          </a:p>
        </p:txBody>
      </p:sp>
      <p:sp>
        <p:nvSpPr>
          <p:cNvPr id="994" name="Deploy Industry-specific packs…"/>
          <p:cNvSpPr txBox="1"/>
          <p:nvPr/>
        </p:nvSpPr>
        <p:spPr>
          <a:xfrm>
            <a:off x="18285139" y="8204059"/>
            <a:ext cx="4927048" cy="193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254000" indent="-254000" defTabSz="1828660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1800">
                <a:solidFill>
                  <a:srgbClr val="22222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pPr>
            <a:r>
              <a:t>Deploy Industry-specific packs</a:t>
            </a:r>
          </a:p>
          <a:p>
            <a:pPr marL="254000" indent="-254000" defTabSz="1828660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1800">
                <a:solidFill>
                  <a:srgbClr val="22222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pPr>
            <a:r>
              <a:t>Regulator Compliance</a:t>
            </a:r>
          </a:p>
          <a:p>
            <a:pPr marL="254000" indent="-254000" defTabSz="1828660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1800">
                <a:solidFill>
                  <a:srgbClr val="22222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pPr>
            <a:r>
              <a:t>Advanced governance &amp; security</a:t>
            </a:r>
          </a:p>
          <a:p>
            <a:pPr marL="254000" indent="-254000" defTabSz="1828660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1800">
                <a:solidFill>
                  <a:srgbClr val="22222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pPr>
            <a:r>
              <a:t>End-to-end automation</a:t>
            </a:r>
          </a:p>
          <a:p>
            <a:pPr marL="254000" indent="-254000" defTabSz="1828660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1800">
                <a:solidFill>
                  <a:srgbClr val="22222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pPr>
            <a:r>
              <a:t>Strategic human oversight only</a:t>
            </a:r>
          </a:p>
          <a:p>
            <a:pPr marL="254000" indent="-254000" defTabSz="1828660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1800">
                <a:solidFill>
                  <a:srgbClr val="22222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pPr>
            <a:r>
              <a:t>Market leading differentiation</a:t>
            </a:r>
          </a:p>
        </p:txBody>
      </p:sp>
      <p:sp>
        <p:nvSpPr>
          <p:cNvPr id="995" name="Full Autonomy"/>
          <p:cNvSpPr txBox="1"/>
          <p:nvPr/>
        </p:nvSpPr>
        <p:spPr>
          <a:xfrm>
            <a:off x="18285139" y="7607159"/>
            <a:ext cx="1969444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defTabSz="1244600">
              <a:spcBef>
                <a:spcPts val="1100"/>
              </a:spcBef>
              <a:defRPr sz="2000" b="1">
                <a:solidFill>
                  <a:srgbClr val="50AA5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Full Autonomy</a:t>
            </a:r>
          </a:p>
        </p:txBody>
      </p:sp>
      <p:sp>
        <p:nvSpPr>
          <p:cNvPr id="996" name="First Movers Capture 60% Market Share"/>
          <p:cNvSpPr txBox="1"/>
          <p:nvPr/>
        </p:nvSpPr>
        <p:spPr>
          <a:xfrm>
            <a:off x="4829418" y="12859433"/>
            <a:ext cx="14725163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 defTabSz="1828660">
              <a:lnSpc>
                <a:spcPct val="130000"/>
              </a:lnSpc>
              <a:spcBef>
                <a:spcPts val="2000"/>
              </a:spcBef>
              <a:defRPr sz="28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First Movers Capture 60% Market Share</a:t>
            </a:r>
          </a:p>
        </p:txBody>
      </p:sp>
      <p:sp>
        <p:nvSpPr>
          <p:cNvPr id="997" name="Data Infrastructure"/>
          <p:cNvSpPr txBox="1"/>
          <p:nvPr/>
        </p:nvSpPr>
        <p:spPr>
          <a:xfrm>
            <a:off x="2009870" y="10983127"/>
            <a:ext cx="3321939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1828636">
              <a:lnSpc>
                <a:spcPct val="80000"/>
              </a:lnSpc>
              <a:spcBef>
                <a:spcPts val="0"/>
              </a:spcBef>
              <a:defRPr sz="3000" b="1" spc="-8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r>
              <a:t>Data Infrastructure</a:t>
            </a:r>
          </a:p>
        </p:txBody>
      </p:sp>
      <p:sp>
        <p:nvSpPr>
          <p:cNvPr id="998" name="AI Agent Capability"/>
          <p:cNvSpPr txBox="1"/>
          <p:nvPr/>
        </p:nvSpPr>
        <p:spPr>
          <a:xfrm>
            <a:off x="7667410" y="10983127"/>
            <a:ext cx="3392075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1828636">
              <a:lnSpc>
                <a:spcPct val="80000"/>
              </a:lnSpc>
              <a:spcBef>
                <a:spcPts val="0"/>
              </a:spcBef>
              <a:defRPr sz="3000" b="1" spc="-8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r>
              <a:t>AI Agent Capability</a:t>
            </a:r>
          </a:p>
        </p:txBody>
      </p:sp>
      <p:sp>
        <p:nvSpPr>
          <p:cNvPr id="999" name="Industry Specialization"/>
          <p:cNvSpPr txBox="1"/>
          <p:nvPr/>
        </p:nvSpPr>
        <p:spPr>
          <a:xfrm>
            <a:off x="13045855" y="10983127"/>
            <a:ext cx="4020399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1828636">
              <a:lnSpc>
                <a:spcPct val="80000"/>
              </a:lnSpc>
              <a:spcBef>
                <a:spcPts val="0"/>
              </a:spcBef>
              <a:defRPr sz="3000" b="1" spc="-8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r>
              <a:t>Industry Specialization</a:t>
            </a:r>
          </a:p>
        </p:txBody>
      </p:sp>
      <p:sp>
        <p:nvSpPr>
          <p:cNvPr id="1000" name="Full Autonomy"/>
          <p:cNvSpPr txBox="1"/>
          <p:nvPr/>
        </p:nvSpPr>
        <p:spPr>
          <a:xfrm>
            <a:off x="19433966" y="10983127"/>
            <a:ext cx="2629393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1828636">
              <a:lnSpc>
                <a:spcPct val="80000"/>
              </a:lnSpc>
              <a:spcBef>
                <a:spcPts val="0"/>
              </a:spcBef>
              <a:defRPr sz="3000" b="1" spc="-8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r>
              <a:t>Full Autonomy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C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asted-movie.png" descr="pasted-movie.png"/>
          <p:cNvPicPr>
            <a:picLocks noChangeAspect="1"/>
          </p:cNvPicPr>
          <p:nvPr/>
        </p:nvPicPr>
        <p:blipFill>
          <a:blip r:embed="rId2">
            <a:alphaModFix amt="10637"/>
          </a:blip>
          <a:srcRect l="4403" t="23880" r="4403"/>
          <a:stretch>
            <a:fillRect/>
          </a:stretch>
        </p:blipFill>
        <p:spPr>
          <a:xfrm>
            <a:off x="-180576" y="-29909"/>
            <a:ext cx="24745152" cy="1377581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9" name="Logo White.png" descr="Logo 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7254" y="5065691"/>
            <a:ext cx="7769492" cy="1948218"/>
          </a:xfrm>
          <a:prstGeom prst="rect">
            <a:avLst/>
          </a:prstGeom>
          <a:ln w="12700">
            <a:miter lim="400000"/>
          </a:ln>
        </p:spPr>
      </p:pic>
      <p:sp>
        <p:nvSpPr>
          <p:cNvPr id="1030" name="www.airviewx.com"/>
          <p:cNvSpPr txBox="1">
            <a:spLocks noGrp="1"/>
          </p:cNvSpPr>
          <p:nvPr>
            <p:ph type="sldNum" sz="quarter" idx="4294967295"/>
          </p:nvPr>
        </p:nvSpPr>
        <p:spPr>
          <a:xfrm>
            <a:off x="889000" y="12854690"/>
            <a:ext cx="2260323" cy="52578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39" tIns="91439" rIns="91439" bIns="91439" anchor="ctr"/>
          <a:lstStyle>
            <a:lvl1pPr algn="l">
              <a:defRPr sz="20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</a:lstStyle>
          <a:p>
            <a:fld id="{86CB4B4D-7CA3-9044-876B-883B54F8677D}" type="slidenum">
              <a:rPr/>
              <a:t>14</a:t>
            </a:fld>
            <a:endParaRPr/>
          </a:p>
        </p:txBody>
      </p:sp>
      <p:sp>
        <p:nvSpPr>
          <p:cNvPr id="1031" name="Confidential with Copyrights"/>
          <p:cNvSpPr txBox="1"/>
          <p:nvPr/>
        </p:nvSpPr>
        <p:spPr>
          <a:xfrm>
            <a:off x="20114994" y="12854690"/>
            <a:ext cx="3380007" cy="525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tIns="91439" bIns="91439" anchor="ctr">
            <a:spAutoFit/>
          </a:bodyPr>
          <a:lstStyle>
            <a:lvl1pPr algn="r" defTabSz="584200">
              <a:lnSpc>
                <a:spcPct val="100000"/>
              </a:lnSpc>
              <a:spcBef>
                <a:spcPts val="0"/>
              </a:spcBef>
              <a:defRPr sz="20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</a:lstStyle>
          <a:p>
            <a:r>
              <a:t>Confidential with Copyrights</a:t>
            </a:r>
          </a:p>
        </p:txBody>
      </p:sp>
      <p:sp>
        <p:nvSpPr>
          <p:cNvPr id="1032" name="Get in Touch"/>
          <p:cNvSpPr txBox="1"/>
          <p:nvPr/>
        </p:nvSpPr>
        <p:spPr>
          <a:xfrm>
            <a:off x="6727739" y="9079726"/>
            <a:ext cx="4538102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r" defTabSz="1828636">
              <a:lnSpc>
                <a:spcPct val="80000"/>
              </a:lnSpc>
              <a:spcBef>
                <a:spcPts val="0"/>
              </a:spcBef>
              <a:defRPr sz="5000" b="1" spc="-13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r>
              <a:t>Get in Touch</a:t>
            </a:r>
          </a:p>
        </p:txBody>
      </p:sp>
      <p:sp>
        <p:nvSpPr>
          <p:cNvPr id="1033" name="1-973-462-8320"/>
          <p:cNvSpPr txBox="1"/>
          <p:nvPr/>
        </p:nvSpPr>
        <p:spPr>
          <a:xfrm>
            <a:off x="13613001" y="8729453"/>
            <a:ext cx="371849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defTabSz="1828660">
              <a:lnSpc>
                <a:spcPct val="100000"/>
              </a:lnSpc>
              <a:spcBef>
                <a:spcPts val="2000"/>
              </a:spcBef>
              <a:defRPr sz="28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1-973-462-8320</a:t>
            </a:r>
          </a:p>
        </p:txBody>
      </p:sp>
      <p:sp>
        <p:nvSpPr>
          <p:cNvPr id="1034" name="info@airviewx.com"/>
          <p:cNvSpPr txBox="1"/>
          <p:nvPr/>
        </p:nvSpPr>
        <p:spPr>
          <a:xfrm>
            <a:off x="13613000" y="9798298"/>
            <a:ext cx="3718492" cy="533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defTabSz="1828660">
              <a:lnSpc>
                <a:spcPct val="100000"/>
              </a:lnSpc>
              <a:spcBef>
                <a:spcPts val="2000"/>
              </a:spcBef>
              <a:defRPr sz="2800" b="1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4"/>
              </a:defRPr>
            </a:lvl1pPr>
          </a:lstStyle>
          <a:p>
            <a:pPr>
              <a:defRPr u="none"/>
            </a:pPr>
            <a:r>
              <a:rPr u="sng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info@airviewx.com</a:t>
            </a:r>
          </a:p>
        </p:txBody>
      </p:sp>
      <p:sp>
        <p:nvSpPr>
          <p:cNvPr id="1035" name="Freeform 1380"/>
          <p:cNvSpPr/>
          <p:nvPr/>
        </p:nvSpPr>
        <p:spPr>
          <a:xfrm>
            <a:off x="12907683" y="8758664"/>
            <a:ext cx="294125" cy="5257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960" y="0"/>
                </a:moveTo>
                <a:cubicBezTo>
                  <a:pt x="2640" y="0"/>
                  <a:pt x="2640" y="0"/>
                  <a:pt x="2640" y="0"/>
                </a:cubicBezTo>
                <a:cubicBezTo>
                  <a:pt x="1200" y="0"/>
                  <a:pt x="0" y="675"/>
                  <a:pt x="0" y="1620"/>
                </a:cubicBezTo>
                <a:cubicBezTo>
                  <a:pt x="0" y="19980"/>
                  <a:pt x="0" y="19980"/>
                  <a:pt x="0" y="19980"/>
                </a:cubicBezTo>
                <a:cubicBezTo>
                  <a:pt x="0" y="20925"/>
                  <a:pt x="1200" y="21600"/>
                  <a:pt x="2640" y="21600"/>
                </a:cubicBezTo>
                <a:cubicBezTo>
                  <a:pt x="18960" y="21600"/>
                  <a:pt x="18960" y="21600"/>
                  <a:pt x="18960" y="21600"/>
                </a:cubicBezTo>
                <a:cubicBezTo>
                  <a:pt x="20400" y="21600"/>
                  <a:pt x="21600" y="20925"/>
                  <a:pt x="21600" y="19980"/>
                </a:cubicBezTo>
                <a:cubicBezTo>
                  <a:pt x="21600" y="1620"/>
                  <a:pt x="21600" y="1620"/>
                  <a:pt x="21600" y="1620"/>
                </a:cubicBezTo>
                <a:cubicBezTo>
                  <a:pt x="21600" y="675"/>
                  <a:pt x="20400" y="0"/>
                  <a:pt x="18960" y="0"/>
                </a:cubicBezTo>
                <a:close/>
                <a:moveTo>
                  <a:pt x="1200" y="2835"/>
                </a:moveTo>
                <a:cubicBezTo>
                  <a:pt x="10800" y="2835"/>
                  <a:pt x="15600" y="2835"/>
                  <a:pt x="18000" y="2835"/>
                </a:cubicBezTo>
                <a:cubicBezTo>
                  <a:pt x="20400" y="2835"/>
                  <a:pt x="20400" y="2835"/>
                  <a:pt x="20400" y="2835"/>
                </a:cubicBezTo>
                <a:cubicBezTo>
                  <a:pt x="20400" y="9720"/>
                  <a:pt x="20400" y="13163"/>
                  <a:pt x="20400" y="14884"/>
                </a:cubicBezTo>
                <a:cubicBezTo>
                  <a:pt x="20400" y="16605"/>
                  <a:pt x="20400" y="16605"/>
                  <a:pt x="20400" y="16605"/>
                </a:cubicBezTo>
                <a:cubicBezTo>
                  <a:pt x="10800" y="16605"/>
                  <a:pt x="6000" y="16605"/>
                  <a:pt x="3600" y="16605"/>
                </a:cubicBezTo>
                <a:cubicBezTo>
                  <a:pt x="1200" y="16605"/>
                  <a:pt x="1200" y="16605"/>
                  <a:pt x="1200" y="16605"/>
                </a:cubicBezTo>
                <a:lnTo>
                  <a:pt x="1200" y="2835"/>
                </a:lnTo>
                <a:close/>
                <a:moveTo>
                  <a:pt x="2640" y="675"/>
                </a:moveTo>
                <a:cubicBezTo>
                  <a:pt x="18960" y="675"/>
                  <a:pt x="18960" y="675"/>
                  <a:pt x="18960" y="675"/>
                </a:cubicBezTo>
                <a:cubicBezTo>
                  <a:pt x="19680" y="675"/>
                  <a:pt x="20400" y="1080"/>
                  <a:pt x="20400" y="1620"/>
                </a:cubicBezTo>
                <a:cubicBezTo>
                  <a:pt x="20400" y="2160"/>
                  <a:pt x="20400" y="2160"/>
                  <a:pt x="20400" y="2160"/>
                </a:cubicBezTo>
                <a:cubicBezTo>
                  <a:pt x="10800" y="2160"/>
                  <a:pt x="6000" y="2160"/>
                  <a:pt x="3600" y="2160"/>
                </a:cubicBezTo>
                <a:cubicBezTo>
                  <a:pt x="1200" y="2160"/>
                  <a:pt x="1200" y="2160"/>
                  <a:pt x="1200" y="2160"/>
                </a:cubicBezTo>
                <a:cubicBezTo>
                  <a:pt x="1200" y="1890"/>
                  <a:pt x="1200" y="1755"/>
                  <a:pt x="1200" y="1687"/>
                </a:cubicBezTo>
                <a:cubicBezTo>
                  <a:pt x="1200" y="1620"/>
                  <a:pt x="1200" y="1620"/>
                  <a:pt x="1200" y="1620"/>
                </a:cubicBezTo>
                <a:cubicBezTo>
                  <a:pt x="1200" y="1080"/>
                  <a:pt x="1920" y="675"/>
                  <a:pt x="2640" y="675"/>
                </a:cubicBezTo>
                <a:close/>
                <a:moveTo>
                  <a:pt x="18960" y="20925"/>
                </a:moveTo>
                <a:cubicBezTo>
                  <a:pt x="2640" y="20925"/>
                  <a:pt x="2640" y="20925"/>
                  <a:pt x="2640" y="20925"/>
                </a:cubicBezTo>
                <a:cubicBezTo>
                  <a:pt x="1920" y="20925"/>
                  <a:pt x="1200" y="20520"/>
                  <a:pt x="1200" y="19980"/>
                </a:cubicBezTo>
                <a:cubicBezTo>
                  <a:pt x="1200" y="17280"/>
                  <a:pt x="1200" y="17280"/>
                  <a:pt x="1200" y="17280"/>
                </a:cubicBezTo>
                <a:cubicBezTo>
                  <a:pt x="10800" y="17280"/>
                  <a:pt x="15600" y="17280"/>
                  <a:pt x="18000" y="17280"/>
                </a:cubicBezTo>
                <a:cubicBezTo>
                  <a:pt x="20400" y="17280"/>
                  <a:pt x="20400" y="17280"/>
                  <a:pt x="20400" y="17280"/>
                </a:cubicBezTo>
                <a:cubicBezTo>
                  <a:pt x="20400" y="18630"/>
                  <a:pt x="20400" y="19305"/>
                  <a:pt x="20400" y="19643"/>
                </a:cubicBezTo>
                <a:cubicBezTo>
                  <a:pt x="20400" y="19980"/>
                  <a:pt x="20400" y="19980"/>
                  <a:pt x="20400" y="19980"/>
                </a:cubicBezTo>
                <a:cubicBezTo>
                  <a:pt x="20400" y="20520"/>
                  <a:pt x="19680" y="20925"/>
                  <a:pt x="18960" y="20925"/>
                </a:cubicBezTo>
                <a:close/>
                <a:moveTo>
                  <a:pt x="10800" y="17685"/>
                </a:moveTo>
                <a:cubicBezTo>
                  <a:pt x="9360" y="17685"/>
                  <a:pt x="8160" y="18225"/>
                  <a:pt x="8160" y="19035"/>
                </a:cubicBezTo>
                <a:cubicBezTo>
                  <a:pt x="8160" y="19845"/>
                  <a:pt x="9360" y="20520"/>
                  <a:pt x="10800" y="20520"/>
                </a:cubicBezTo>
                <a:cubicBezTo>
                  <a:pt x="12240" y="20520"/>
                  <a:pt x="13440" y="19845"/>
                  <a:pt x="13440" y="19035"/>
                </a:cubicBezTo>
                <a:cubicBezTo>
                  <a:pt x="13440" y="18225"/>
                  <a:pt x="12240" y="17685"/>
                  <a:pt x="10800" y="17685"/>
                </a:cubicBezTo>
                <a:close/>
                <a:moveTo>
                  <a:pt x="10800" y="19845"/>
                </a:moveTo>
                <a:cubicBezTo>
                  <a:pt x="10080" y="19845"/>
                  <a:pt x="9600" y="19440"/>
                  <a:pt x="9600" y="19035"/>
                </a:cubicBezTo>
                <a:cubicBezTo>
                  <a:pt x="9600" y="18630"/>
                  <a:pt x="10080" y="18360"/>
                  <a:pt x="10800" y="18360"/>
                </a:cubicBezTo>
                <a:cubicBezTo>
                  <a:pt x="11520" y="18360"/>
                  <a:pt x="12000" y="18630"/>
                  <a:pt x="12000" y="19035"/>
                </a:cubicBezTo>
                <a:cubicBezTo>
                  <a:pt x="12000" y="19440"/>
                  <a:pt x="11520" y="19845"/>
                  <a:pt x="10800" y="19845"/>
                </a:cubicBezTo>
                <a:close/>
                <a:moveTo>
                  <a:pt x="7680" y="1485"/>
                </a:moveTo>
                <a:cubicBezTo>
                  <a:pt x="7680" y="1215"/>
                  <a:pt x="7920" y="1080"/>
                  <a:pt x="8160" y="1080"/>
                </a:cubicBezTo>
                <a:cubicBezTo>
                  <a:pt x="10800" y="1080"/>
                  <a:pt x="10800" y="1080"/>
                  <a:pt x="10800" y="1080"/>
                </a:cubicBezTo>
                <a:cubicBezTo>
                  <a:pt x="11040" y="1080"/>
                  <a:pt x="11520" y="1215"/>
                  <a:pt x="11520" y="1485"/>
                </a:cubicBezTo>
                <a:cubicBezTo>
                  <a:pt x="11520" y="1620"/>
                  <a:pt x="11040" y="1755"/>
                  <a:pt x="10800" y="1755"/>
                </a:cubicBezTo>
                <a:cubicBezTo>
                  <a:pt x="8160" y="1755"/>
                  <a:pt x="8160" y="1755"/>
                  <a:pt x="8160" y="1755"/>
                </a:cubicBezTo>
                <a:cubicBezTo>
                  <a:pt x="7920" y="1755"/>
                  <a:pt x="7680" y="1620"/>
                  <a:pt x="7680" y="1485"/>
                </a:cubicBezTo>
                <a:close/>
                <a:moveTo>
                  <a:pt x="12000" y="1485"/>
                </a:moveTo>
                <a:cubicBezTo>
                  <a:pt x="12000" y="1215"/>
                  <a:pt x="12480" y="1080"/>
                  <a:pt x="12720" y="1080"/>
                </a:cubicBezTo>
                <a:cubicBezTo>
                  <a:pt x="13440" y="1080"/>
                  <a:pt x="13440" y="1080"/>
                  <a:pt x="13440" y="1080"/>
                </a:cubicBezTo>
                <a:cubicBezTo>
                  <a:pt x="13680" y="1080"/>
                  <a:pt x="13920" y="1215"/>
                  <a:pt x="13920" y="1485"/>
                </a:cubicBezTo>
                <a:cubicBezTo>
                  <a:pt x="13920" y="1620"/>
                  <a:pt x="13680" y="1755"/>
                  <a:pt x="13440" y="1755"/>
                </a:cubicBezTo>
                <a:cubicBezTo>
                  <a:pt x="12720" y="1755"/>
                  <a:pt x="12720" y="1755"/>
                  <a:pt x="12720" y="1755"/>
                </a:cubicBezTo>
                <a:cubicBezTo>
                  <a:pt x="12480" y="1755"/>
                  <a:pt x="12000" y="1620"/>
                  <a:pt x="12000" y="1485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036" name="Freeform 789"/>
          <p:cNvSpPr/>
          <p:nvPr/>
        </p:nvSpPr>
        <p:spPr>
          <a:xfrm>
            <a:off x="12830544" y="9926531"/>
            <a:ext cx="448403" cy="3277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086" y="21600"/>
                </a:moveTo>
                <a:cubicBezTo>
                  <a:pt x="18514" y="21600"/>
                  <a:pt x="18514" y="21600"/>
                  <a:pt x="18514" y="21600"/>
                </a:cubicBezTo>
                <a:cubicBezTo>
                  <a:pt x="20250" y="21600"/>
                  <a:pt x="21600" y="19733"/>
                  <a:pt x="21600" y="17333"/>
                </a:cubicBezTo>
                <a:cubicBezTo>
                  <a:pt x="21600" y="4267"/>
                  <a:pt x="21600" y="4267"/>
                  <a:pt x="21600" y="4267"/>
                </a:cubicBezTo>
                <a:cubicBezTo>
                  <a:pt x="21600" y="1867"/>
                  <a:pt x="20250" y="0"/>
                  <a:pt x="18514" y="0"/>
                </a:cubicBezTo>
                <a:cubicBezTo>
                  <a:pt x="3086" y="0"/>
                  <a:pt x="3086" y="0"/>
                  <a:pt x="3086" y="0"/>
                </a:cubicBezTo>
                <a:cubicBezTo>
                  <a:pt x="1350" y="0"/>
                  <a:pt x="0" y="1867"/>
                  <a:pt x="0" y="4267"/>
                </a:cubicBezTo>
                <a:cubicBezTo>
                  <a:pt x="0" y="17333"/>
                  <a:pt x="0" y="17333"/>
                  <a:pt x="0" y="17333"/>
                </a:cubicBezTo>
                <a:cubicBezTo>
                  <a:pt x="0" y="19733"/>
                  <a:pt x="1350" y="21600"/>
                  <a:pt x="3086" y="21600"/>
                </a:cubicBezTo>
                <a:close/>
                <a:moveTo>
                  <a:pt x="1157" y="4267"/>
                </a:moveTo>
                <a:cubicBezTo>
                  <a:pt x="1157" y="2933"/>
                  <a:pt x="1929" y="1600"/>
                  <a:pt x="3086" y="1600"/>
                </a:cubicBezTo>
                <a:cubicBezTo>
                  <a:pt x="18514" y="1600"/>
                  <a:pt x="18514" y="1600"/>
                  <a:pt x="18514" y="1600"/>
                </a:cubicBezTo>
                <a:cubicBezTo>
                  <a:pt x="19671" y="1600"/>
                  <a:pt x="20443" y="2933"/>
                  <a:pt x="20443" y="4267"/>
                </a:cubicBezTo>
                <a:cubicBezTo>
                  <a:pt x="20443" y="17333"/>
                  <a:pt x="20443" y="17333"/>
                  <a:pt x="20443" y="17333"/>
                </a:cubicBezTo>
                <a:cubicBezTo>
                  <a:pt x="20443" y="18933"/>
                  <a:pt x="19671" y="20000"/>
                  <a:pt x="18514" y="20000"/>
                </a:cubicBezTo>
                <a:cubicBezTo>
                  <a:pt x="9836" y="20000"/>
                  <a:pt x="9836" y="20000"/>
                  <a:pt x="9836" y="20000"/>
                </a:cubicBezTo>
                <a:cubicBezTo>
                  <a:pt x="6461" y="20000"/>
                  <a:pt x="4773" y="20000"/>
                  <a:pt x="3929" y="20000"/>
                </a:cubicBezTo>
                <a:cubicBezTo>
                  <a:pt x="3086" y="20000"/>
                  <a:pt x="3086" y="20000"/>
                  <a:pt x="3086" y="20000"/>
                </a:cubicBezTo>
                <a:cubicBezTo>
                  <a:pt x="1929" y="20000"/>
                  <a:pt x="1157" y="18933"/>
                  <a:pt x="1157" y="17333"/>
                </a:cubicBezTo>
                <a:cubicBezTo>
                  <a:pt x="1157" y="4267"/>
                  <a:pt x="1157" y="4267"/>
                  <a:pt x="1157" y="4267"/>
                </a:cubicBezTo>
                <a:close/>
                <a:moveTo>
                  <a:pt x="3086" y="17333"/>
                </a:moveTo>
                <a:cubicBezTo>
                  <a:pt x="3279" y="17600"/>
                  <a:pt x="3279" y="17600"/>
                  <a:pt x="3471" y="17600"/>
                </a:cubicBezTo>
                <a:cubicBezTo>
                  <a:pt x="3664" y="17600"/>
                  <a:pt x="3857" y="17600"/>
                  <a:pt x="3857" y="17333"/>
                </a:cubicBezTo>
                <a:cubicBezTo>
                  <a:pt x="6364" y="14400"/>
                  <a:pt x="7618" y="12933"/>
                  <a:pt x="8245" y="12200"/>
                </a:cubicBezTo>
                <a:cubicBezTo>
                  <a:pt x="8871" y="11467"/>
                  <a:pt x="8871" y="11467"/>
                  <a:pt x="8871" y="11467"/>
                </a:cubicBezTo>
                <a:cubicBezTo>
                  <a:pt x="9643" y="12267"/>
                  <a:pt x="10029" y="12667"/>
                  <a:pt x="10221" y="12867"/>
                </a:cubicBezTo>
                <a:cubicBezTo>
                  <a:pt x="10414" y="13067"/>
                  <a:pt x="10414" y="13067"/>
                  <a:pt x="10414" y="13067"/>
                </a:cubicBezTo>
                <a:cubicBezTo>
                  <a:pt x="10607" y="13333"/>
                  <a:pt x="10607" y="13333"/>
                  <a:pt x="10800" y="13333"/>
                </a:cubicBezTo>
                <a:cubicBezTo>
                  <a:pt x="10993" y="13333"/>
                  <a:pt x="10993" y="13333"/>
                  <a:pt x="11186" y="13067"/>
                </a:cubicBezTo>
                <a:cubicBezTo>
                  <a:pt x="11957" y="12267"/>
                  <a:pt x="12343" y="11867"/>
                  <a:pt x="12536" y="11667"/>
                </a:cubicBezTo>
                <a:cubicBezTo>
                  <a:pt x="12729" y="11467"/>
                  <a:pt x="12729" y="11467"/>
                  <a:pt x="12729" y="11467"/>
                </a:cubicBezTo>
                <a:cubicBezTo>
                  <a:pt x="15236" y="14400"/>
                  <a:pt x="16489" y="15867"/>
                  <a:pt x="17116" y="16600"/>
                </a:cubicBezTo>
                <a:cubicBezTo>
                  <a:pt x="17743" y="17333"/>
                  <a:pt x="17743" y="17333"/>
                  <a:pt x="17743" y="17333"/>
                </a:cubicBezTo>
                <a:cubicBezTo>
                  <a:pt x="17743" y="17467"/>
                  <a:pt x="17791" y="17533"/>
                  <a:pt x="17863" y="17567"/>
                </a:cubicBezTo>
                <a:cubicBezTo>
                  <a:pt x="17936" y="17600"/>
                  <a:pt x="18032" y="17600"/>
                  <a:pt x="18129" y="17600"/>
                </a:cubicBezTo>
                <a:cubicBezTo>
                  <a:pt x="18129" y="17600"/>
                  <a:pt x="18321" y="17600"/>
                  <a:pt x="18514" y="17333"/>
                </a:cubicBezTo>
                <a:cubicBezTo>
                  <a:pt x="18707" y="17067"/>
                  <a:pt x="18707" y="16533"/>
                  <a:pt x="18514" y="16267"/>
                </a:cubicBezTo>
                <a:cubicBezTo>
                  <a:pt x="16104" y="13333"/>
                  <a:pt x="14898" y="11867"/>
                  <a:pt x="14296" y="11133"/>
                </a:cubicBezTo>
                <a:cubicBezTo>
                  <a:pt x="13693" y="10400"/>
                  <a:pt x="13693" y="10400"/>
                  <a:pt x="13693" y="10400"/>
                </a:cubicBezTo>
                <a:cubicBezTo>
                  <a:pt x="16007" y="7867"/>
                  <a:pt x="17164" y="6600"/>
                  <a:pt x="17743" y="5967"/>
                </a:cubicBezTo>
                <a:cubicBezTo>
                  <a:pt x="18321" y="5333"/>
                  <a:pt x="18321" y="5333"/>
                  <a:pt x="18321" y="5333"/>
                </a:cubicBezTo>
                <a:cubicBezTo>
                  <a:pt x="18707" y="5067"/>
                  <a:pt x="18707" y="4533"/>
                  <a:pt x="18514" y="4267"/>
                </a:cubicBezTo>
                <a:cubicBezTo>
                  <a:pt x="18321" y="4000"/>
                  <a:pt x="17936" y="3733"/>
                  <a:pt x="17743" y="4000"/>
                </a:cubicBezTo>
                <a:cubicBezTo>
                  <a:pt x="14271" y="7733"/>
                  <a:pt x="12536" y="9600"/>
                  <a:pt x="11668" y="10533"/>
                </a:cubicBezTo>
                <a:cubicBezTo>
                  <a:pt x="10800" y="11467"/>
                  <a:pt x="10800" y="11467"/>
                  <a:pt x="10800" y="11467"/>
                </a:cubicBezTo>
                <a:cubicBezTo>
                  <a:pt x="9932" y="10667"/>
                  <a:pt x="9498" y="10267"/>
                  <a:pt x="9281" y="10067"/>
                </a:cubicBezTo>
                <a:cubicBezTo>
                  <a:pt x="9064" y="9867"/>
                  <a:pt x="9064" y="9867"/>
                  <a:pt x="9064" y="9867"/>
                </a:cubicBezTo>
                <a:lnTo>
                  <a:pt x="9064" y="9867"/>
                </a:lnTo>
                <a:cubicBezTo>
                  <a:pt x="6461" y="6933"/>
                  <a:pt x="5159" y="5467"/>
                  <a:pt x="4508" y="4733"/>
                </a:cubicBezTo>
                <a:cubicBezTo>
                  <a:pt x="3857" y="4000"/>
                  <a:pt x="3857" y="4000"/>
                  <a:pt x="3857" y="4000"/>
                </a:cubicBezTo>
                <a:cubicBezTo>
                  <a:pt x="3664" y="3733"/>
                  <a:pt x="3279" y="4000"/>
                  <a:pt x="3086" y="4267"/>
                </a:cubicBezTo>
                <a:cubicBezTo>
                  <a:pt x="2893" y="4533"/>
                  <a:pt x="2893" y="5067"/>
                  <a:pt x="3086" y="5333"/>
                </a:cubicBezTo>
                <a:cubicBezTo>
                  <a:pt x="5496" y="7867"/>
                  <a:pt x="6702" y="9133"/>
                  <a:pt x="7304" y="9767"/>
                </a:cubicBezTo>
                <a:cubicBezTo>
                  <a:pt x="7907" y="10400"/>
                  <a:pt x="7907" y="10400"/>
                  <a:pt x="7907" y="10400"/>
                </a:cubicBezTo>
                <a:cubicBezTo>
                  <a:pt x="5496" y="13333"/>
                  <a:pt x="4291" y="14800"/>
                  <a:pt x="3688" y="15533"/>
                </a:cubicBezTo>
                <a:cubicBezTo>
                  <a:pt x="3086" y="16267"/>
                  <a:pt x="3086" y="16267"/>
                  <a:pt x="3086" y="16267"/>
                </a:cubicBezTo>
                <a:cubicBezTo>
                  <a:pt x="2893" y="16533"/>
                  <a:pt x="2893" y="17067"/>
                  <a:pt x="3086" y="17333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037" name="Line"/>
          <p:cNvSpPr/>
          <p:nvPr/>
        </p:nvSpPr>
        <p:spPr>
          <a:xfrm flipV="1">
            <a:off x="12086762" y="8770263"/>
            <a:ext cx="1" cy="1571426"/>
          </a:xfrm>
          <a:prstGeom prst="line">
            <a:avLst/>
          </a:prstGeom>
          <a:ln w="127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1363</TotalTime>
  <Words>2007</Words>
  <Application>Microsoft Macintosh PowerPoint</Application>
  <PresentationFormat>Custom</PresentationFormat>
  <Paragraphs>476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32" baseType="lpstr">
      <vt:lpstr>Abadi</vt:lpstr>
      <vt:lpstr>Abadi ExtraLight</vt:lpstr>
      <vt:lpstr>Aptos</vt:lpstr>
      <vt:lpstr>Arial</vt:lpstr>
      <vt:lpstr>Calibri</vt:lpstr>
      <vt:lpstr>Consolas</vt:lpstr>
      <vt:lpstr>Courier New</vt:lpstr>
      <vt:lpstr>Georgia</vt:lpstr>
      <vt:lpstr>Helvetica</vt:lpstr>
      <vt:lpstr>Helvetica Neue</vt:lpstr>
      <vt:lpstr>Helvetica Neue Medium</vt:lpstr>
      <vt:lpstr>Montserrat Black</vt:lpstr>
      <vt:lpstr>Montserrat Bold</vt:lpstr>
      <vt:lpstr>Montserrat SemiBold</vt:lpstr>
      <vt:lpstr>Open Sans</vt:lpstr>
      <vt:lpstr>Open Sans SemiBold</vt:lpstr>
      <vt:lpstr>21_BasicWhite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Muhammad Faiaz</dc:creator>
  <cp:lastModifiedBy>Khurram Munawar</cp:lastModifiedBy>
  <cp:revision>16</cp:revision>
  <dcterms:modified xsi:type="dcterms:W3CDTF">2026-07-20T06:30:08Z</dcterms:modified>
</cp:coreProperties>
</file>